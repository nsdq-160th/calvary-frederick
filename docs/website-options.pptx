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1" Type="http://schemas.openxmlformats.org/officeDocument/2006/relationships/presProps" Target="presProps.xml"/>
  <Relationship Id="rId12" Type="http://schemas.openxmlformats.org/officeDocument/2006/relationships/viewProps" Target="viewProps.xml"/>
  <Relationship Id="rId13" Type="http://schemas.openxmlformats.org/officeDocument/2006/relationships/theme" Target="theme/theme1.xml"/>
  <Relationship Id="rId14" Type="http://schemas.openxmlformats.org/officeDocument/2006/relationships/tableStyles" Target="tableStyles.xml"/>
</Relationships>

</file>

<file path=ppt/notesMasters/_rels/notesMaster1.xml.rels><?xml version="1.0" encoding="utf-8"?>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82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A68445"/>
          </a:solidFill>
          <a:ln/>
        </p:spPr>
      </p:sp>
      <p:sp>
        <p:nvSpPr>
          <p:cNvPr id="3" name="Text 1"/>
          <p:cNvSpPr/>
          <p:nvPr/>
        </p:nvSpPr>
        <p:spPr>
          <a:xfrm>
            <a:off x="685800" y="1417320"/>
            <a:ext cx="10058400" cy="292608"/>
          </a:xfrm>
          <a:prstGeom prst="rect">
            <a:avLst/>
          </a:prstGeom>
          <a:noFill/>
          <a:ln/>
        </p:spPr>
        <p:txBody>
          <a:bodyPr wrap="square" lIns="0" tIns="0" rIns="0" bIns="0" rtlCol="0" anchor="ctr"/>
          <a:lstStyle/>
          <a:p>
            <a:pPr indent="0" marL="0">
              <a:buNone/>
            </a:pPr>
            <a:r>
              <a:rPr lang="en-US" sz="1400" spc="220" kern="0" dirty="0">
                <a:solidFill>
                  <a:srgbClr val="A68445"/>
                </a:solidFill>
                <a:latin typeface="Calibri" pitchFamily="34" charset="0"/>
                <a:ea typeface="Calibri" pitchFamily="34" charset="-122"/>
                <a:cs typeface="Calibri" pitchFamily="34" charset="-120"/>
              </a:rPr>
              <a:t>CALVARY CHAPEL FREDERICK</a:t>
            </a:r>
            <a:endParaRPr lang="en-US" sz="1400" dirty="0"/>
          </a:p>
        </p:txBody>
      </p:sp>
      <p:sp>
        <p:nvSpPr>
          <p:cNvPr id="4" name="Text 2"/>
          <p:cNvSpPr/>
          <p:nvPr/>
        </p:nvSpPr>
        <p:spPr>
          <a:xfrm>
            <a:off x="685800" y="1874520"/>
            <a:ext cx="10058400" cy="1920240"/>
          </a:xfrm>
          <a:prstGeom prst="rect">
            <a:avLst/>
          </a:prstGeom>
          <a:noFill/>
          <a:ln/>
        </p:spPr>
        <p:txBody>
          <a:bodyPr wrap="square" lIns="0" tIns="0" rIns="0" bIns="0" rtlCol="0" anchor="ctr"/>
          <a:lstStyle/>
          <a:p>
            <a:pPr indent="0" marL="0">
              <a:buNone/>
            </a:pPr>
            <a:r>
              <a:rPr lang="en-US" sz="4800" dirty="0">
                <a:solidFill>
                  <a:srgbClr val="F6F1E7"/>
                </a:solidFill>
                <a:latin typeface="Georgia" pitchFamily="34" charset="0"/>
                <a:ea typeface="Georgia" pitchFamily="34" charset="-122"/>
                <a:cs typeface="Georgia" pitchFamily="34" charset="-120"/>
              </a:rPr>
              <a:t>Two ways forward</a:t>
            </a:r>
            <a:endParaRPr lang="en-US" sz="4800" dirty="0"/>
          </a:p>
          <a:p>
            <a:pPr indent="0" marL="0">
              <a:buNone/>
            </a:pPr>
            <a:r>
              <a:rPr lang="en-US" sz="4800" dirty="0">
                <a:solidFill>
                  <a:srgbClr val="F6F1E7"/>
                </a:solidFill>
                <a:latin typeface="Georgia" pitchFamily="34" charset="0"/>
                <a:ea typeface="Georgia" pitchFamily="34" charset="-122"/>
                <a:cs typeface="Georgia" pitchFamily="34" charset="-120"/>
              </a:rPr>
              <a:t>for our website</a:t>
            </a:r>
            <a:endParaRPr lang="en-US" sz="4800" dirty="0"/>
          </a:p>
        </p:txBody>
      </p:sp>
      <p:sp>
        <p:nvSpPr>
          <p:cNvPr id="5" name="Text 3"/>
          <p:cNvSpPr/>
          <p:nvPr/>
        </p:nvSpPr>
        <p:spPr>
          <a:xfrm>
            <a:off x="685800" y="4023360"/>
            <a:ext cx="8686800" cy="457200"/>
          </a:xfrm>
          <a:prstGeom prst="rect">
            <a:avLst/>
          </a:prstGeom>
          <a:noFill/>
          <a:ln/>
        </p:spPr>
        <p:txBody>
          <a:bodyPr wrap="square" lIns="0" tIns="0" rIns="0" bIns="0" rtlCol="0" anchor="ctr"/>
          <a:lstStyle/>
          <a:p>
            <a:pPr indent="0" marL="0">
              <a:buNone/>
            </a:pPr>
            <a:r>
              <a:rPr lang="en-US" sz="1800" dirty="0">
                <a:solidFill>
                  <a:srgbClr val="D9D0C2"/>
                </a:solidFill>
                <a:latin typeface="Calibri" pitchFamily="34" charset="0"/>
                <a:ea typeface="Calibri" pitchFamily="34" charset="-122"/>
                <a:cs typeface="Calibri" pitchFamily="34" charset="-120"/>
              </a:rPr>
              <a:t>For Pastor Dave and Pastor Shawn. The app, giving, and sermons stay on Subsplash either way.</a:t>
            </a:r>
            <a:endParaRPr lang="en-US" sz="1800" dirty="0"/>
          </a:p>
        </p:txBody>
      </p:sp>
      <p:sp>
        <p:nvSpPr>
          <p:cNvPr id="6" name="Text 4"/>
          <p:cNvSpPr/>
          <p:nvPr/>
        </p:nvSpPr>
        <p:spPr>
          <a:xfrm>
            <a:off x="685800" y="5989320"/>
            <a:ext cx="7315200" cy="274320"/>
          </a:xfrm>
          <a:prstGeom prst="rect">
            <a:avLst/>
          </a:prstGeom>
          <a:noFill/>
          <a:ln/>
        </p:spPr>
        <p:txBody>
          <a:bodyPr wrap="square" lIns="0" tIns="0" rIns="0" bIns="0" rtlCol="0" anchor="ctr"/>
          <a:lstStyle/>
          <a:p>
            <a:pPr indent="0" marL="0">
              <a:buNone/>
            </a:pPr>
            <a:r>
              <a:rPr lang="en-US" sz="1400" dirty="0">
                <a:solidFill>
                  <a:srgbClr val="A68445"/>
                </a:solidFill>
                <a:latin typeface="Calibri" pitchFamily="34" charset="0"/>
                <a:ea typeface="Calibri" pitchFamily="34" charset="-122"/>
                <a:cs typeface="Calibri" pitchFamily="34" charset="-120"/>
              </a:rPr>
              <a:t>A simple look at the choice  ·  28 September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47472"/>
            <a:ext cx="10972800" cy="502920"/>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What we are deciding</a:t>
            </a:r>
            <a:endParaRPr lang="en-US" sz="3200" dirty="0"/>
          </a:p>
        </p:txBody>
      </p:sp>
      <p:sp>
        <p:nvSpPr>
          <p:cNvPr id="3" name="Text 1"/>
          <p:cNvSpPr/>
          <p:nvPr/>
        </p:nvSpPr>
        <p:spPr>
          <a:xfrm>
            <a:off x="502920" y="960120"/>
            <a:ext cx="10972800" cy="41148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People visit calvaryfrederick.com. That site is on Squarespace today. Giving, sermons, and the app already live in Subsplash. We are not moving those.</a:t>
            </a:r>
            <a:endParaRPr lang="en-US" sz="1600" dirty="0"/>
          </a:p>
        </p:txBody>
      </p:sp>
      <p:sp>
        <p:nvSpPr>
          <p:cNvPr id="4" name="Shape 2"/>
          <p:cNvSpPr/>
          <p:nvPr/>
        </p:nvSpPr>
        <p:spPr>
          <a:xfrm>
            <a:off x="502920" y="1600200"/>
            <a:ext cx="5394960" cy="4526280"/>
          </a:xfrm>
          <a:prstGeom prst="rect">
            <a:avLst/>
          </a:prstGeom>
          <a:solidFill>
            <a:srgbClr val="FFFFFF"/>
          </a:solidFill>
          <a:ln/>
          <a:effectLst>
            <a:outerShdw sx="100000" sy="100000" kx="0" ky="0" algn="bl" rotWithShape="0" blurRad="177800" dist="38100" dir="8100000">
              <a:srgbClr val="1C3A32">
                <a:alpha val="8000"/>
              </a:srgbClr>
            </a:outerShdw>
          </a:effectLst>
        </p:spPr>
      </p:sp>
      <p:sp>
        <p:nvSpPr>
          <p:cNvPr id="5" name="Shape 3"/>
          <p:cNvSpPr/>
          <p:nvPr/>
        </p:nvSpPr>
        <p:spPr>
          <a:xfrm>
            <a:off x="502920" y="1600200"/>
            <a:ext cx="5394960" cy="109728"/>
          </a:xfrm>
          <a:prstGeom prst="rect">
            <a:avLst/>
          </a:prstGeom>
          <a:solidFill>
            <a:srgbClr val="1C3A32"/>
          </a:solidFill>
          <a:ln/>
        </p:spPr>
      </p:sp>
      <p:sp>
        <p:nvSpPr>
          <p:cNvPr id="6" name="Text 4"/>
          <p:cNvSpPr/>
          <p:nvPr/>
        </p:nvSpPr>
        <p:spPr>
          <a:xfrm>
            <a:off x="777240" y="1874520"/>
            <a:ext cx="4846320" cy="256032"/>
          </a:xfrm>
          <a:prstGeom prst="rect">
            <a:avLst/>
          </a:prstGeom>
          <a:noFill/>
          <a:ln/>
        </p:spPr>
        <p:txBody>
          <a:bodyPr wrap="square" lIns="0" tIns="0" rIns="0" bIns="0" rtlCol="0" anchor="ctr"/>
          <a:lstStyle/>
          <a:p>
            <a:pPr indent="0" marL="0">
              <a:buNone/>
            </a:pPr>
            <a:r>
              <a:rPr lang="en-US" sz="1300" spc="140" kern="0" dirty="0">
                <a:solidFill>
                  <a:srgbClr val="A68445"/>
                </a:solidFill>
                <a:latin typeface="Calibri" pitchFamily="34" charset="0"/>
                <a:ea typeface="Calibri" pitchFamily="34" charset="-122"/>
                <a:cs typeface="Calibri" pitchFamily="34" charset="-120"/>
              </a:rPr>
              <a:t>OPTION 1</a:t>
            </a:r>
            <a:endParaRPr lang="en-US" sz="1300" dirty="0"/>
          </a:p>
        </p:txBody>
      </p:sp>
      <p:sp>
        <p:nvSpPr>
          <p:cNvPr id="7" name="Text 5"/>
          <p:cNvSpPr/>
          <p:nvPr/>
        </p:nvSpPr>
        <p:spPr>
          <a:xfrm>
            <a:off x="777240" y="2176272"/>
            <a:ext cx="4846320" cy="777240"/>
          </a:xfrm>
          <a:prstGeom prst="rect">
            <a:avLst/>
          </a:prstGeom>
          <a:noFill/>
          <a:ln/>
        </p:spPr>
        <p:txBody>
          <a:bodyPr wrap="square" lIns="0" tIns="0" rIns="0" bIns="0" rtlCol="0" anchor="ctr"/>
          <a:lstStyle/>
          <a:p>
            <a:pPr indent="0" marL="0">
              <a:buNone/>
            </a:pPr>
            <a:r>
              <a:rPr lang="en-US" sz="2600" dirty="0">
                <a:solidFill>
                  <a:srgbClr val="1C3A32"/>
                </a:solidFill>
                <a:latin typeface="Georgia" pitchFamily="34" charset="0"/>
                <a:ea typeface="Georgia" pitchFamily="34" charset="-122"/>
                <a:cs typeface="Georgia" pitchFamily="34" charset="-120"/>
              </a:rPr>
              <a:t>Keep the new website. Edit it in Tina.</a:t>
            </a:r>
            <a:endParaRPr lang="en-US" sz="2600" dirty="0"/>
          </a:p>
        </p:txBody>
      </p:sp>
      <p:sp>
        <p:nvSpPr>
          <p:cNvPr id="8" name="Text 6"/>
          <p:cNvSpPr/>
          <p:nvPr/>
        </p:nvSpPr>
        <p:spPr>
          <a:xfrm>
            <a:off x="777240" y="3108960"/>
            <a:ext cx="4846320" cy="137160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The website we have been designing stays. The office clicks the words on the page and changes them. Sermons, giving, and the app stay in Subsplash, just as they are now.</a:t>
            </a:r>
            <a:endParaRPr lang="en-US" sz="1600" dirty="0"/>
          </a:p>
        </p:txBody>
      </p:sp>
      <p:sp>
        <p:nvSpPr>
          <p:cNvPr id="9" name="Text 7"/>
          <p:cNvSpPr/>
          <p:nvPr/>
        </p:nvSpPr>
        <p:spPr>
          <a:xfrm>
            <a:off x="777240" y="4892040"/>
            <a:ext cx="4846320" cy="640080"/>
          </a:xfrm>
          <a:prstGeom prst="rect">
            <a:avLst/>
          </a:prstGeom>
          <a:noFill/>
          <a:ln/>
        </p:spPr>
        <p:txBody>
          <a:bodyPr wrap="square" lIns="0" tIns="0" rIns="0" bIns="0" rtlCol="0" anchor="ctr"/>
          <a:lstStyle/>
          <a:p>
            <a:pPr indent="0" marL="0">
              <a:buNone/>
            </a:pPr>
            <a:r>
              <a:rPr lang="en-US" sz="1500" dirty="0">
                <a:solidFill>
                  <a:srgbClr val="5C6B64"/>
                </a:solidFill>
                <a:latin typeface="Calibri" pitchFamily="34" charset="0"/>
                <a:ea typeface="Calibri" pitchFamily="34" charset="-122"/>
                <a:cs typeface="Calibri" pitchFamily="34" charset="-120"/>
              </a:rPr>
              <a:t>You can already look</a:t>
            </a:r>
            <a:endParaRPr lang="en-US" sz="1500" dirty="0"/>
          </a:p>
          <a:p>
            <a:pPr indent="0" marL="0">
              <a:buNone/>
            </a:pPr>
            <a:r>
              <a:rPr lang="en-US" sz="1500" dirty="0">
                <a:solidFill>
                  <a:srgbClr val="5C6B64"/>
                </a:solidFill>
                <a:latin typeface="Calibri" pitchFamily="34" charset="0"/>
                <a:ea typeface="Calibri" pitchFamily="34" charset="-122"/>
                <a:cs typeface="Calibri" pitchFamily="34" charset="-120"/>
              </a:rPr>
              <a:t>We can open the sample together.</a:t>
            </a:r>
            <a:endParaRPr lang="en-US" sz="1500" dirty="0"/>
          </a:p>
        </p:txBody>
      </p:sp>
      <p:sp>
        <p:nvSpPr>
          <p:cNvPr id="10" name="Shape 8"/>
          <p:cNvSpPr/>
          <p:nvPr/>
        </p:nvSpPr>
        <p:spPr>
          <a:xfrm>
            <a:off x="6263640" y="1600200"/>
            <a:ext cx="5394960" cy="4526280"/>
          </a:xfrm>
          <a:prstGeom prst="rect">
            <a:avLst/>
          </a:prstGeom>
          <a:solidFill>
            <a:srgbClr val="FFFFFF"/>
          </a:solidFill>
          <a:ln/>
          <a:effectLst>
            <a:outerShdw sx="100000" sy="100000" kx="0" ky="0" algn="bl" rotWithShape="0" blurRad="177800" dist="38100" dir="8100000">
              <a:srgbClr val="1C3A32">
                <a:alpha val="8000"/>
              </a:srgbClr>
            </a:outerShdw>
          </a:effectLst>
        </p:spPr>
      </p:sp>
      <p:sp>
        <p:nvSpPr>
          <p:cNvPr id="11" name="Shape 9"/>
          <p:cNvSpPr/>
          <p:nvPr/>
        </p:nvSpPr>
        <p:spPr>
          <a:xfrm>
            <a:off x="6263640" y="1600200"/>
            <a:ext cx="5394960" cy="109728"/>
          </a:xfrm>
          <a:prstGeom prst="rect">
            <a:avLst/>
          </a:prstGeom>
          <a:solidFill>
            <a:srgbClr val="A68445"/>
          </a:solidFill>
          <a:ln/>
        </p:spPr>
      </p:sp>
      <p:sp>
        <p:nvSpPr>
          <p:cNvPr id="12" name="Text 10"/>
          <p:cNvSpPr/>
          <p:nvPr/>
        </p:nvSpPr>
        <p:spPr>
          <a:xfrm>
            <a:off x="6537960" y="1874520"/>
            <a:ext cx="4846320" cy="256032"/>
          </a:xfrm>
          <a:prstGeom prst="rect">
            <a:avLst/>
          </a:prstGeom>
          <a:noFill/>
          <a:ln/>
        </p:spPr>
        <p:txBody>
          <a:bodyPr wrap="square" lIns="0" tIns="0" rIns="0" bIns="0" rtlCol="0" anchor="ctr"/>
          <a:lstStyle/>
          <a:p>
            <a:pPr indent="0" marL="0">
              <a:buNone/>
            </a:pPr>
            <a:r>
              <a:rPr lang="en-US" sz="1300" spc="140" kern="0" dirty="0">
                <a:solidFill>
                  <a:srgbClr val="A68445"/>
                </a:solidFill>
                <a:latin typeface="Calibri" pitchFamily="34" charset="0"/>
                <a:ea typeface="Calibri" pitchFamily="34" charset="-122"/>
                <a:cs typeface="Calibri" pitchFamily="34" charset="-120"/>
              </a:rPr>
              <a:t>OPTION 2</a:t>
            </a:r>
            <a:endParaRPr lang="en-US" sz="1300" dirty="0"/>
          </a:p>
        </p:txBody>
      </p:sp>
      <p:sp>
        <p:nvSpPr>
          <p:cNvPr id="13" name="Text 11"/>
          <p:cNvSpPr/>
          <p:nvPr/>
        </p:nvSpPr>
        <p:spPr>
          <a:xfrm>
            <a:off x="6537960" y="2176272"/>
            <a:ext cx="4846320" cy="777240"/>
          </a:xfrm>
          <a:prstGeom prst="rect">
            <a:avLst/>
          </a:prstGeom>
          <a:noFill/>
          <a:ln/>
        </p:spPr>
        <p:txBody>
          <a:bodyPr wrap="square" lIns="0" tIns="0" rIns="0" bIns="0" rtlCol="0" anchor="ctr"/>
          <a:lstStyle/>
          <a:p>
            <a:pPr indent="0" marL="0">
              <a:buNone/>
            </a:pPr>
            <a:r>
              <a:rPr lang="en-US" sz="2600" dirty="0">
                <a:solidFill>
                  <a:srgbClr val="1C3A32"/>
                </a:solidFill>
                <a:latin typeface="Georgia" pitchFamily="34" charset="0"/>
                <a:ea typeface="Georgia" pitchFamily="34" charset="-122"/>
                <a:cs typeface="Georgia" pitchFamily="34" charset="-120"/>
              </a:rPr>
              <a:t>Rebuild the website inside Subsplash.</a:t>
            </a:r>
            <a:endParaRPr lang="en-US" sz="2600" dirty="0"/>
          </a:p>
        </p:txBody>
      </p:sp>
      <p:sp>
        <p:nvSpPr>
          <p:cNvPr id="14" name="Text 12"/>
          <p:cNvSpPr/>
          <p:nvPr/>
        </p:nvSpPr>
        <p:spPr>
          <a:xfrm>
            <a:off x="6537960" y="3108960"/>
            <a:ext cx="4846320" cy="141732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We start over in Subsplash’s website tool, called SnapPages. The office edits by dragging and dropping, in the same login they already use. The new design cannot be copied over. It has to be built again.</a:t>
            </a:r>
            <a:endParaRPr lang="en-US" sz="1600" dirty="0"/>
          </a:p>
        </p:txBody>
      </p:sp>
      <p:sp>
        <p:nvSpPr>
          <p:cNvPr id="15" name="Text 13"/>
          <p:cNvSpPr/>
          <p:nvPr/>
        </p:nvSpPr>
        <p:spPr>
          <a:xfrm>
            <a:off x="6537960" y="4892040"/>
            <a:ext cx="4846320" cy="640080"/>
          </a:xfrm>
          <a:prstGeom prst="rect">
            <a:avLst/>
          </a:prstGeom>
          <a:noFill/>
          <a:ln/>
        </p:spPr>
        <p:txBody>
          <a:bodyPr wrap="square" lIns="0" tIns="0" rIns="0" bIns="0" rtlCol="0" anchor="ctr"/>
          <a:lstStyle/>
          <a:p>
            <a:pPr indent="0" marL="0">
              <a:buNone/>
            </a:pPr>
            <a:r>
              <a:rPr lang="en-US" sz="1500" dirty="0">
                <a:solidFill>
                  <a:srgbClr val="5C6B64"/>
                </a:solidFill>
                <a:latin typeface="Calibri" pitchFamily="34" charset="0"/>
                <a:ea typeface="Calibri" pitchFamily="34" charset="-122"/>
                <a:cs typeface="Calibri" pitchFamily="34" charset="-120"/>
              </a:rPr>
              <a:t>A practice site is already started</a:t>
            </a:r>
            <a:endParaRPr lang="en-US" sz="1500" dirty="0"/>
          </a:p>
          <a:p>
            <a:pPr indent="0" marL="0">
              <a:buNone/>
            </a:pPr>
            <a:r>
              <a:rPr lang="en-US" sz="1500" dirty="0">
                <a:solidFill>
                  <a:srgbClr val="5C6B64"/>
                </a:solidFill>
                <a:latin typeface="Calibri" pitchFamily="34" charset="0"/>
                <a:ea typeface="Calibri" pitchFamily="34" charset="-122"/>
                <a:cs typeface="Calibri" pitchFamily="34" charset="-120"/>
              </a:rPr>
              <a:t>It lives in our Subsplash account.</a:t>
            </a:r>
            <a:endParaRPr lang="en-US" sz="1500" dirty="0"/>
          </a:p>
        </p:txBody>
      </p:sp>
      <p:sp>
        <p:nvSpPr>
          <p:cNvPr id="16" name="Text 14"/>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17" name="Text 15"/>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47472"/>
            <a:ext cx="10972800" cy="457200"/>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What stays the same</a:t>
            </a:r>
            <a:endParaRPr lang="en-US" sz="3200" dirty="0"/>
          </a:p>
        </p:txBody>
      </p:sp>
      <p:sp>
        <p:nvSpPr>
          <p:cNvPr id="3" name="Text 1"/>
          <p:cNvSpPr/>
          <p:nvPr/>
        </p:nvSpPr>
        <p:spPr>
          <a:xfrm>
            <a:off x="502920" y="914400"/>
            <a:ext cx="10972800" cy="32004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Whichever way we choose, these do not move.</a:t>
            </a:r>
            <a:endParaRPr lang="en-US" sz="1600" dirty="0"/>
          </a:p>
        </p:txBody>
      </p:sp>
      <p:sp>
        <p:nvSpPr>
          <p:cNvPr id="4" name="Shape 2"/>
          <p:cNvSpPr/>
          <p:nvPr/>
        </p:nvSpPr>
        <p:spPr>
          <a:xfrm>
            <a:off x="502920" y="1463040"/>
            <a:ext cx="91440" cy="658368"/>
          </a:xfrm>
          <a:prstGeom prst="rect">
            <a:avLst/>
          </a:prstGeom>
          <a:solidFill>
            <a:srgbClr val="1C3A32"/>
          </a:solidFill>
          <a:ln/>
        </p:spPr>
      </p:sp>
      <p:sp>
        <p:nvSpPr>
          <p:cNvPr id="5" name="Text 3"/>
          <p:cNvSpPr/>
          <p:nvPr/>
        </p:nvSpPr>
        <p:spPr>
          <a:xfrm>
            <a:off x="822960" y="1463040"/>
            <a:ext cx="3840480" cy="658368"/>
          </a:xfrm>
          <a:prstGeom prst="rect">
            <a:avLst/>
          </a:prstGeom>
          <a:noFill/>
          <a:ln/>
        </p:spPr>
        <p:txBody>
          <a:bodyPr wrap="square" lIns="0" tIns="0" rIns="0" bIns="0" rtlCol="0" anchor="ctr"/>
          <a:lstStyle/>
          <a:p>
            <a:pPr indent="0" marL="0">
              <a:buNone/>
            </a:pPr>
            <a:r>
              <a:rPr lang="en-US" sz="1800" dirty="0">
                <a:solidFill>
                  <a:srgbClr val="1C3A32"/>
                </a:solidFill>
                <a:latin typeface="Georgia" pitchFamily="34" charset="0"/>
                <a:ea typeface="Georgia" pitchFamily="34" charset="-122"/>
                <a:cs typeface="Georgia" pitchFamily="34" charset="-120"/>
              </a:rPr>
              <a:t>Sermons and podcasts</a:t>
            </a:r>
            <a:endParaRPr lang="en-US" sz="1800" dirty="0"/>
          </a:p>
        </p:txBody>
      </p:sp>
      <p:sp>
        <p:nvSpPr>
          <p:cNvPr id="6" name="Text 4"/>
          <p:cNvSpPr/>
          <p:nvPr/>
        </p:nvSpPr>
        <p:spPr>
          <a:xfrm>
            <a:off x="4754880" y="1463040"/>
            <a:ext cx="6766560" cy="658368"/>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Still uploaded in Subsplash. The app and the podcasts keep working.</a:t>
            </a:r>
            <a:endParaRPr lang="en-US" sz="1600" dirty="0"/>
          </a:p>
        </p:txBody>
      </p:sp>
      <p:sp>
        <p:nvSpPr>
          <p:cNvPr id="7" name="Shape 5"/>
          <p:cNvSpPr/>
          <p:nvPr/>
        </p:nvSpPr>
        <p:spPr>
          <a:xfrm>
            <a:off x="502920" y="2331720"/>
            <a:ext cx="91440" cy="658368"/>
          </a:xfrm>
          <a:prstGeom prst="rect">
            <a:avLst/>
          </a:prstGeom>
          <a:solidFill>
            <a:srgbClr val="A68445"/>
          </a:solidFill>
          <a:ln/>
        </p:spPr>
      </p:sp>
      <p:sp>
        <p:nvSpPr>
          <p:cNvPr id="8" name="Text 6"/>
          <p:cNvSpPr/>
          <p:nvPr/>
        </p:nvSpPr>
        <p:spPr>
          <a:xfrm>
            <a:off x="822960" y="2331720"/>
            <a:ext cx="3840480" cy="658368"/>
          </a:xfrm>
          <a:prstGeom prst="rect">
            <a:avLst/>
          </a:prstGeom>
          <a:noFill/>
          <a:ln/>
        </p:spPr>
        <p:txBody>
          <a:bodyPr wrap="square" lIns="0" tIns="0" rIns="0" bIns="0" rtlCol="0" anchor="ctr"/>
          <a:lstStyle/>
          <a:p>
            <a:pPr indent="0" marL="0">
              <a:buNone/>
            </a:pPr>
            <a:r>
              <a:rPr lang="en-US" sz="1800" dirty="0">
                <a:solidFill>
                  <a:srgbClr val="1C3A32"/>
                </a:solidFill>
                <a:latin typeface="Georgia" pitchFamily="34" charset="0"/>
                <a:ea typeface="Georgia" pitchFamily="34" charset="-122"/>
                <a:cs typeface="Georgia" pitchFamily="34" charset="-120"/>
              </a:rPr>
              <a:t>Giving and receipts</a:t>
            </a:r>
            <a:endParaRPr lang="en-US" sz="1800" dirty="0"/>
          </a:p>
        </p:txBody>
      </p:sp>
      <p:sp>
        <p:nvSpPr>
          <p:cNvPr id="9" name="Text 7"/>
          <p:cNvSpPr/>
          <p:nvPr/>
        </p:nvSpPr>
        <p:spPr>
          <a:xfrm>
            <a:off x="4754880" y="2331720"/>
            <a:ext cx="6766560" cy="658368"/>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Still Subsplash. A card gift is 2.3% plus 30 cents. A bank gift is 1%.</a:t>
            </a:r>
            <a:endParaRPr lang="en-US" sz="1600" dirty="0"/>
          </a:p>
        </p:txBody>
      </p:sp>
      <p:sp>
        <p:nvSpPr>
          <p:cNvPr id="10" name="Shape 8"/>
          <p:cNvSpPr/>
          <p:nvPr/>
        </p:nvSpPr>
        <p:spPr>
          <a:xfrm>
            <a:off x="502920" y="3200400"/>
            <a:ext cx="91440" cy="658368"/>
          </a:xfrm>
          <a:prstGeom prst="rect">
            <a:avLst/>
          </a:prstGeom>
          <a:solidFill>
            <a:srgbClr val="1C3A32"/>
          </a:solidFill>
          <a:ln/>
        </p:spPr>
      </p:sp>
      <p:sp>
        <p:nvSpPr>
          <p:cNvPr id="11" name="Text 9"/>
          <p:cNvSpPr/>
          <p:nvPr/>
        </p:nvSpPr>
        <p:spPr>
          <a:xfrm>
            <a:off x="822960" y="3200400"/>
            <a:ext cx="3840480" cy="658368"/>
          </a:xfrm>
          <a:prstGeom prst="rect">
            <a:avLst/>
          </a:prstGeom>
          <a:noFill/>
          <a:ln/>
        </p:spPr>
        <p:txBody>
          <a:bodyPr wrap="square" lIns="0" tIns="0" rIns="0" bIns="0" rtlCol="0" anchor="ctr"/>
          <a:lstStyle/>
          <a:p>
            <a:pPr indent="0" marL="0">
              <a:buNone/>
            </a:pPr>
            <a:r>
              <a:rPr lang="en-US" sz="1800" dirty="0">
                <a:solidFill>
                  <a:srgbClr val="1C3A32"/>
                </a:solidFill>
                <a:latin typeface="Georgia" pitchFamily="34" charset="0"/>
                <a:ea typeface="Georgia" pitchFamily="34" charset="-122"/>
                <a:cs typeface="Georgia" pitchFamily="34" charset="-120"/>
              </a:rPr>
              <a:t>The church app</a:t>
            </a:r>
            <a:endParaRPr lang="en-US" sz="1800" dirty="0"/>
          </a:p>
        </p:txBody>
      </p:sp>
      <p:sp>
        <p:nvSpPr>
          <p:cNvPr id="12" name="Text 10"/>
          <p:cNvSpPr/>
          <p:nvPr/>
        </p:nvSpPr>
        <p:spPr>
          <a:xfrm>
            <a:off x="4754880" y="3200400"/>
            <a:ext cx="6766560" cy="658368"/>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The app people already have on their phones stays put.</a:t>
            </a:r>
            <a:endParaRPr lang="en-US" sz="1600" dirty="0"/>
          </a:p>
        </p:txBody>
      </p:sp>
      <p:sp>
        <p:nvSpPr>
          <p:cNvPr id="13" name="Shape 11"/>
          <p:cNvSpPr/>
          <p:nvPr/>
        </p:nvSpPr>
        <p:spPr>
          <a:xfrm>
            <a:off x="502920" y="4069080"/>
            <a:ext cx="91440" cy="658368"/>
          </a:xfrm>
          <a:prstGeom prst="rect">
            <a:avLst/>
          </a:prstGeom>
          <a:solidFill>
            <a:srgbClr val="A68445"/>
          </a:solidFill>
          <a:ln/>
        </p:spPr>
      </p:sp>
      <p:sp>
        <p:nvSpPr>
          <p:cNvPr id="14" name="Text 12"/>
          <p:cNvSpPr/>
          <p:nvPr/>
        </p:nvSpPr>
        <p:spPr>
          <a:xfrm>
            <a:off x="822960" y="4069080"/>
            <a:ext cx="3840480" cy="658368"/>
          </a:xfrm>
          <a:prstGeom prst="rect">
            <a:avLst/>
          </a:prstGeom>
          <a:noFill/>
          <a:ln/>
        </p:spPr>
        <p:txBody>
          <a:bodyPr wrap="square" lIns="0" tIns="0" rIns="0" bIns="0" rtlCol="0" anchor="ctr"/>
          <a:lstStyle/>
          <a:p>
            <a:pPr indent="0" marL="0">
              <a:buNone/>
            </a:pPr>
            <a:r>
              <a:rPr lang="en-US" sz="1800" dirty="0">
                <a:solidFill>
                  <a:srgbClr val="1C3A32"/>
                </a:solidFill>
                <a:latin typeface="Georgia" pitchFamily="34" charset="0"/>
                <a:ea typeface="Georgia" pitchFamily="34" charset="-122"/>
                <a:cs typeface="Georgia" pitchFamily="34" charset="-120"/>
              </a:rPr>
              <a:t>Our web address</a:t>
            </a:r>
            <a:endParaRPr lang="en-US" sz="1800" dirty="0"/>
          </a:p>
        </p:txBody>
      </p:sp>
      <p:sp>
        <p:nvSpPr>
          <p:cNvPr id="15" name="Text 13"/>
          <p:cNvSpPr/>
          <p:nvPr/>
        </p:nvSpPr>
        <p:spPr>
          <a:xfrm>
            <a:off x="4754880" y="4069080"/>
            <a:ext cx="6766560" cy="658368"/>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calvaryfrederick.com stays. We do not switch it until you decide.</a:t>
            </a:r>
            <a:endParaRPr lang="en-US" sz="1600" dirty="0"/>
          </a:p>
        </p:txBody>
      </p:sp>
      <p:sp>
        <p:nvSpPr>
          <p:cNvPr id="16" name="Shape 14"/>
          <p:cNvSpPr/>
          <p:nvPr/>
        </p:nvSpPr>
        <p:spPr>
          <a:xfrm>
            <a:off x="502920" y="4937760"/>
            <a:ext cx="91440" cy="658368"/>
          </a:xfrm>
          <a:prstGeom prst="rect">
            <a:avLst/>
          </a:prstGeom>
          <a:solidFill>
            <a:srgbClr val="1C3A32"/>
          </a:solidFill>
          <a:ln/>
        </p:spPr>
      </p:sp>
      <p:sp>
        <p:nvSpPr>
          <p:cNvPr id="17" name="Text 15"/>
          <p:cNvSpPr/>
          <p:nvPr/>
        </p:nvSpPr>
        <p:spPr>
          <a:xfrm>
            <a:off x="822960" y="4937760"/>
            <a:ext cx="3840480" cy="658368"/>
          </a:xfrm>
          <a:prstGeom prst="rect">
            <a:avLst/>
          </a:prstGeom>
          <a:noFill/>
          <a:ln/>
        </p:spPr>
        <p:txBody>
          <a:bodyPr wrap="square" lIns="0" tIns="0" rIns="0" bIns="0" rtlCol="0" anchor="ctr"/>
          <a:lstStyle/>
          <a:p>
            <a:pPr indent="0" marL="0">
              <a:buNone/>
            </a:pPr>
            <a:r>
              <a:rPr lang="en-US" sz="1800" dirty="0">
                <a:solidFill>
                  <a:srgbClr val="1C3A32"/>
                </a:solidFill>
                <a:latin typeface="Georgia" pitchFamily="34" charset="0"/>
                <a:ea typeface="Georgia" pitchFamily="34" charset="-122"/>
                <a:cs typeface="Georgia" pitchFamily="34" charset="-120"/>
              </a:rPr>
              <a:t>The old Squarespace site</a:t>
            </a:r>
            <a:endParaRPr lang="en-US" sz="1800" dirty="0"/>
          </a:p>
        </p:txBody>
      </p:sp>
      <p:sp>
        <p:nvSpPr>
          <p:cNvPr id="18" name="Text 16"/>
          <p:cNvSpPr/>
          <p:nvPr/>
        </p:nvSpPr>
        <p:spPr>
          <a:xfrm>
            <a:off x="4754880" y="4937760"/>
            <a:ext cx="6766560" cy="658368"/>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It comes down when the new site goes up. That is true for both choices.</a:t>
            </a:r>
            <a:endParaRPr lang="en-US" sz="1600" dirty="0"/>
          </a:p>
        </p:txBody>
      </p:sp>
      <p:sp>
        <p:nvSpPr>
          <p:cNvPr id="19" name="Text 17"/>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20" name="Text 18"/>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20040"/>
            <a:ext cx="10972800" cy="438912"/>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Option 1. Tina</a:t>
            </a:r>
            <a:endParaRPr lang="en-US" sz="3200" dirty="0"/>
          </a:p>
        </p:txBody>
      </p:sp>
      <p:sp>
        <p:nvSpPr>
          <p:cNvPr id="3" name="Text 1"/>
          <p:cNvSpPr/>
          <p:nvPr/>
        </p:nvSpPr>
        <p:spPr>
          <a:xfrm>
            <a:off x="502920" y="868680"/>
            <a:ext cx="10972800" cy="36576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The office sees the page while they type. They do not need to learn code.</a:t>
            </a:r>
            <a:endParaRPr lang="en-US" sz="1600" dirty="0"/>
          </a:p>
        </p:txBody>
      </p:sp>
      <p:sp>
        <p:nvSpPr>
          <p:cNvPr id="4" name="Shape 2"/>
          <p:cNvSpPr/>
          <p:nvPr/>
        </p:nvSpPr>
        <p:spPr>
          <a:xfrm>
            <a:off x="502920" y="1417320"/>
            <a:ext cx="11155680" cy="841248"/>
          </a:xfrm>
          <a:prstGeom prst="rect">
            <a:avLst/>
          </a:prstGeom>
          <a:solidFill>
            <a:srgbClr val="FFFFFF"/>
          </a:solidFill>
          <a:ln/>
        </p:spPr>
      </p:sp>
      <p:sp>
        <p:nvSpPr>
          <p:cNvPr id="5" name="Text 3"/>
          <p:cNvSpPr/>
          <p:nvPr/>
        </p:nvSpPr>
        <p:spPr>
          <a:xfrm>
            <a:off x="731520" y="1527048"/>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the office does</a:t>
            </a:r>
            <a:endParaRPr lang="en-US" sz="1600" dirty="0"/>
          </a:p>
        </p:txBody>
      </p:sp>
      <p:sp>
        <p:nvSpPr>
          <p:cNvPr id="6" name="Text 4"/>
          <p:cNvSpPr/>
          <p:nvPr/>
        </p:nvSpPr>
        <p:spPr>
          <a:xfrm>
            <a:off x="3840480" y="1527048"/>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They open Tina, click the words on the page, type the new words, and save.</a:t>
            </a:r>
            <a:endParaRPr lang="en-US" sz="1500" dirty="0"/>
          </a:p>
        </p:txBody>
      </p:sp>
      <p:sp>
        <p:nvSpPr>
          <p:cNvPr id="7" name="Shape 5"/>
          <p:cNvSpPr/>
          <p:nvPr/>
        </p:nvSpPr>
        <p:spPr>
          <a:xfrm>
            <a:off x="502920" y="2350008"/>
            <a:ext cx="11155680" cy="841248"/>
          </a:xfrm>
          <a:prstGeom prst="rect">
            <a:avLst/>
          </a:prstGeom>
          <a:solidFill>
            <a:srgbClr val="FFFFFF"/>
          </a:solidFill>
          <a:ln/>
        </p:spPr>
      </p:sp>
      <p:sp>
        <p:nvSpPr>
          <p:cNvPr id="8" name="Text 6"/>
          <p:cNvSpPr/>
          <p:nvPr/>
        </p:nvSpPr>
        <p:spPr>
          <a:xfrm>
            <a:off x="731520" y="2459736"/>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they can change</a:t>
            </a:r>
            <a:endParaRPr lang="en-US" sz="1600" dirty="0"/>
          </a:p>
        </p:txBody>
      </p:sp>
      <p:sp>
        <p:nvSpPr>
          <p:cNvPr id="9" name="Text 7"/>
          <p:cNvSpPr/>
          <p:nvPr/>
        </p:nvSpPr>
        <p:spPr>
          <a:xfrm>
            <a:off x="3840480" y="2459736"/>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Service times, the bulletin, ministry pages, the address, and this week’s message title.</a:t>
            </a:r>
            <a:endParaRPr lang="en-US" sz="1500" dirty="0"/>
          </a:p>
        </p:txBody>
      </p:sp>
      <p:sp>
        <p:nvSpPr>
          <p:cNvPr id="10" name="Shape 8"/>
          <p:cNvSpPr/>
          <p:nvPr/>
        </p:nvSpPr>
        <p:spPr>
          <a:xfrm>
            <a:off x="502920" y="3282696"/>
            <a:ext cx="11155680" cy="841248"/>
          </a:xfrm>
          <a:prstGeom prst="rect">
            <a:avLst/>
          </a:prstGeom>
          <a:solidFill>
            <a:srgbClr val="FFFFFF"/>
          </a:solidFill>
          <a:ln/>
        </p:spPr>
      </p:sp>
      <p:sp>
        <p:nvSpPr>
          <p:cNvPr id="11" name="Text 9"/>
          <p:cNvSpPr/>
          <p:nvPr/>
        </p:nvSpPr>
        <p:spPr>
          <a:xfrm>
            <a:off x="731520" y="3392424"/>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they leave alone</a:t>
            </a:r>
            <a:endParaRPr lang="en-US" sz="1600" dirty="0"/>
          </a:p>
        </p:txBody>
      </p:sp>
      <p:sp>
        <p:nvSpPr>
          <p:cNvPr id="12" name="Text 10"/>
          <p:cNvSpPr/>
          <p:nvPr/>
        </p:nvSpPr>
        <p:spPr>
          <a:xfrm>
            <a:off x="3840480" y="3392424"/>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Sermon videos, the app, and giving. Those stay in Subsplash.</a:t>
            </a:r>
            <a:endParaRPr lang="en-US" sz="1500" dirty="0"/>
          </a:p>
        </p:txBody>
      </p:sp>
      <p:sp>
        <p:nvSpPr>
          <p:cNvPr id="13" name="Shape 11"/>
          <p:cNvSpPr/>
          <p:nvPr/>
        </p:nvSpPr>
        <p:spPr>
          <a:xfrm>
            <a:off x="502920" y="4215384"/>
            <a:ext cx="11155680" cy="841248"/>
          </a:xfrm>
          <a:prstGeom prst="rect">
            <a:avLst/>
          </a:prstGeom>
          <a:solidFill>
            <a:srgbClr val="FFFFFF"/>
          </a:solidFill>
          <a:ln/>
        </p:spPr>
      </p:sp>
      <p:sp>
        <p:nvSpPr>
          <p:cNvPr id="14" name="Text 12"/>
          <p:cNvSpPr/>
          <p:nvPr/>
        </p:nvSpPr>
        <p:spPr>
          <a:xfrm>
            <a:off x="731520" y="4325112"/>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we keep</a:t>
            </a:r>
            <a:endParaRPr lang="en-US" sz="1600" dirty="0"/>
          </a:p>
        </p:txBody>
      </p:sp>
      <p:sp>
        <p:nvSpPr>
          <p:cNvPr id="15" name="Text 13"/>
          <p:cNvSpPr/>
          <p:nvPr/>
        </p:nvSpPr>
        <p:spPr>
          <a:xfrm>
            <a:off x="3840480" y="4325112"/>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The look of the new site you have already seen. Home, Visit, and the ministry pages.</a:t>
            </a:r>
            <a:endParaRPr lang="en-US" sz="1500" dirty="0"/>
          </a:p>
        </p:txBody>
      </p:sp>
      <p:sp>
        <p:nvSpPr>
          <p:cNvPr id="16" name="Shape 14"/>
          <p:cNvSpPr/>
          <p:nvPr/>
        </p:nvSpPr>
        <p:spPr>
          <a:xfrm>
            <a:off x="502920" y="5148072"/>
            <a:ext cx="11155680" cy="841248"/>
          </a:xfrm>
          <a:prstGeom prst="rect">
            <a:avLst/>
          </a:prstGeom>
          <a:solidFill>
            <a:srgbClr val="FFFFFF"/>
          </a:solidFill>
          <a:ln/>
        </p:spPr>
      </p:sp>
      <p:sp>
        <p:nvSpPr>
          <p:cNvPr id="17" name="Text 15"/>
          <p:cNvSpPr/>
          <p:nvPr/>
        </p:nvSpPr>
        <p:spPr>
          <a:xfrm>
            <a:off x="731520" y="5257800"/>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The tradeoff</a:t>
            </a:r>
            <a:endParaRPr lang="en-US" sz="1600" dirty="0"/>
          </a:p>
        </p:txBody>
      </p:sp>
      <p:sp>
        <p:nvSpPr>
          <p:cNvPr id="18" name="Text 16"/>
          <p:cNvSpPr/>
          <p:nvPr/>
        </p:nvSpPr>
        <p:spPr>
          <a:xfrm>
            <a:off x="3840480" y="5257800"/>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Two logins. The website is Tina. Sermons, giving, and the app are Subsplash. The Watch button still plays the sermon from Subsplash.</a:t>
            </a:r>
            <a:endParaRPr lang="en-US" sz="1500" dirty="0"/>
          </a:p>
        </p:txBody>
      </p:sp>
      <p:sp>
        <p:nvSpPr>
          <p:cNvPr id="19" name="Text 17"/>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20" name="Text 18"/>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20040"/>
            <a:ext cx="10972800" cy="438912"/>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Option 2. SnapPages</a:t>
            </a:r>
            <a:endParaRPr lang="en-US" sz="3200" dirty="0"/>
          </a:p>
        </p:txBody>
      </p:sp>
      <p:sp>
        <p:nvSpPr>
          <p:cNvPr id="3" name="Text 1"/>
          <p:cNvSpPr/>
          <p:nvPr/>
        </p:nvSpPr>
        <p:spPr>
          <a:xfrm>
            <a:off x="502920" y="868680"/>
            <a:ext cx="11155680" cy="41148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This is Subsplash’s own website builder. A practice site is already started. A lot of the writing on it is still filler.</a:t>
            </a:r>
            <a:endParaRPr lang="en-US" sz="1600" dirty="0"/>
          </a:p>
        </p:txBody>
      </p:sp>
      <p:sp>
        <p:nvSpPr>
          <p:cNvPr id="4" name="Shape 2"/>
          <p:cNvSpPr/>
          <p:nvPr/>
        </p:nvSpPr>
        <p:spPr>
          <a:xfrm>
            <a:off x="502920" y="1417320"/>
            <a:ext cx="11155680" cy="841248"/>
          </a:xfrm>
          <a:prstGeom prst="rect">
            <a:avLst/>
          </a:prstGeom>
          <a:solidFill>
            <a:srgbClr val="FFFFFF"/>
          </a:solidFill>
          <a:ln/>
        </p:spPr>
      </p:sp>
      <p:sp>
        <p:nvSpPr>
          <p:cNvPr id="5" name="Text 3"/>
          <p:cNvSpPr/>
          <p:nvPr/>
        </p:nvSpPr>
        <p:spPr>
          <a:xfrm>
            <a:off x="731520" y="1527048"/>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the office does</a:t>
            </a:r>
            <a:endParaRPr lang="en-US" sz="1600" dirty="0"/>
          </a:p>
        </p:txBody>
      </p:sp>
      <p:sp>
        <p:nvSpPr>
          <p:cNvPr id="6" name="Text 4"/>
          <p:cNvSpPr/>
          <p:nvPr/>
        </p:nvSpPr>
        <p:spPr>
          <a:xfrm>
            <a:off x="3840480" y="1527048"/>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They log into Subsplash and change the words on the page. One login covers the website, the app, and giving.</a:t>
            </a:r>
            <a:endParaRPr lang="en-US" sz="1500" dirty="0"/>
          </a:p>
        </p:txBody>
      </p:sp>
      <p:sp>
        <p:nvSpPr>
          <p:cNvPr id="7" name="Shape 5"/>
          <p:cNvSpPr/>
          <p:nvPr/>
        </p:nvSpPr>
        <p:spPr>
          <a:xfrm>
            <a:off x="502920" y="2350008"/>
            <a:ext cx="11155680" cy="841248"/>
          </a:xfrm>
          <a:prstGeom prst="rect">
            <a:avLst/>
          </a:prstGeom>
          <a:solidFill>
            <a:srgbClr val="FFFFFF"/>
          </a:solidFill>
          <a:ln/>
        </p:spPr>
      </p:sp>
      <p:sp>
        <p:nvSpPr>
          <p:cNvPr id="8" name="Text 6"/>
          <p:cNvSpPr/>
          <p:nvPr/>
        </p:nvSpPr>
        <p:spPr>
          <a:xfrm>
            <a:off x="731520" y="2459736"/>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they can change</a:t>
            </a:r>
            <a:endParaRPr lang="en-US" sz="1600" dirty="0"/>
          </a:p>
        </p:txBody>
      </p:sp>
      <p:sp>
        <p:nvSpPr>
          <p:cNvPr id="9" name="Text 7"/>
          <p:cNvSpPr/>
          <p:nvPr/>
        </p:nvSpPr>
        <p:spPr>
          <a:xfrm>
            <a:off x="3840480" y="2459736"/>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Words, photos, and sections, inside Subsplash’s design.</a:t>
            </a:r>
            <a:endParaRPr lang="en-US" sz="1500" dirty="0"/>
          </a:p>
        </p:txBody>
      </p:sp>
      <p:sp>
        <p:nvSpPr>
          <p:cNvPr id="10" name="Shape 8"/>
          <p:cNvSpPr/>
          <p:nvPr/>
        </p:nvSpPr>
        <p:spPr>
          <a:xfrm>
            <a:off x="502920" y="3282696"/>
            <a:ext cx="11155680" cy="841248"/>
          </a:xfrm>
          <a:prstGeom prst="rect">
            <a:avLst/>
          </a:prstGeom>
          <a:solidFill>
            <a:srgbClr val="FFFFFF"/>
          </a:solidFill>
          <a:ln/>
        </p:spPr>
      </p:sp>
      <p:sp>
        <p:nvSpPr>
          <p:cNvPr id="11" name="Text 9"/>
          <p:cNvSpPr/>
          <p:nvPr/>
        </p:nvSpPr>
        <p:spPr>
          <a:xfrm>
            <a:off x="731520" y="3392424"/>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we would rebuild</a:t>
            </a:r>
            <a:endParaRPr lang="en-US" sz="1600" dirty="0"/>
          </a:p>
        </p:txBody>
      </p:sp>
      <p:sp>
        <p:nvSpPr>
          <p:cNvPr id="12" name="Text 10"/>
          <p:cNvSpPr/>
          <p:nvPr/>
        </p:nvSpPr>
        <p:spPr>
          <a:xfrm>
            <a:off x="3840480" y="3392424"/>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Home, Visit, the ministry pages, the sermons page, and the giving page. We cannot move the new site over. We build it again.</a:t>
            </a:r>
            <a:endParaRPr lang="en-US" sz="1500" dirty="0"/>
          </a:p>
        </p:txBody>
      </p:sp>
      <p:sp>
        <p:nvSpPr>
          <p:cNvPr id="13" name="Shape 11"/>
          <p:cNvSpPr/>
          <p:nvPr/>
        </p:nvSpPr>
        <p:spPr>
          <a:xfrm>
            <a:off x="502920" y="4215384"/>
            <a:ext cx="11155680" cy="841248"/>
          </a:xfrm>
          <a:prstGeom prst="rect">
            <a:avLst/>
          </a:prstGeom>
          <a:solidFill>
            <a:srgbClr val="FFFFFF"/>
          </a:solidFill>
          <a:ln/>
        </p:spPr>
      </p:sp>
      <p:sp>
        <p:nvSpPr>
          <p:cNvPr id="14" name="Text 12"/>
          <p:cNvSpPr/>
          <p:nvPr/>
        </p:nvSpPr>
        <p:spPr>
          <a:xfrm>
            <a:off x="731520" y="4325112"/>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we would give up</a:t>
            </a:r>
            <a:endParaRPr lang="en-US" sz="1600" dirty="0"/>
          </a:p>
        </p:txBody>
      </p:sp>
      <p:sp>
        <p:nvSpPr>
          <p:cNvPr id="15" name="Text 13"/>
          <p:cNvSpPr/>
          <p:nvPr/>
        </p:nvSpPr>
        <p:spPr>
          <a:xfrm>
            <a:off x="3840480" y="4325112"/>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The exact look of the new site. Subsplash sets the layout. We can change colors and words. We cannot freely redesign the page.</a:t>
            </a:r>
            <a:endParaRPr lang="en-US" sz="1500" dirty="0"/>
          </a:p>
        </p:txBody>
      </p:sp>
      <p:sp>
        <p:nvSpPr>
          <p:cNvPr id="16" name="Shape 14"/>
          <p:cNvSpPr/>
          <p:nvPr/>
        </p:nvSpPr>
        <p:spPr>
          <a:xfrm>
            <a:off x="502920" y="5148072"/>
            <a:ext cx="11155680" cy="841248"/>
          </a:xfrm>
          <a:prstGeom prst="rect">
            <a:avLst/>
          </a:prstGeom>
          <a:solidFill>
            <a:srgbClr val="FFFFFF"/>
          </a:solidFill>
          <a:ln/>
        </p:spPr>
      </p:sp>
      <p:sp>
        <p:nvSpPr>
          <p:cNvPr id="17" name="Text 15"/>
          <p:cNvSpPr/>
          <p:nvPr/>
        </p:nvSpPr>
        <p:spPr>
          <a:xfrm>
            <a:off x="731520" y="5257800"/>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The tradeoff</a:t>
            </a:r>
            <a:endParaRPr lang="en-US" sz="1600" dirty="0"/>
          </a:p>
        </p:txBody>
      </p:sp>
      <p:sp>
        <p:nvSpPr>
          <p:cNvPr id="18" name="Text 16"/>
          <p:cNvSpPr/>
          <p:nvPr/>
        </p:nvSpPr>
        <p:spPr>
          <a:xfrm>
            <a:off x="3840480" y="5257800"/>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Easier if the office wants one church login. The finished site will look like a Subsplash site, not the one already designed.</a:t>
            </a:r>
            <a:endParaRPr lang="en-US" sz="1500" dirty="0"/>
          </a:p>
        </p:txBody>
      </p:sp>
      <p:sp>
        <p:nvSpPr>
          <p:cNvPr id="19" name="Text 17"/>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20" name="Text 18"/>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292608"/>
            <a:ext cx="10972800" cy="420624"/>
          </a:xfrm>
          <a:prstGeom prst="rect">
            <a:avLst/>
          </a:prstGeom>
          <a:noFill/>
          <a:ln/>
        </p:spPr>
        <p:txBody>
          <a:bodyPr wrap="square" lIns="0" tIns="0" rIns="0" bIns="0" rtlCol="0" anchor="ctr"/>
          <a:lstStyle/>
          <a:p>
            <a:pPr indent="0" marL="0">
              <a:buNone/>
            </a:pPr>
            <a:r>
              <a:rPr lang="en-US" sz="3000" dirty="0">
                <a:solidFill>
                  <a:srgbClr val="1C3A32"/>
                </a:solidFill>
                <a:latin typeface="Georgia" pitchFamily="34" charset="0"/>
                <a:ea typeface="Georgia" pitchFamily="34" charset="-122"/>
                <a:cs typeface="Georgia" pitchFamily="34" charset="-120"/>
              </a:rPr>
              <a:t>What this costs</a:t>
            </a:r>
            <a:endParaRPr lang="en-US" sz="3000" dirty="0"/>
          </a:p>
        </p:txBody>
      </p:sp>
      <p:sp>
        <p:nvSpPr>
          <p:cNvPr id="3" name="Text 1"/>
          <p:cNvSpPr/>
          <p:nvPr/>
        </p:nvSpPr>
        <p:spPr>
          <a:xfrm>
            <a:off x="502920" y="768096"/>
            <a:ext cx="10972800" cy="292608"/>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The Subsplash bill for the app, giving, and sermons stays either way. This table is only the website.</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38560" cy="4983480"/>
        </p:xfrm>
        <a:graphic>
          <a:graphicData uri="http://schemas.openxmlformats.org/drawingml/2006/table">
            <a:tbl>
              <a:tblPr/>
              <a:tblGrid>
                <a:gridCol w="2103120"/>
                <a:gridCol w="4617720"/>
                <a:gridCol w="4617720"/>
              </a:tblGrid>
              <a:tr h="830580">
                <a:tc>
                  <a:txBody>
                    <a:bodyPr/>
                    <a:lstStyle/>
                    <a:p>
                      <a:pPr algn="l" indent="0" marL="0">
                        <a:buNone/>
                      </a:pPr>
                      <a:r>
                        <a:rPr lang="en-US" sz="1300" b="1" dirty="0">
                          <a:solidFill>
                            <a:srgbClr val="F6F1E7"/>
                          </a:solidFill>
                          <a:latin typeface="Calibri" pitchFamily="34" charset="0"/>
                          <a:ea typeface="Calibri" pitchFamily="34" charset="-122"/>
                          <a:cs typeface="Calibri" pitchFamily="34" charset="-120"/>
                        </a:rPr>
                        <a:t>Website cost</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1C3A32"/>
                    </a:solidFill>
                  </a:tcPr>
                </a:tc>
                <a:tc>
                  <a:txBody>
                    <a:bodyPr/>
                    <a:lstStyle/>
                    <a:p>
                      <a:pPr algn="l" indent="0" marL="0">
                        <a:buNone/>
                      </a:pPr>
                      <a:r>
                        <a:rPr lang="en-US" sz="1300" b="1" dirty="0">
                          <a:solidFill>
                            <a:srgbClr val="F6F1E7"/>
                          </a:solidFill>
                          <a:latin typeface="Calibri" pitchFamily="34" charset="0"/>
                          <a:ea typeface="Calibri" pitchFamily="34" charset="-122"/>
                          <a:cs typeface="Calibri" pitchFamily="34" charset="-120"/>
                        </a:rPr>
                        <a:t>Option 1  ·  Tina</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1C3A32"/>
                    </a:solidFill>
                  </a:tcPr>
                </a:tc>
                <a:tc>
                  <a:txBody>
                    <a:bodyPr/>
                    <a:lstStyle/>
                    <a:p>
                      <a:pPr algn="l" indent="0" marL="0">
                        <a:buNone/>
                      </a:pPr>
                      <a:r>
                        <a:rPr lang="en-US" sz="1300" b="1" dirty="0">
                          <a:solidFill>
                            <a:srgbClr val="F6F1E7"/>
                          </a:solidFill>
                          <a:latin typeface="Calibri" pitchFamily="34" charset="0"/>
                          <a:ea typeface="Calibri" pitchFamily="34" charset="-122"/>
                          <a:cs typeface="Calibri" pitchFamily="34" charset="-120"/>
                        </a:rPr>
                        <a:t>Option 2  ·  SnapPages</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1C3A32"/>
                    </a:solidFill>
                  </a:tcPr>
                </a:tc>
              </a:tr>
              <a:tr h="83058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The editing tool</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Free for two people. A third person is not included.</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No extra charge. It uses the Subsplash website tools we already have.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r>
              <a:tr h="83058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Where it lives online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The sample site is already hosted. Plan on $0 extra, or about $20 a month if a paid hosting seat is needed.</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Included. Subsplash hosts the site.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r>
              <a:tr h="83058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Building the pages</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The site is already built. We finish the editor and show the office how to use it.</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Every page is built again by hand. That is people’s time, not a monthly fee.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r>
              <a:tr h="83058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Is the price public?</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Yes. Free for two people. Checked 28 September 2026.</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Subsplash does not list a public price. Check our current bill before assuming a new charge.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r>
              <a:tr h="83058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Cost this year</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$0 for Tina. Hosting is $0, or up to about $240 for the year if a paid seat is needed.</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$0 in new software if our plan already includes the website. The cost is the time to rebuild.</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6" name="Text 3"/>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20040"/>
            <a:ext cx="10972800" cy="438912"/>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A normal week at the church</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38560" cy="5029200"/>
        </p:xfrm>
        <a:graphic>
          <a:graphicData uri="http://schemas.openxmlformats.org/drawingml/2006/table">
            <a:tbl>
              <a:tblPr/>
              <a:tblGrid>
                <a:gridCol w="2468880"/>
                <a:gridCol w="4434840"/>
                <a:gridCol w="4434840"/>
              </a:tblGrid>
              <a:tr h="838200">
                <a:tc>
                  <a:txBody>
                    <a:bodyPr/>
                    <a:lstStyle/>
                    <a:p>
                      <a:pPr algn="l" indent="0" marL="0">
                        <a:buNone/>
                      </a:pPr>
                      <a:r>
                        <a:rPr lang="en-US" sz="1400" b="1" dirty="0">
                          <a:solidFill>
                            <a:srgbClr val="F6F1E7"/>
                          </a:solidFill>
                          <a:latin typeface="Calibri" pitchFamily="34" charset="0"/>
                          <a:ea typeface="Calibri" pitchFamily="34" charset="-122"/>
                          <a:cs typeface="Calibri" pitchFamily="34" charset="-120"/>
                        </a:rPr>
                        <a:t>The job</a:t>
                      </a:r>
                      <a:endParaRPr lang="en-US" sz="14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1C3A32"/>
                    </a:solidFill>
                  </a:tcPr>
                </a:tc>
                <a:tc>
                  <a:txBody>
                    <a:bodyPr/>
                    <a:lstStyle/>
                    <a:p>
                      <a:pPr algn="l" indent="0" marL="0">
                        <a:buNone/>
                      </a:pPr>
                      <a:r>
                        <a:rPr lang="en-US" sz="1400" b="1" dirty="0">
                          <a:solidFill>
                            <a:srgbClr val="F6F1E7"/>
                          </a:solidFill>
                          <a:latin typeface="Calibri" pitchFamily="34" charset="0"/>
                          <a:ea typeface="Calibri" pitchFamily="34" charset="-122"/>
                          <a:cs typeface="Calibri" pitchFamily="34" charset="-120"/>
                        </a:rPr>
                        <a:t>Tina</a:t>
                      </a:r>
                      <a:endParaRPr lang="en-US" sz="14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1C3A32"/>
                    </a:solidFill>
                  </a:tcPr>
                </a:tc>
                <a:tc>
                  <a:txBody>
                    <a:bodyPr/>
                    <a:lstStyle/>
                    <a:p>
                      <a:pPr algn="l" indent="0" marL="0">
                        <a:buNone/>
                      </a:pPr>
                      <a:r>
                        <a:rPr lang="en-US" sz="1400" b="1" dirty="0">
                          <a:solidFill>
                            <a:srgbClr val="F6F1E7"/>
                          </a:solidFill>
                          <a:latin typeface="Calibri" pitchFamily="34" charset="0"/>
                          <a:ea typeface="Calibri" pitchFamily="34" charset="-122"/>
                          <a:cs typeface="Calibri" pitchFamily="34" charset="-120"/>
                        </a:rPr>
                        <a:t>SnapPages</a:t>
                      </a:r>
                      <a:endParaRPr lang="en-US" sz="14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1C3A32"/>
                    </a:solidFill>
                  </a:tcPr>
                </a:tc>
              </a:tr>
              <a:tr h="83820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Change the Sunday time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Click the time on the homepage. Type the new time. Save.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Open the page in Subsplash and change the words.</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r>
              <a:tr h="83820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A new sermon video</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Upload it in Subsplash. Same as today.</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Upload it in Subsplash. Same as today.</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r>
              <a:tr h="83820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A new bulletin</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We add the PDF. The office links it on the page.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Upload it in Subsplash and link it.</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r>
              <a:tr h="83820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Update a ministry page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Open that page and edit the words right on it.</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Edit that section in Subsplash.</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r>
              <a:tr h="83820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Change how Home looks</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That is a design change, not an office edit.</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Only as far as Subsplash’s design allows.</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r>
            </a:tbl>
          </a:graphicData>
        </a:graphic>
      </p:graphicFrame>
      <p:sp>
        <p:nvSpPr>
          <p:cNvPr id="4" name="Text 1"/>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5" name="Text 2"/>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47472"/>
            <a:ext cx="10972800" cy="457200"/>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The simple version</a:t>
            </a:r>
            <a:endParaRPr lang="en-US" sz="3200" dirty="0"/>
          </a:p>
        </p:txBody>
      </p:sp>
      <p:sp>
        <p:nvSpPr>
          <p:cNvPr id="3" name="Text 1"/>
          <p:cNvSpPr/>
          <p:nvPr/>
        </p:nvSpPr>
        <p:spPr>
          <a:xfrm>
            <a:off x="502920" y="1005840"/>
            <a:ext cx="3749040" cy="777240"/>
          </a:xfrm>
          <a:prstGeom prst="rect">
            <a:avLst/>
          </a:prstGeom>
          <a:noFill/>
          <a:ln/>
        </p:spPr>
        <p:txBody>
          <a:bodyPr wrap="square" lIns="0" tIns="0" rIns="0" bIns="0" rtlCol="0" anchor="t"/>
          <a:lstStyle/>
          <a:p>
            <a:pPr indent="0" marL="0">
              <a:buNone/>
            </a:pPr>
            <a:r>
              <a:rPr lang="en-US" sz="1600" dirty="0">
                <a:solidFill>
                  <a:srgbClr val="1C3A32"/>
                </a:solidFill>
                <a:latin typeface="Georgia" pitchFamily="34" charset="0"/>
                <a:ea typeface="Georgia" pitchFamily="34" charset="-122"/>
                <a:cs typeface="Georgia" pitchFamily="34" charset="-120"/>
              </a:rPr>
              <a:t>Tina is free for two people.</a:t>
            </a:r>
            <a:endParaRPr lang="en-US" sz="1600" dirty="0"/>
          </a:p>
        </p:txBody>
      </p:sp>
      <p:sp>
        <p:nvSpPr>
          <p:cNvPr id="4" name="Text 2"/>
          <p:cNvSpPr/>
          <p:nvPr/>
        </p:nvSpPr>
        <p:spPr>
          <a:xfrm>
            <a:off x="4389120" y="1005840"/>
            <a:ext cx="7223760" cy="822960"/>
          </a:xfrm>
          <a:prstGeom prst="rect">
            <a:avLst/>
          </a:prstGeom>
          <a:noFill/>
          <a:ln/>
        </p:spPr>
        <p:txBody>
          <a:bodyPr wrap="square" lIns="0" tIns="0" rIns="0" bIns="0" rtlCol="0" anchor="t"/>
          <a:lstStyle/>
          <a:p>
            <a:pPr indent="0" marL="0">
              <a:buNone/>
            </a:pPr>
            <a:r>
              <a:rPr lang="en-US" sz="1500" dirty="0">
                <a:solidFill>
                  <a:srgbClr val="1E2A26"/>
                </a:solidFill>
                <a:latin typeface="Calibri" pitchFamily="34" charset="0"/>
                <a:ea typeface="Calibri" pitchFamily="34" charset="-122"/>
                <a:cs typeface="Calibri" pitchFamily="34" charset="-120"/>
              </a:rPr>
              <a:t>Two staff can each have a login. A third person would cost extra, and we are not planning that.</a:t>
            </a:r>
            <a:endParaRPr lang="en-US" sz="1500" dirty="0"/>
          </a:p>
        </p:txBody>
      </p:sp>
      <p:sp>
        <p:nvSpPr>
          <p:cNvPr id="5" name="Text 3"/>
          <p:cNvSpPr/>
          <p:nvPr/>
        </p:nvSpPr>
        <p:spPr>
          <a:xfrm>
            <a:off x="502920" y="1965960"/>
            <a:ext cx="3749040" cy="777240"/>
          </a:xfrm>
          <a:prstGeom prst="rect">
            <a:avLst/>
          </a:prstGeom>
          <a:noFill/>
          <a:ln/>
        </p:spPr>
        <p:txBody>
          <a:bodyPr wrap="square" lIns="0" tIns="0" rIns="0" bIns="0" rtlCol="0" anchor="t"/>
          <a:lstStyle/>
          <a:p>
            <a:pPr indent="0" marL="0">
              <a:buNone/>
            </a:pPr>
            <a:r>
              <a:rPr lang="en-US" sz="1600" dirty="0">
                <a:solidFill>
                  <a:srgbClr val="1C3A32"/>
                </a:solidFill>
                <a:latin typeface="Georgia" pitchFamily="34" charset="0"/>
                <a:ea typeface="Georgia" pitchFamily="34" charset="-122"/>
                <a:cs typeface="Georgia" pitchFamily="34" charset="-120"/>
              </a:rPr>
              <a:t>SnapPages is already in our account.</a:t>
            </a:r>
            <a:endParaRPr lang="en-US" sz="1600" dirty="0"/>
          </a:p>
        </p:txBody>
      </p:sp>
      <p:sp>
        <p:nvSpPr>
          <p:cNvPr id="6" name="Text 4"/>
          <p:cNvSpPr/>
          <p:nvPr/>
        </p:nvSpPr>
        <p:spPr>
          <a:xfrm>
            <a:off x="4389120" y="1965960"/>
            <a:ext cx="7223760" cy="822960"/>
          </a:xfrm>
          <a:prstGeom prst="rect">
            <a:avLst/>
          </a:prstGeom>
          <a:noFill/>
          <a:ln/>
        </p:spPr>
        <p:txBody>
          <a:bodyPr wrap="square" lIns="0" tIns="0" rIns="0" bIns="0" rtlCol="0" anchor="t"/>
          <a:lstStyle/>
          <a:p>
            <a:pPr indent="0" marL="0">
              <a:buNone/>
            </a:pPr>
            <a:r>
              <a:rPr lang="en-US" sz="1500" dirty="0">
                <a:solidFill>
                  <a:srgbClr val="1E2A26"/>
                </a:solidFill>
                <a:latin typeface="Calibri" pitchFamily="34" charset="0"/>
                <a:ea typeface="Calibri" pitchFamily="34" charset="-122"/>
                <a:cs typeface="Calibri" pitchFamily="34" charset="-120"/>
              </a:rPr>
              <a:t>A practice website is already started in Subsplash. They do not list a public price. Check our bill before adding a new website charge.</a:t>
            </a:r>
            <a:endParaRPr lang="en-US" sz="1500" dirty="0"/>
          </a:p>
        </p:txBody>
      </p:sp>
      <p:sp>
        <p:nvSpPr>
          <p:cNvPr id="7" name="Text 5"/>
          <p:cNvSpPr/>
          <p:nvPr/>
        </p:nvSpPr>
        <p:spPr>
          <a:xfrm>
            <a:off x="502920" y="2926080"/>
            <a:ext cx="3749040" cy="777240"/>
          </a:xfrm>
          <a:prstGeom prst="rect">
            <a:avLst/>
          </a:prstGeom>
          <a:noFill/>
          <a:ln/>
        </p:spPr>
        <p:txBody>
          <a:bodyPr wrap="square" lIns="0" tIns="0" rIns="0" bIns="0" rtlCol="0" anchor="t"/>
          <a:lstStyle/>
          <a:p>
            <a:pPr indent="0" marL="0">
              <a:buNone/>
            </a:pPr>
            <a:r>
              <a:rPr lang="en-US" sz="1600" dirty="0">
                <a:solidFill>
                  <a:srgbClr val="1C3A32"/>
                </a:solidFill>
                <a:latin typeface="Georgia" pitchFamily="34" charset="0"/>
                <a:ea typeface="Georgia" pitchFamily="34" charset="-122"/>
                <a:cs typeface="Georgia" pitchFamily="34" charset="-120"/>
              </a:rPr>
              <a:t>We still pay Subsplash.</a:t>
            </a:r>
            <a:endParaRPr lang="en-US" sz="1600" dirty="0"/>
          </a:p>
        </p:txBody>
      </p:sp>
      <p:sp>
        <p:nvSpPr>
          <p:cNvPr id="8" name="Text 6"/>
          <p:cNvSpPr/>
          <p:nvPr/>
        </p:nvSpPr>
        <p:spPr>
          <a:xfrm>
            <a:off x="4389120" y="2926080"/>
            <a:ext cx="7223760" cy="822960"/>
          </a:xfrm>
          <a:prstGeom prst="rect">
            <a:avLst/>
          </a:prstGeom>
          <a:noFill/>
          <a:ln/>
        </p:spPr>
        <p:txBody>
          <a:bodyPr wrap="square" lIns="0" tIns="0" rIns="0" bIns="0" rtlCol="0" anchor="t"/>
          <a:lstStyle/>
          <a:p>
            <a:pPr indent="0" marL="0">
              <a:buNone/>
            </a:pPr>
            <a:r>
              <a:rPr lang="en-US" sz="1500" dirty="0">
                <a:solidFill>
                  <a:srgbClr val="1E2A26"/>
                </a:solidFill>
                <a:latin typeface="Calibri" pitchFamily="34" charset="0"/>
                <a:ea typeface="Calibri" pitchFamily="34" charset="-122"/>
                <a:cs typeface="Calibri" pitchFamily="34" charset="-120"/>
              </a:rPr>
              <a:t>Choosing Tina does not cancel the app, giving, or sermons. If the website is part of our package, that part of the bill may stay.</a:t>
            </a:r>
            <a:endParaRPr lang="en-US" sz="1500" dirty="0"/>
          </a:p>
        </p:txBody>
      </p:sp>
      <p:sp>
        <p:nvSpPr>
          <p:cNvPr id="9" name="Text 7"/>
          <p:cNvSpPr/>
          <p:nvPr/>
        </p:nvSpPr>
        <p:spPr>
          <a:xfrm>
            <a:off x="502920" y="3886200"/>
            <a:ext cx="3749040" cy="777240"/>
          </a:xfrm>
          <a:prstGeom prst="rect">
            <a:avLst/>
          </a:prstGeom>
          <a:noFill/>
          <a:ln/>
        </p:spPr>
        <p:txBody>
          <a:bodyPr wrap="square" lIns="0" tIns="0" rIns="0" bIns="0" rtlCol="0" anchor="t"/>
          <a:lstStyle/>
          <a:p>
            <a:pPr indent="0" marL="0">
              <a:buNone/>
            </a:pPr>
            <a:r>
              <a:rPr lang="en-US" sz="1600" dirty="0">
                <a:solidFill>
                  <a:srgbClr val="1C3A32"/>
                </a:solidFill>
                <a:latin typeface="Georgia" pitchFamily="34" charset="0"/>
                <a:ea typeface="Georgia" pitchFamily="34" charset="-122"/>
                <a:cs typeface="Georgia" pitchFamily="34" charset="-120"/>
              </a:rPr>
              <a:t>Giving fees stay the same.</a:t>
            </a:r>
            <a:endParaRPr lang="en-US" sz="1600" dirty="0"/>
          </a:p>
        </p:txBody>
      </p:sp>
      <p:sp>
        <p:nvSpPr>
          <p:cNvPr id="10" name="Text 8"/>
          <p:cNvSpPr/>
          <p:nvPr/>
        </p:nvSpPr>
        <p:spPr>
          <a:xfrm>
            <a:off x="4389120" y="3886200"/>
            <a:ext cx="7223760" cy="822960"/>
          </a:xfrm>
          <a:prstGeom prst="rect">
            <a:avLst/>
          </a:prstGeom>
          <a:noFill/>
          <a:ln/>
        </p:spPr>
        <p:txBody>
          <a:bodyPr wrap="square" lIns="0" tIns="0" rIns="0" bIns="0" rtlCol="0" anchor="t"/>
          <a:lstStyle/>
          <a:p>
            <a:pPr indent="0" marL="0">
              <a:buNone/>
            </a:pPr>
            <a:r>
              <a:rPr lang="en-US" sz="1500" dirty="0">
                <a:solidFill>
                  <a:srgbClr val="1E2A26"/>
                </a:solidFill>
                <a:latin typeface="Calibri" pitchFamily="34" charset="0"/>
                <a:ea typeface="Calibri" pitchFamily="34" charset="-122"/>
                <a:cs typeface="Calibri" pitchFamily="34" charset="-120"/>
              </a:rPr>
              <a:t>A card gift is 2.3% plus 30 cents. A bank gift is 1%. Both choices keep Subsplash for giving.</a:t>
            </a:r>
            <a:endParaRPr lang="en-US" sz="1500" dirty="0"/>
          </a:p>
        </p:txBody>
      </p:sp>
      <p:sp>
        <p:nvSpPr>
          <p:cNvPr id="11" name="Text 9"/>
          <p:cNvSpPr/>
          <p:nvPr/>
        </p:nvSpPr>
        <p:spPr>
          <a:xfrm>
            <a:off x="502920" y="4846320"/>
            <a:ext cx="3749040" cy="777240"/>
          </a:xfrm>
          <a:prstGeom prst="rect">
            <a:avLst/>
          </a:prstGeom>
          <a:noFill/>
          <a:ln/>
        </p:spPr>
        <p:txBody>
          <a:bodyPr wrap="square" lIns="0" tIns="0" rIns="0" bIns="0" rtlCol="0" anchor="t"/>
          <a:lstStyle/>
          <a:p>
            <a:pPr indent="0" marL="0">
              <a:buNone/>
            </a:pPr>
            <a:r>
              <a:rPr lang="en-US" sz="1600" dirty="0">
                <a:solidFill>
                  <a:srgbClr val="1C3A32"/>
                </a:solidFill>
                <a:latin typeface="Georgia" pitchFamily="34" charset="0"/>
                <a:ea typeface="Georgia" pitchFamily="34" charset="-122"/>
                <a:cs typeface="Georgia" pitchFamily="34" charset="-120"/>
              </a:rPr>
              <a:t>The real choice</a:t>
            </a:r>
            <a:endParaRPr lang="en-US" sz="1600" dirty="0"/>
          </a:p>
        </p:txBody>
      </p:sp>
      <p:sp>
        <p:nvSpPr>
          <p:cNvPr id="12" name="Text 10"/>
          <p:cNvSpPr/>
          <p:nvPr/>
        </p:nvSpPr>
        <p:spPr>
          <a:xfrm>
            <a:off x="4389120" y="4846320"/>
            <a:ext cx="7223760" cy="822960"/>
          </a:xfrm>
          <a:prstGeom prst="rect">
            <a:avLst/>
          </a:prstGeom>
          <a:noFill/>
          <a:ln/>
        </p:spPr>
        <p:txBody>
          <a:bodyPr wrap="square" lIns="0" tIns="0" rIns="0" bIns="0" rtlCol="0" anchor="t"/>
          <a:lstStyle/>
          <a:p>
            <a:pPr indent="0" marL="0">
              <a:buNone/>
            </a:pPr>
            <a:r>
              <a:rPr lang="en-US" sz="1500" dirty="0">
                <a:solidFill>
                  <a:srgbClr val="1E2A26"/>
                </a:solidFill>
                <a:latin typeface="Calibri" pitchFamily="34" charset="0"/>
                <a:ea typeface="Calibri" pitchFamily="34" charset="-122"/>
                <a:cs typeface="Calibri" pitchFamily="34" charset="-120"/>
              </a:rPr>
              <a:t>Option 1 keeps the website we have already designed, at no editor cost for two people. Option 2 rebuilds it inside the Subsplash login the office already knows.</a:t>
            </a:r>
            <a:endParaRPr lang="en-US" sz="1500" dirty="0"/>
          </a:p>
        </p:txBody>
      </p:sp>
      <p:sp>
        <p:nvSpPr>
          <p:cNvPr id="13" name="Text 11"/>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For Pastor Dave and Pastor Shawn  ·  28 September 2026</a:t>
            </a:r>
            <a:endParaRPr lang="en-US" sz="1100" dirty="0"/>
          </a:p>
        </p:txBody>
      </p:sp>
      <p:sp>
        <p:nvSpPr>
          <p:cNvPr id="14" name="Text 12"/>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the public website should live</dc:title>
  <dc:subject>Tina CMS and SnapPages, September 2026</dc:subject>
  <dc:creator>Calvary Chapel Frederick</dc:creator>
  <cp:lastModifiedBy>Calvary Chapel Frederick</cp:lastModifiedBy>
  <cp:revision>1</cp:revision>
  <dcterms:created xsi:type="dcterms:W3CDTF">2026-09-28T17:21:12Z</dcterms:created>
  <dcterms:modified xsi:type="dcterms:W3CDTF">2026-09-28T17:21:12Z</dcterms:modified>
</cp:coreProperties>
</file>