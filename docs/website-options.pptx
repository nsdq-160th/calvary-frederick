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4" r:id="rId6"/>
    <p:sldId id="265" r:id="rId7"/>
    <p:sldId id="260" r:id="rId8"/>
    <p:sldId id="261" r:id="rId9"/>
    <p:sldId id="262" r:id="rId10"/>
    <p:sldId id="263"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232" y="20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6942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820"/>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68445"/>
          </a:solidFill>
          <a:ln/>
        </p:spPr>
        <p:txBody>
          <a:bodyPr/>
          <a:lstStyle/>
          <a:p>
            <a:endParaRPr lang="en-US"/>
          </a:p>
        </p:txBody>
      </p:sp>
      <p:sp>
        <p:nvSpPr>
          <p:cNvPr id="3" name="Text 1"/>
          <p:cNvSpPr/>
          <p:nvPr/>
        </p:nvSpPr>
        <p:spPr>
          <a:xfrm>
            <a:off x="685800" y="1417320"/>
            <a:ext cx="10058400" cy="292608"/>
          </a:xfrm>
          <a:prstGeom prst="rect">
            <a:avLst/>
          </a:prstGeom>
          <a:noFill/>
          <a:ln/>
        </p:spPr>
        <p:txBody>
          <a:bodyPr wrap="square" lIns="0" tIns="0" rIns="0" bIns="0" rtlCol="0" anchor="ctr"/>
          <a:lstStyle/>
          <a:p>
            <a:pPr marL="0" indent="0">
              <a:buNone/>
            </a:pPr>
            <a:r>
              <a:rPr lang="en-US" sz="1400" kern="0" spc="220" dirty="0">
                <a:solidFill>
                  <a:srgbClr val="A68445"/>
                </a:solidFill>
                <a:latin typeface="Calibri" pitchFamily="34" charset="0"/>
                <a:ea typeface="Calibri" pitchFamily="34" charset="-122"/>
                <a:cs typeface="Calibri" pitchFamily="34" charset="-120"/>
              </a:rPr>
              <a:t>CALVARY CHAPEL FREDERICK</a:t>
            </a:r>
            <a:endParaRPr lang="en-US" sz="1400" dirty="0"/>
          </a:p>
        </p:txBody>
      </p:sp>
      <p:sp>
        <p:nvSpPr>
          <p:cNvPr id="4" name="Text 2"/>
          <p:cNvSpPr/>
          <p:nvPr/>
        </p:nvSpPr>
        <p:spPr>
          <a:xfrm>
            <a:off x="685800" y="1874520"/>
            <a:ext cx="10058400" cy="1920240"/>
          </a:xfrm>
          <a:prstGeom prst="rect">
            <a:avLst/>
          </a:prstGeom>
          <a:noFill/>
          <a:ln/>
        </p:spPr>
        <p:txBody>
          <a:bodyPr wrap="square" lIns="0" tIns="0" rIns="0" bIns="0" rtlCol="0" anchor="ctr"/>
          <a:lstStyle/>
          <a:p>
            <a:pPr marL="0" indent="0">
              <a:buNone/>
            </a:pPr>
            <a:r>
              <a:rPr lang="en-US" sz="4800" dirty="0">
                <a:solidFill>
                  <a:srgbClr val="F6F1E7"/>
                </a:solidFill>
                <a:latin typeface="Georgia" pitchFamily="34" charset="0"/>
                <a:ea typeface="Georgia" pitchFamily="34" charset="-122"/>
                <a:cs typeface="Georgia" pitchFamily="34" charset="-120"/>
              </a:rPr>
              <a:t>Two ways forward</a:t>
            </a:r>
            <a:endParaRPr lang="en-US" sz="4800" dirty="0"/>
          </a:p>
          <a:p>
            <a:pPr marL="0" indent="0">
              <a:buNone/>
            </a:pPr>
            <a:r>
              <a:rPr lang="en-US" sz="4800" dirty="0">
                <a:solidFill>
                  <a:srgbClr val="F6F1E7"/>
                </a:solidFill>
                <a:latin typeface="Georgia" pitchFamily="34" charset="0"/>
                <a:ea typeface="Georgia" pitchFamily="34" charset="-122"/>
                <a:cs typeface="Georgia" pitchFamily="34" charset="-120"/>
              </a:rPr>
              <a:t>for the website</a:t>
            </a:r>
            <a:endParaRPr lang="en-US" sz="4800" dirty="0"/>
          </a:p>
        </p:txBody>
      </p:sp>
      <p:sp>
        <p:nvSpPr>
          <p:cNvPr id="5" name="Text 3"/>
          <p:cNvSpPr/>
          <p:nvPr/>
        </p:nvSpPr>
        <p:spPr>
          <a:xfrm>
            <a:off x="685800" y="4023360"/>
            <a:ext cx="8686800" cy="457200"/>
          </a:xfrm>
          <a:prstGeom prst="rect">
            <a:avLst/>
          </a:prstGeom>
          <a:noFill/>
          <a:ln/>
        </p:spPr>
        <p:txBody>
          <a:bodyPr wrap="square" lIns="0" tIns="0" rIns="0" bIns="0" rtlCol="0" anchor="ctr"/>
          <a:lstStyle/>
          <a:p>
            <a:pPr marL="0" indent="0">
              <a:buNone/>
            </a:pPr>
            <a:r>
              <a:rPr lang="en-US" sz="1800" dirty="0">
                <a:solidFill>
                  <a:srgbClr val="D9D0C2"/>
                </a:solidFill>
                <a:latin typeface="Calibri" pitchFamily="34" charset="0"/>
                <a:ea typeface="Calibri" pitchFamily="34" charset="-122"/>
                <a:cs typeface="Calibri" pitchFamily="34" charset="-120"/>
              </a:rPr>
              <a:t>For Pastor Dave and Pastor Shawn. The app, giving, and sermons stay on Subsplash either way.</a:t>
            </a:r>
            <a:endParaRPr lang="en-US" sz="1800" dirty="0"/>
          </a:p>
        </p:txBody>
      </p:sp>
      <p:sp>
        <p:nvSpPr>
          <p:cNvPr id="6" name="Text 4"/>
          <p:cNvSpPr/>
          <p:nvPr/>
        </p:nvSpPr>
        <p:spPr>
          <a:xfrm>
            <a:off x="685800" y="5989320"/>
            <a:ext cx="7315200" cy="274320"/>
          </a:xfrm>
          <a:prstGeom prst="rect">
            <a:avLst/>
          </a:prstGeom>
          <a:noFill/>
          <a:ln/>
        </p:spPr>
        <p:txBody>
          <a:bodyPr wrap="square" lIns="0" tIns="0" rIns="0" bIns="0" rtlCol="0" anchor="ctr"/>
          <a:lstStyle/>
          <a:p>
            <a:pPr marL="0" indent="0">
              <a:buNone/>
            </a:pPr>
            <a:r>
              <a:rPr lang="en-US" sz="1400" dirty="0">
                <a:solidFill>
                  <a:srgbClr val="A68445"/>
                </a:solidFill>
                <a:latin typeface="Calibri" pitchFamily="34" charset="0"/>
                <a:ea typeface="Calibri" pitchFamily="34" charset="-122"/>
                <a:cs typeface="Calibri" pitchFamily="34" charset="-120"/>
              </a:rPr>
              <a:t>A simple look at the choice  ·  28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a:effectLst/>
      </p:bgPr>
    </p:bg>
    <p:spTree>
      <p:nvGrpSpPr>
        <p:cNvPr id="1" name=""/>
        <p:cNvGrpSpPr/>
        <p:nvPr/>
      </p:nvGrpSpPr>
      <p:grpSpPr>
        <a:xfrm>
          <a:off x="0" y="0"/>
          <a:ext cx="0" cy="0"/>
          <a:chOff x="0" y="0"/>
          <a:chExt cx="0" cy="0"/>
        </a:xfrm>
      </p:grpSpPr>
      <p:sp>
        <p:nvSpPr>
          <p:cNvPr id="2" name="Text 0"/>
          <p:cNvSpPr/>
          <p:nvPr/>
        </p:nvSpPr>
        <p:spPr>
          <a:xfrm>
            <a:off x="502920" y="347472"/>
            <a:ext cx="10972800" cy="502920"/>
          </a:xfrm>
          <a:prstGeom prst="rect">
            <a:avLst/>
          </a:prstGeom>
          <a:noFill/>
          <a:ln/>
        </p:spPr>
        <p:txBody>
          <a:bodyPr wrap="square" lIns="0" tIns="0" rIns="0" bIns="0" rtlCol="0" anchor="ctr"/>
          <a:lstStyle/>
          <a:p>
            <a:pPr marL="0" indent="0">
              <a:buNone/>
            </a:pPr>
            <a:r>
              <a:rPr lang="en-US" sz="3200" dirty="0">
                <a:solidFill>
                  <a:srgbClr val="1C3A32"/>
                </a:solidFill>
                <a:latin typeface="Georgia" pitchFamily="34" charset="0"/>
                <a:ea typeface="Georgia" pitchFamily="34" charset="-122"/>
                <a:cs typeface="Georgia" pitchFamily="34" charset="-120"/>
              </a:rPr>
              <a:t>What we are deciding</a:t>
            </a:r>
            <a:endParaRPr lang="en-US" sz="3200" dirty="0"/>
          </a:p>
        </p:txBody>
      </p:sp>
      <p:sp>
        <p:nvSpPr>
          <p:cNvPr id="3" name="Text 1"/>
          <p:cNvSpPr/>
          <p:nvPr/>
        </p:nvSpPr>
        <p:spPr>
          <a:xfrm>
            <a:off x="502920" y="960120"/>
            <a:ext cx="10972800" cy="411480"/>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People visit calvaryfrederick.com. That site is on Squarespace today. Giving, sermons, and the app already live in Subsplash. We are not moving those.</a:t>
            </a:r>
            <a:endParaRPr lang="en-US" sz="1600" dirty="0"/>
          </a:p>
        </p:txBody>
      </p:sp>
      <p:sp>
        <p:nvSpPr>
          <p:cNvPr id="4" name="Shape 2"/>
          <p:cNvSpPr/>
          <p:nvPr/>
        </p:nvSpPr>
        <p:spPr>
          <a:xfrm>
            <a:off x="502920" y="1600200"/>
            <a:ext cx="5394960" cy="4526280"/>
          </a:xfrm>
          <a:prstGeom prst="rect">
            <a:avLst/>
          </a:prstGeom>
          <a:solidFill>
            <a:srgbClr val="FFFFFF"/>
          </a:solidFill>
          <a:ln/>
          <a:effectLst>
            <a:outerShdw blurRad="177800" dist="38100" dir="8100000" algn="bl" rotWithShape="0">
              <a:srgbClr val="1C3A32">
                <a:alpha val="8000"/>
              </a:srgbClr>
            </a:outerShdw>
          </a:effectLst>
        </p:spPr>
        <p:txBody>
          <a:bodyPr/>
          <a:lstStyle/>
          <a:p>
            <a:endParaRPr lang="en-US"/>
          </a:p>
        </p:txBody>
      </p:sp>
      <p:sp>
        <p:nvSpPr>
          <p:cNvPr id="5" name="Shape 3"/>
          <p:cNvSpPr/>
          <p:nvPr/>
        </p:nvSpPr>
        <p:spPr>
          <a:xfrm>
            <a:off x="502920" y="1600200"/>
            <a:ext cx="5394960" cy="109728"/>
          </a:xfrm>
          <a:prstGeom prst="rect">
            <a:avLst/>
          </a:prstGeom>
          <a:solidFill>
            <a:srgbClr val="1C3A32"/>
          </a:solidFill>
          <a:ln/>
        </p:spPr>
        <p:txBody>
          <a:bodyPr/>
          <a:lstStyle/>
          <a:p>
            <a:endParaRPr lang="en-US"/>
          </a:p>
        </p:txBody>
      </p:sp>
      <p:sp>
        <p:nvSpPr>
          <p:cNvPr id="6" name="Text 4"/>
          <p:cNvSpPr/>
          <p:nvPr/>
        </p:nvSpPr>
        <p:spPr>
          <a:xfrm>
            <a:off x="777240" y="1874520"/>
            <a:ext cx="4846320" cy="256032"/>
          </a:xfrm>
          <a:prstGeom prst="rect">
            <a:avLst/>
          </a:prstGeom>
          <a:noFill/>
          <a:ln/>
        </p:spPr>
        <p:txBody>
          <a:bodyPr wrap="square" lIns="0" tIns="0" rIns="0" bIns="0" rtlCol="0" anchor="ctr"/>
          <a:lstStyle/>
          <a:p>
            <a:pPr marL="0" indent="0">
              <a:buNone/>
            </a:pPr>
            <a:r>
              <a:rPr lang="en-US" sz="1300" kern="0" spc="140" dirty="0">
                <a:solidFill>
                  <a:srgbClr val="A68445"/>
                </a:solidFill>
                <a:latin typeface="Calibri" pitchFamily="34" charset="0"/>
                <a:ea typeface="Calibri" pitchFamily="34" charset="-122"/>
                <a:cs typeface="Calibri" pitchFamily="34" charset="-120"/>
              </a:rPr>
              <a:t>OPTION 1</a:t>
            </a:r>
            <a:endParaRPr lang="en-US" sz="1300" dirty="0"/>
          </a:p>
        </p:txBody>
      </p:sp>
      <p:sp>
        <p:nvSpPr>
          <p:cNvPr id="7" name="Text 5"/>
          <p:cNvSpPr/>
          <p:nvPr/>
        </p:nvSpPr>
        <p:spPr>
          <a:xfrm>
            <a:off x="777240" y="2176272"/>
            <a:ext cx="4846320" cy="777240"/>
          </a:xfrm>
          <a:prstGeom prst="rect">
            <a:avLst/>
          </a:prstGeom>
          <a:noFill/>
          <a:ln/>
        </p:spPr>
        <p:txBody>
          <a:bodyPr wrap="square" lIns="0" tIns="0" rIns="0" bIns="0" rtlCol="0" anchor="ctr"/>
          <a:lstStyle/>
          <a:p>
            <a:pPr marL="0" indent="0">
              <a:buNone/>
            </a:pPr>
            <a:r>
              <a:rPr lang="en-US" sz="2600" dirty="0">
                <a:solidFill>
                  <a:srgbClr val="1C3A32"/>
                </a:solidFill>
                <a:latin typeface="Georgia" pitchFamily="34" charset="0"/>
                <a:ea typeface="Georgia" pitchFamily="34" charset="-122"/>
                <a:cs typeface="Georgia" pitchFamily="34" charset="-120"/>
              </a:rPr>
              <a:t>Keep the new website. Edit it in Tina CMS</a:t>
            </a:r>
            <a:endParaRPr lang="en-US" sz="2600" dirty="0"/>
          </a:p>
        </p:txBody>
      </p:sp>
      <p:sp>
        <p:nvSpPr>
          <p:cNvPr id="8" name="Text 6"/>
          <p:cNvSpPr/>
          <p:nvPr/>
        </p:nvSpPr>
        <p:spPr>
          <a:xfrm>
            <a:off x="777240" y="3108960"/>
            <a:ext cx="4846320" cy="1371600"/>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Tina CMS (Content Management System) is a simple screen for changing the words. The office clicks the page and types. Sermons, giving, and the Church app stay in Subsplash.</a:t>
            </a:r>
            <a:endParaRPr lang="en-US" sz="1600" dirty="0"/>
          </a:p>
        </p:txBody>
      </p:sp>
      <p:sp>
        <p:nvSpPr>
          <p:cNvPr id="9" name="Text 7"/>
          <p:cNvSpPr/>
          <p:nvPr/>
        </p:nvSpPr>
        <p:spPr>
          <a:xfrm>
            <a:off x="777240" y="4892040"/>
            <a:ext cx="4846320" cy="640080"/>
          </a:xfrm>
          <a:prstGeom prst="rect">
            <a:avLst/>
          </a:prstGeom>
          <a:noFill/>
          <a:ln/>
        </p:spPr>
        <p:txBody>
          <a:bodyPr wrap="square" lIns="0" tIns="0" rIns="0" bIns="0" rtlCol="0" anchor="ctr"/>
          <a:lstStyle/>
          <a:p>
            <a:pPr marL="0" indent="0">
              <a:buNone/>
            </a:pPr>
            <a:r>
              <a:rPr lang="en-US" sz="1500" dirty="0">
                <a:solidFill>
                  <a:srgbClr val="5C6B64"/>
                </a:solidFill>
                <a:latin typeface="Calibri" pitchFamily="34" charset="0"/>
                <a:ea typeface="Calibri" pitchFamily="34" charset="-122"/>
                <a:cs typeface="Calibri" pitchFamily="34" charset="-120"/>
              </a:rPr>
              <a:t>You can already look</a:t>
            </a:r>
            <a:endParaRPr lang="en-US" sz="1500" dirty="0"/>
          </a:p>
          <a:p>
            <a:pPr marL="0" indent="0">
              <a:buNone/>
            </a:pPr>
            <a:r>
              <a:rPr lang="en-US" sz="1500" dirty="0">
                <a:solidFill>
                  <a:srgbClr val="5C6B64"/>
                </a:solidFill>
                <a:latin typeface="Calibri" pitchFamily="34" charset="0"/>
                <a:ea typeface="Calibri" pitchFamily="34" charset="-122"/>
                <a:cs typeface="Calibri" pitchFamily="34" charset="-120"/>
              </a:rPr>
              <a:t>We can open the sample together.</a:t>
            </a:r>
            <a:endParaRPr lang="en-US" sz="1500" dirty="0"/>
          </a:p>
        </p:txBody>
      </p:sp>
      <p:sp>
        <p:nvSpPr>
          <p:cNvPr id="10" name="Shape 8"/>
          <p:cNvSpPr/>
          <p:nvPr/>
        </p:nvSpPr>
        <p:spPr>
          <a:xfrm>
            <a:off x="6263640" y="1600200"/>
            <a:ext cx="5394960" cy="4526280"/>
          </a:xfrm>
          <a:prstGeom prst="rect">
            <a:avLst/>
          </a:prstGeom>
          <a:solidFill>
            <a:srgbClr val="FFFFFF"/>
          </a:solidFill>
          <a:ln/>
          <a:effectLst>
            <a:outerShdw blurRad="177800" dist="38100" dir="8100000" algn="bl" rotWithShape="0">
              <a:srgbClr val="1C3A32">
                <a:alpha val="8000"/>
              </a:srgbClr>
            </a:outerShdw>
          </a:effectLst>
        </p:spPr>
        <p:txBody>
          <a:bodyPr/>
          <a:lstStyle/>
          <a:p>
            <a:endParaRPr lang="en-US"/>
          </a:p>
        </p:txBody>
      </p:sp>
      <p:sp>
        <p:nvSpPr>
          <p:cNvPr id="11" name="Shape 9"/>
          <p:cNvSpPr/>
          <p:nvPr/>
        </p:nvSpPr>
        <p:spPr>
          <a:xfrm>
            <a:off x="6263640" y="1600200"/>
            <a:ext cx="5394960" cy="109728"/>
          </a:xfrm>
          <a:prstGeom prst="rect">
            <a:avLst/>
          </a:prstGeom>
          <a:solidFill>
            <a:srgbClr val="A68445"/>
          </a:solidFill>
          <a:ln/>
        </p:spPr>
        <p:txBody>
          <a:bodyPr/>
          <a:lstStyle/>
          <a:p>
            <a:endParaRPr lang="en-US"/>
          </a:p>
        </p:txBody>
      </p:sp>
      <p:sp>
        <p:nvSpPr>
          <p:cNvPr id="12" name="Text 10"/>
          <p:cNvSpPr/>
          <p:nvPr/>
        </p:nvSpPr>
        <p:spPr>
          <a:xfrm>
            <a:off x="6537960" y="1874520"/>
            <a:ext cx="4846320" cy="256032"/>
          </a:xfrm>
          <a:prstGeom prst="rect">
            <a:avLst/>
          </a:prstGeom>
          <a:noFill/>
          <a:ln/>
        </p:spPr>
        <p:txBody>
          <a:bodyPr wrap="square" lIns="0" tIns="0" rIns="0" bIns="0" rtlCol="0" anchor="ctr"/>
          <a:lstStyle/>
          <a:p>
            <a:pPr marL="0" indent="0">
              <a:buNone/>
            </a:pPr>
            <a:r>
              <a:rPr lang="en-US" sz="1300" kern="0" spc="140" dirty="0">
                <a:solidFill>
                  <a:srgbClr val="A68445"/>
                </a:solidFill>
                <a:latin typeface="Calibri" pitchFamily="34" charset="0"/>
                <a:ea typeface="Calibri" pitchFamily="34" charset="-122"/>
                <a:cs typeface="Calibri" pitchFamily="34" charset="-120"/>
              </a:rPr>
              <a:t>OPTION 2</a:t>
            </a:r>
            <a:endParaRPr lang="en-US" sz="1300" dirty="0"/>
          </a:p>
        </p:txBody>
      </p:sp>
      <p:sp>
        <p:nvSpPr>
          <p:cNvPr id="13" name="Text 11"/>
          <p:cNvSpPr/>
          <p:nvPr/>
        </p:nvSpPr>
        <p:spPr>
          <a:xfrm>
            <a:off x="6537960" y="2176272"/>
            <a:ext cx="4846320" cy="777240"/>
          </a:xfrm>
          <a:prstGeom prst="rect">
            <a:avLst/>
          </a:prstGeom>
          <a:noFill/>
          <a:ln/>
        </p:spPr>
        <p:txBody>
          <a:bodyPr wrap="square" lIns="0" tIns="0" rIns="0" bIns="0" rtlCol="0" anchor="ctr"/>
          <a:lstStyle/>
          <a:p>
            <a:pPr marL="0" indent="0">
              <a:buNone/>
            </a:pPr>
            <a:r>
              <a:rPr lang="en-US" sz="2600" dirty="0">
                <a:solidFill>
                  <a:srgbClr val="1C3A32"/>
                </a:solidFill>
                <a:latin typeface="Georgia" pitchFamily="34" charset="0"/>
                <a:ea typeface="Georgia" pitchFamily="34" charset="-122"/>
                <a:cs typeface="Georgia" pitchFamily="34" charset="-120"/>
              </a:rPr>
              <a:t>Rebuild the website inside Subsplash.</a:t>
            </a:r>
            <a:endParaRPr lang="en-US" sz="2600" dirty="0"/>
          </a:p>
        </p:txBody>
      </p:sp>
      <p:sp>
        <p:nvSpPr>
          <p:cNvPr id="14" name="Text 12"/>
          <p:cNvSpPr/>
          <p:nvPr/>
        </p:nvSpPr>
        <p:spPr>
          <a:xfrm>
            <a:off x="6537960" y="3108960"/>
            <a:ext cx="4846320" cy="1417320"/>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We start over in Subsplash’s website tool, called SnapPages. The office edits by dragging and dropping, in the same login they already use. The new design cannot be copied over. It has to be built again.</a:t>
            </a:r>
            <a:endParaRPr lang="en-US" sz="1600" dirty="0"/>
          </a:p>
        </p:txBody>
      </p:sp>
      <p:sp>
        <p:nvSpPr>
          <p:cNvPr id="15" name="Text 13"/>
          <p:cNvSpPr/>
          <p:nvPr/>
        </p:nvSpPr>
        <p:spPr>
          <a:xfrm>
            <a:off x="6537960" y="4892040"/>
            <a:ext cx="4846320" cy="640080"/>
          </a:xfrm>
          <a:prstGeom prst="rect">
            <a:avLst/>
          </a:prstGeom>
          <a:noFill/>
          <a:ln/>
        </p:spPr>
        <p:txBody>
          <a:bodyPr wrap="square" lIns="0" tIns="0" rIns="0" bIns="0" rtlCol="0" anchor="ctr"/>
          <a:lstStyle/>
          <a:p>
            <a:pPr marL="0" indent="0">
              <a:buNone/>
            </a:pPr>
            <a:r>
              <a:rPr lang="en-US" sz="1500" dirty="0">
                <a:solidFill>
                  <a:srgbClr val="5C6B64"/>
                </a:solidFill>
                <a:latin typeface="Calibri" pitchFamily="34" charset="0"/>
                <a:ea typeface="Calibri" pitchFamily="34" charset="-122"/>
                <a:cs typeface="Calibri" pitchFamily="34" charset="-120"/>
              </a:rPr>
              <a:t>A practice site is already started</a:t>
            </a:r>
            <a:endParaRPr lang="en-US" sz="1500" dirty="0"/>
          </a:p>
          <a:p>
            <a:pPr marL="0" indent="0">
              <a:buNone/>
            </a:pPr>
            <a:r>
              <a:rPr lang="en-US" sz="1500" dirty="0">
                <a:solidFill>
                  <a:srgbClr val="5C6B64"/>
                </a:solidFill>
                <a:latin typeface="Calibri" pitchFamily="34" charset="0"/>
                <a:ea typeface="Calibri" pitchFamily="34" charset="-122"/>
                <a:cs typeface="Calibri" pitchFamily="34" charset="-120"/>
              </a:rPr>
              <a:t>It lives in our Subsplash account.</a:t>
            </a:r>
            <a:endParaRPr lang="en-US" sz="1500" dirty="0"/>
          </a:p>
        </p:txBody>
      </p:sp>
      <p:sp>
        <p:nvSpPr>
          <p:cNvPr id="16" name="Text 14"/>
          <p:cNvSpPr/>
          <p:nvPr/>
        </p:nvSpPr>
        <p:spPr>
          <a:xfrm>
            <a:off x="502920" y="6510528"/>
            <a:ext cx="9326880" cy="219456"/>
          </a:xfrm>
          <a:prstGeom prst="rect">
            <a:avLst/>
          </a:prstGeom>
          <a:noFill/>
          <a:ln/>
        </p:spPr>
        <p:txBody>
          <a:bodyPr wrap="square" lIns="0" tIns="0" rIns="0" bIns="0" rtlCol="0" anchor="ctr"/>
          <a:lstStyle/>
          <a:p>
            <a:pPr marL="0" indent="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17" name="Text 15"/>
          <p:cNvSpPr/>
          <p:nvPr/>
        </p:nvSpPr>
        <p:spPr>
          <a:xfrm>
            <a:off x="11155680" y="6510528"/>
            <a:ext cx="502920" cy="219456"/>
          </a:xfrm>
          <a:prstGeom prst="rect">
            <a:avLst/>
          </a:prstGeom>
          <a:noFill/>
          <a:ln/>
        </p:spPr>
        <p:txBody>
          <a:bodyPr wrap="square" lIns="0" tIns="0" rIns="0" bIns="0" rtlCol="0" anchor="ctr"/>
          <a:lstStyle/>
          <a:p>
            <a:pPr marL="0" indent="0" algn="r">
              <a:buNone/>
            </a:pPr>
            <a:r>
              <a:rPr lang="en-US" sz="1100" dirty="0">
                <a:solidFill>
                  <a:srgbClr val="5C6B64"/>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7"/>
        </a:solidFill>
        <a:effectLst/>
      </p:bgPr>
    </p:bg>
    <p:spTree>
      <p:nvGrpSpPr>
        <p:cNvPr id="1" name=""/>
        <p:cNvGrpSpPr/>
        <p:nvPr/>
      </p:nvGrpSpPr>
      <p:grpSpPr>
        <a:xfrm>
          <a:off x="0" y="0"/>
          <a:ext cx="0" cy="0"/>
          <a:chOff x="0" y="0"/>
          <a:chExt cx="0" cy="0"/>
        </a:xfrm>
      </p:grpSpPr>
      <p:sp>
        <p:nvSpPr>
          <p:cNvPr id="2" name="Text 0"/>
          <p:cNvSpPr/>
          <p:nvPr/>
        </p:nvSpPr>
        <p:spPr>
          <a:xfrm>
            <a:off x="502920" y="347472"/>
            <a:ext cx="10972800" cy="457200"/>
          </a:xfrm>
          <a:prstGeom prst="rect">
            <a:avLst/>
          </a:prstGeom>
          <a:noFill/>
          <a:ln/>
        </p:spPr>
        <p:txBody>
          <a:bodyPr wrap="square" lIns="0" tIns="0" rIns="0" bIns="0" rtlCol="0" anchor="ctr"/>
          <a:lstStyle/>
          <a:p>
            <a:pPr marL="0" indent="0">
              <a:buNone/>
            </a:pPr>
            <a:r>
              <a:rPr lang="en-US" sz="3200" dirty="0">
                <a:solidFill>
                  <a:srgbClr val="1C3A32"/>
                </a:solidFill>
                <a:latin typeface="Georgia" pitchFamily="34" charset="0"/>
                <a:ea typeface="Georgia" pitchFamily="34" charset="-122"/>
                <a:cs typeface="Georgia" pitchFamily="34" charset="-120"/>
              </a:rPr>
              <a:t>What stays the same</a:t>
            </a:r>
            <a:endParaRPr lang="en-US" sz="3200" dirty="0"/>
          </a:p>
        </p:txBody>
      </p:sp>
      <p:sp>
        <p:nvSpPr>
          <p:cNvPr id="3" name="Text 1"/>
          <p:cNvSpPr/>
          <p:nvPr/>
        </p:nvSpPr>
        <p:spPr>
          <a:xfrm>
            <a:off x="502920" y="914400"/>
            <a:ext cx="10972800" cy="320040"/>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Whichever way we choose, these do not move.</a:t>
            </a:r>
            <a:endParaRPr lang="en-US" sz="1600" dirty="0"/>
          </a:p>
        </p:txBody>
      </p:sp>
      <p:sp>
        <p:nvSpPr>
          <p:cNvPr id="4" name="Shape 2"/>
          <p:cNvSpPr/>
          <p:nvPr/>
        </p:nvSpPr>
        <p:spPr>
          <a:xfrm>
            <a:off x="502920" y="1463040"/>
            <a:ext cx="91440" cy="658368"/>
          </a:xfrm>
          <a:prstGeom prst="rect">
            <a:avLst/>
          </a:prstGeom>
          <a:solidFill>
            <a:srgbClr val="1C3A32"/>
          </a:solidFill>
          <a:ln/>
        </p:spPr>
        <p:txBody>
          <a:bodyPr/>
          <a:lstStyle/>
          <a:p>
            <a:endParaRPr lang="en-US"/>
          </a:p>
        </p:txBody>
      </p:sp>
      <p:sp>
        <p:nvSpPr>
          <p:cNvPr id="5" name="Text 3"/>
          <p:cNvSpPr/>
          <p:nvPr/>
        </p:nvSpPr>
        <p:spPr>
          <a:xfrm>
            <a:off x="822960" y="1463040"/>
            <a:ext cx="3840480" cy="658368"/>
          </a:xfrm>
          <a:prstGeom prst="rect">
            <a:avLst/>
          </a:prstGeom>
          <a:noFill/>
          <a:ln/>
        </p:spPr>
        <p:txBody>
          <a:bodyPr wrap="square" lIns="0" tIns="0" rIns="0" bIns="0" rtlCol="0" anchor="ctr"/>
          <a:lstStyle/>
          <a:p>
            <a:pPr marL="0" indent="0">
              <a:buNone/>
            </a:pPr>
            <a:r>
              <a:rPr lang="en-US" sz="1800" dirty="0">
                <a:solidFill>
                  <a:srgbClr val="1C3A32"/>
                </a:solidFill>
                <a:latin typeface="Georgia" pitchFamily="34" charset="0"/>
                <a:ea typeface="Georgia" pitchFamily="34" charset="-122"/>
                <a:cs typeface="Georgia" pitchFamily="34" charset="-120"/>
              </a:rPr>
              <a:t>Sermons and podcasts</a:t>
            </a:r>
            <a:endParaRPr lang="en-US" sz="1800" dirty="0"/>
          </a:p>
        </p:txBody>
      </p:sp>
      <p:sp>
        <p:nvSpPr>
          <p:cNvPr id="6" name="Text 4"/>
          <p:cNvSpPr/>
          <p:nvPr/>
        </p:nvSpPr>
        <p:spPr>
          <a:xfrm>
            <a:off x="4754880" y="1463040"/>
            <a:ext cx="6766560" cy="658368"/>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Still uploaded in Subsplash. The app and the podcasts keep working.</a:t>
            </a:r>
            <a:endParaRPr lang="en-US" sz="1600" dirty="0"/>
          </a:p>
        </p:txBody>
      </p:sp>
      <p:sp>
        <p:nvSpPr>
          <p:cNvPr id="7" name="Shape 5"/>
          <p:cNvSpPr/>
          <p:nvPr/>
        </p:nvSpPr>
        <p:spPr>
          <a:xfrm>
            <a:off x="502920" y="2331720"/>
            <a:ext cx="91440" cy="658368"/>
          </a:xfrm>
          <a:prstGeom prst="rect">
            <a:avLst/>
          </a:prstGeom>
          <a:solidFill>
            <a:srgbClr val="A68445"/>
          </a:solidFill>
          <a:ln/>
        </p:spPr>
        <p:txBody>
          <a:bodyPr/>
          <a:lstStyle/>
          <a:p>
            <a:endParaRPr lang="en-US"/>
          </a:p>
        </p:txBody>
      </p:sp>
      <p:sp>
        <p:nvSpPr>
          <p:cNvPr id="8" name="Text 6"/>
          <p:cNvSpPr/>
          <p:nvPr/>
        </p:nvSpPr>
        <p:spPr>
          <a:xfrm>
            <a:off x="822960" y="2331720"/>
            <a:ext cx="3840480" cy="658368"/>
          </a:xfrm>
          <a:prstGeom prst="rect">
            <a:avLst/>
          </a:prstGeom>
          <a:noFill/>
          <a:ln/>
        </p:spPr>
        <p:txBody>
          <a:bodyPr wrap="square" lIns="0" tIns="0" rIns="0" bIns="0" rtlCol="0" anchor="ctr"/>
          <a:lstStyle/>
          <a:p>
            <a:pPr marL="0" indent="0">
              <a:buNone/>
            </a:pPr>
            <a:r>
              <a:rPr lang="en-US" sz="1800" dirty="0">
                <a:solidFill>
                  <a:srgbClr val="1C3A32"/>
                </a:solidFill>
                <a:latin typeface="Georgia" pitchFamily="34" charset="0"/>
                <a:ea typeface="Georgia" pitchFamily="34" charset="-122"/>
                <a:cs typeface="Georgia" pitchFamily="34" charset="-120"/>
              </a:rPr>
              <a:t>Giving and receipts</a:t>
            </a:r>
            <a:endParaRPr lang="en-US" sz="1800" dirty="0"/>
          </a:p>
        </p:txBody>
      </p:sp>
      <p:sp>
        <p:nvSpPr>
          <p:cNvPr id="9" name="Text 7"/>
          <p:cNvSpPr/>
          <p:nvPr/>
        </p:nvSpPr>
        <p:spPr>
          <a:xfrm>
            <a:off x="4754880" y="2331720"/>
            <a:ext cx="6766560" cy="658368"/>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Still Subsplash. A card gift is 2.3% plus 30 cents. A bank gift is 1%.</a:t>
            </a:r>
            <a:endParaRPr lang="en-US" sz="1600" dirty="0"/>
          </a:p>
        </p:txBody>
      </p:sp>
      <p:sp>
        <p:nvSpPr>
          <p:cNvPr id="10" name="Shape 8"/>
          <p:cNvSpPr/>
          <p:nvPr/>
        </p:nvSpPr>
        <p:spPr>
          <a:xfrm>
            <a:off x="502920" y="3200400"/>
            <a:ext cx="91440" cy="658368"/>
          </a:xfrm>
          <a:prstGeom prst="rect">
            <a:avLst/>
          </a:prstGeom>
          <a:solidFill>
            <a:srgbClr val="1C3A32"/>
          </a:solidFill>
          <a:ln/>
        </p:spPr>
        <p:txBody>
          <a:bodyPr/>
          <a:lstStyle/>
          <a:p>
            <a:endParaRPr lang="en-US"/>
          </a:p>
        </p:txBody>
      </p:sp>
      <p:sp>
        <p:nvSpPr>
          <p:cNvPr id="11" name="Text 9"/>
          <p:cNvSpPr/>
          <p:nvPr/>
        </p:nvSpPr>
        <p:spPr>
          <a:xfrm>
            <a:off x="822960" y="3200400"/>
            <a:ext cx="3840480" cy="658368"/>
          </a:xfrm>
          <a:prstGeom prst="rect">
            <a:avLst/>
          </a:prstGeom>
          <a:noFill/>
          <a:ln/>
        </p:spPr>
        <p:txBody>
          <a:bodyPr wrap="square" lIns="0" tIns="0" rIns="0" bIns="0" rtlCol="0" anchor="ctr"/>
          <a:lstStyle/>
          <a:p>
            <a:pPr marL="0" indent="0">
              <a:buNone/>
            </a:pPr>
            <a:r>
              <a:rPr lang="en-US" sz="1800" dirty="0">
                <a:solidFill>
                  <a:srgbClr val="1C3A32"/>
                </a:solidFill>
                <a:latin typeface="Georgia" pitchFamily="34" charset="0"/>
                <a:ea typeface="Georgia" pitchFamily="34" charset="-122"/>
                <a:cs typeface="Georgia" pitchFamily="34" charset="-120"/>
              </a:rPr>
              <a:t>The church app</a:t>
            </a:r>
            <a:endParaRPr lang="en-US" sz="1800" dirty="0"/>
          </a:p>
        </p:txBody>
      </p:sp>
      <p:sp>
        <p:nvSpPr>
          <p:cNvPr id="12" name="Text 10"/>
          <p:cNvSpPr/>
          <p:nvPr/>
        </p:nvSpPr>
        <p:spPr>
          <a:xfrm>
            <a:off x="4754880" y="3200400"/>
            <a:ext cx="6766560" cy="658368"/>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The app people already have on their phones stays put.</a:t>
            </a:r>
            <a:endParaRPr lang="en-US" sz="1600" dirty="0"/>
          </a:p>
        </p:txBody>
      </p:sp>
      <p:sp>
        <p:nvSpPr>
          <p:cNvPr id="13" name="Shape 11"/>
          <p:cNvSpPr/>
          <p:nvPr/>
        </p:nvSpPr>
        <p:spPr>
          <a:xfrm>
            <a:off x="502920" y="4069080"/>
            <a:ext cx="91440" cy="658368"/>
          </a:xfrm>
          <a:prstGeom prst="rect">
            <a:avLst/>
          </a:prstGeom>
          <a:solidFill>
            <a:srgbClr val="A68445"/>
          </a:solidFill>
          <a:ln/>
        </p:spPr>
        <p:txBody>
          <a:bodyPr/>
          <a:lstStyle/>
          <a:p>
            <a:endParaRPr lang="en-US"/>
          </a:p>
        </p:txBody>
      </p:sp>
      <p:sp>
        <p:nvSpPr>
          <p:cNvPr id="14" name="Text 12"/>
          <p:cNvSpPr/>
          <p:nvPr/>
        </p:nvSpPr>
        <p:spPr>
          <a:xfrm>
            <a:off x="822960" y="4069080"/>
            <a:ext cx="3840480" cy="658368"/>
          </a:xfrm>
          <a:prstGeom prst="rect">
            <a:avLst/>
          </a:prstGeom>
          <a:noFill/>
          <a:ln/>
        </p:spPr>
        <p:txBody>
          <a:bodyPr wrap="square" lIns="0" tIns="0" rIns="0" bIns="0" rtlCol="0" anchor="ctr"/>
          <a:lstStyle/>
          <a:p>
            <a:pPr marL="0" indent="0">
              <a:buNone/>
            </a:pPr>
            <a:r>
              <a:rPr lang="en-US" sz="1800" dirty="0">
                <a:solidFill>
                  <a:srgbClr val="1C3A32"/>
                </a:solidFill>
                <a:latin typeface="Georgia" pitchFamily="34" charset="0"/>
                <a:ea typeface="Georgia" pitchFamily="34" charset="-122"/>
                <a:cs typeface="Georgia" pitchFamily="34" charset="-120"/>
              </a:rPr>
              <a:t>Our web address</a:t>
            </a:r>
            <a:endParaRPr lang="en-US" sz="1800" dirty="0"/>
          </a:p>
        </p:txBody>
      </p:sp>
      <p:sp>
        <p:nvSpPr>
          <p:cNvPr id="15" name="Text 13"/>
          <p:cNvSpPr/>
          <p:nvPr/>
        </p:nvSpPr>
        <p:spPr>
          <a:xfrm>
            <a:off x="4754880" y="4069080"/>
            <a:ext cx="6766560" cy="658368"/>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calvaryfrederick.com stays. We do not switch it until you decide.</a:t>
            </a:r>
            <a:endParaRPr lang="en-US" sz="1600" dirty="0"/>
          </a:p>
        </p:txBody>
      </p:sp>
      <p:sp>
        <p:nvSpPr>
          <p:cNvPr id="16" name="Shape 14"/>
          <p:cNvSpPr/>
          <p:nvPr/>
        </p:nvSpPr>
        <p:spPr>
          <a:xfrm>
            <a:off x="502920" y="4937760"/>
            <a:ext cx="91440" cy="658368"/>
          </a:xfrm>
          <a:prstGeom prst="rect">
            <a:avLst/>
          </a:prstGeom>
          <a:solidFill>
            <a:srgbClr val="1C3A32"/>
          </a:solidFill>
          <a:ln/>
        </p:spPr>
        <p:txBody>
          <a:bodyPr/>
          <a:lstStyle/>
          <a:p>
            <a:endParaRPr lang="en-US"/>
          </a:p>
        </p:txBody>
      </p:sp>
      <p:sp>
        <p:nvSpPr>
          <p:cNvPr id="17" name="Text 15"/>
          <p:cNvSpPr/>
          <p:nvPr/>
        </p:nvSpPr>
        <p:spPr>
          <a:xfrm>
            <a:off x="822960" y="4937760"/>
            <a:ext cx="3840480" cy="658368"/>
          </a:xfrm>
          <a:prstGeom prst="rect">
            <a:avLst/>
          </a:prstGeom>
          <a:noFill/>
          <a:ln/>
        </p:spPr>
        <p:txBody>
          <a:bodyPr wrap="square" lIns="0" tIns="0" rIns="0" bIns="0" rtlCol="0" anchor="ctr"/>
          <a:lstStyle/>
          <a:p>
            <a:pPr marL="0" indent="0">
              <a:buNone/>
            </a:pPr>
            <a:r>
              <a:rPr lang="en-US" sz="1800" dirty="0">
                <a:solidFill>
                  <a:srgbClr val="1C3A32"/>
                </a:solidFill>
                <a:latin typeface="Georgia" pitchFamily="34" charset="0"/>
                <a:ea typeface="Georgia" pitchFamily="34" charset="-122"/>
                <a:cs typeface="Georgia" pitchFamily="34" charset="-120"/>
              </a:rPr>
              <a:t>The old Squarespace site</a:t>
            </a:r>
            <a:endParaRPr lang="en-US" sz="1800" dirty="0"/>
          </a:p>
        </p:txBody>
      </p:sp>
      <p:sp>
        <p:nvSpPr>
          <p:cNvPr id="18" name="Text 16"/>
          <p:cNvSpPr/>
          <p:nvPr/>
        </p:nvSpPr>
        <p:spPr>
          <a:xfrm>
            <a:off x="4754880" y="4937760"/>
            <a:ext cx="6766560" cy="658368"/>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It comes down when the new site goes up. That is true for both choices.</a:t>
            </a:r>
            <a:endParaRPr lang="en-US" sz="16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marL="0" indent="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marL="0" indent="0" algn="r">
              <a:buNone/>
            </a:pPr>
            <a:r>
              <a:rPr lang="en-US" sz="1100" dirty="0">
                <a:solidFill>
                  <a:srgbClr val="5C6B64"/>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a:effectLst/>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marL="0" indent="0">
              <a:buNone/>
            </a:pPr>
            <a:r>
              <a:rPr lang="en-US" sz="3200" dirty="0">
                <a:solidFill>
                  <a:srgbClr val="1C3A32"/>
                </a:solidFill>
                <a:latin typeface="Georgia" pitchFamily="34" charset="0"/>
                <a:ea typeface="Georgia" pitchFamily="34" charset="-122"/>
                <a:cs typeface="Georgia" pitchFamily="34" charset="-120"/>
              </a:rPr>
              <a:t>Option 1. Tina CMS</a:t>
            </a:r>
            <a:endParaRPr lang="en-US" sz="3200" dirty="0"/>
          </a:p>
        </p:txBody>
      </p:sp>
      <p:sp>
        <p:nvSpPr>
          <p:cNvPr id="3" name="Text 1"/>
          <p:cNvSpPr/>
          <p:nvPr/>
        </p:nvSpPr>
        <p:spPr>
          <a:xfrm>
            <a:off x="502920" y="868680"/>
            <a:ext cx="10972800" cy="365760"/>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Content Management System means a screen for the words. The office sees the page while they type.</a:t>
            </a:r>
            <a:endParaRPr lang="en-US" sz="1600" dirty="0"/>
          </a:p>
        </p:txBody>
      </p:sp>
      <p:sp>
        <p:nvSpPr>
          <p:cNvPr id="4" name="Shape 2"/>
          <p:cNvSpPr/>
          <p:nvPr/>
        </p:nvSpPr>
        <p:spPr>
          <a:xfrm>
            <a:off x="502920" y="1417320"/>
            <a:ext cx="11155680" cy="841248"/>
          </a:xfrm>
          <a:prstGeom prst="rect">
            <a:avLst/>
          </a:prstGeom>
          <a:solidFill>
            <a:srgbClr val="FFFFFF"/>
          </a:solidFill>
          <a:ln/>
        </p:spPr>
        <p:txBody>
          <a:bodyPr/>
          <a:lstStyle/>
          <a:p>
            <a:endParaRPr lang="en-US"/>
          </a:p>
        </p:txBody>
      </p:sp>
      <p:sp>
        <p:nvSpPr>
          <p:cNvPr id="5" name="Text 3"/>
          <p:cNvSpPr/>
          <p:nvPr/>
        </p:nvSpPr>
        <p:spPr>
          <a:xfrm>
            <a:off x="731520" y="1527048"/>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the office does</a:t>
            </a:r>
            <a:endParaRPr lang="en-US" sz="1600" dirty="0"/>
          </a:p>
        </p:txBody>
      </p:sp>
      <p:sp>
        <p:nvSpPr>
          <p:cNvPr id="6" name="Text 4"/>
          <p:cNvSpPr/>
          <p:nvPr/>
        </p:nvSpPr>
        <p:spPr>
          <a:xfrm>
            <a:off x="3840480" y="1527048"/>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They open Tina CMS, click the words on the page, type the new words, and save.</a:t>
            </a:r>
            <a:endParaRPr lang="en-US" sz="1500" dirty="0"/>
          </a:p>
        </p:txBody>
      </p:sp>
      <p:sp>
        <p:nvSpPr>
          <p:cNvPr id="7" name="Shape 5"/>
          <p:cNvSpPr/>
          <p:nvPr/>
        </p:nvSpPr>
        <p:spPr>
          <a:xfrm>
            <a:off x="502920" y="2350008"/>
            <a:ext cx="11155680" cy="841248"/>
          </a:xfrm>
          <a:prstGeom prst="rect">
            <a:avLst/>
          </a:prstGeom>
          <a:solidFill>
            <a:srgbClr val="FFFFFF"/>
          </a:solidFill>
          <a:ln/>
        </p:spPr>
        <p:txBody>
          <a:bodyPr/>
          <a:lstStyle/>
          <a:p>
            <a:endParaRPr lang="en-US"/>
          </a:p>
        </p:txBody>
      </p:sp>
      <p:sp>
        <p:nvSpPr>
          <p:cNvPr id="8" name="Text 6"/>
          <p:cNvSpPr/>
          <p:nvPr/>
        </p:nvSpPr>
        <p:spPr>
          <a:xfrm>
            <a:off x="731520" y="2459736"/>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they can change</a:t>
            </a:r>
            <a:endParaRPr lang="en-US" sz="1600" dirty="0"/>
          </a:p>
        </p:txBody>
      </p:sp>
      <p:sp>
        <p:nvSpPr>
          <p:cNvPr id="9" name="Text 7"/>
          <p:cNvSpPr/>
          <p:nvPr/>
        </p:nvSpPr>
        <p:spPr>
          <a:xfrm>
            <a:off x="3840480" y="2459736"/>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Service times, the bulletin, ministry pages, the address, and this week’s message title.</a:t>
            </a:r>
            <a:endParaRPr lang="en-US" sz="1500" dirty="0"/>
          </a:p>
        </p:txBody>
      </p:sp>
      <p:sp>
        <p:nvSpPr>
          <p:cNvPr id="10" name="Shape 8"/>
          <p:cNvSpPr/>
          <p:nvPr/>
        </p:nvSpPr>
        <p:spPr>
          <a:xfrm>
            <a:off x="502920" y="3282696"/>
            <a:ext cx="11155680" cy="841248"/>
          </a:xfrm>
          <a:prstGeom prst="rect">
            <a:avLst/>
          </a:prstGeom>
          <a:solidFill>
            <a:srgbClr val="FFFFFF"/>
          </a:solidFill>
          <a:ln/>
        </p:spPr>
        <p:txBody>
          <a:bodyPr/>
          <a:lstStyle/>
          <a:p>
            <a:endParaRPr lang="en-US"/>
          </a:p>
        </p:txBody>
      </p:sp>
      <p:sp>
        <p:nvSpPr>
          <p:cNvPr id="11" name="Text 9"/>
          <p:cNvSpPr/>
          <p:nvPr/>
        </p:nvSpPr>
        <p:spPr>
          <a:xfrm>
            <a:off x="731520" y="3392424"/>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they leave alone</a:t>
            </a:r>
            <a:endParaRPr lang="en-US" sz="1600" dirty="0"/>
          </a:p>
        </p:txBody>
      </p:sp>
      <p:sp>
        <p:nvSpPr>
          <p:cNvPr id="12" name="Text 10"/>
          <p:cNvSpPr/>
          <p:nvPr/>
        </p:nvSpPr>
        <p:spPr>
          <a:xfrm>
            <a:off x="3840480" y="3392424"/>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Sermon videos, the app, and giving. Those stay in Subsplash.</a:t>
            </a:r>
            <a:endParaRPr lang="en-US" sz="1500" dirty="0"/>
          </a:p>
        </p:txBody>
      </p:sp>
      <p:sp>
        <p:nvSpPr>
          <p:cNvPr id="13" name="Shape 11"/>
          <p:cNvSpPr/>
          <p:nvPr/>
        </p:nvSpPr>
        <p:spPr>
          <a:xfrm>
            <a:off x="502920" y="4215384"/>
            <a:ext cx="11155680" cy="841248"/>
          </a:xfrm>
          <a:prstGeom prst="rect">
            <a:avLst/>
          </a:prstGeom>
          <a:solidFill>
            <a:srgbClr val="FFFFFF"/>
          </a:solidFill>
          <a:ln/>
        </p:spPr>
        <p:txBody>
          <a:bodyPr/>
          <a:lstStyle/>
          <a:p>
            <a:endParaRPr lang="en-US"/>
          </a:p>
        </p:txBody>
      </p:sp>
      <p:sp>
        <p:nvSpPr>
          <p:cNvPr id="14" name="Text 12"/>
          <p:cNvSpPr/>
          <p:nvPr/>
        </p:nvSpPr>
        <p:spPr>
          <a:xfrm>
            <a:off x="731520" y="4325112"/>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we keep</a:t>
            </a:r>
            <a:endParaRPr lang="en-US" sz="1600" dirty="0"/>
          </a:p>
        </p:txBody>
      </p:sp>
      <p:sp>
        <p:nvSpPr>
          <p:cNvPr id="15" name="Text 13"/>
          <p:cNvSpPr/>
          <p:nvPr/>
        </p:nvSpPr>
        <p:spPr>
          <a:xfrm>
            <a:off x="3840480" y="4325112"/>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The look of the new site you have already seen. Home, Visit, and the ministry pages.</a:t>
            </a:r>
            <a:endParaRPr lang="en-US" sz="1500" dirty="0"/>
          </a:p>
        </p:txBody>
      </p:sp>
      <p:sp>
        <p:nvSpPr>
          <p:cNvPr id="16" name="Shape 14"/>
          <p:cNvSpPr/>
          <p:nvPr/>
        </p:nvSpPr>
        <p:spPr>
          <a:xfrm>
            <a:off x="502920" y="5148072"/>
            <a:ext cx="11155680" cy="841248"/>
          </a:xfrm>
          <a:prstGeom prst="rect">
            <a:avLst/>
          </a:prstGeom>
          <a:solidFill>
            <a:srgbClr val="FFFFFF"/>
          </a:solidFill>
          <a:ln/>
        </p:spPr>
        <p:txBody>
          <a:bodyPr/>
          <a:lstStyle/>
          <a:p>
            <a:endParaRPr lang="en-US"/>
          </a:p>
        </p:txBody>
      </p:sp>
      <p:sp>
        <p:nvSpPr>
          <p:cNvPr id="17" name="Text 15"/>
          <p:cNvSpPr/>
          <p:nvPr/>
        </p:nvSpPr>
        <p:spPr>
          <a:xfrm>
            <a:off x="731520" y="5257800"/>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The tradeoff</a:t>
            </a:r>
            <a:endParaRPr lang="en-US" sz="1600" dirty="0"/>
          </a:p>
        </p:txBody>
      </p:sp>
      <p:sp>
        <p:nvSpPr>
          <p:cNvPr id="18" name="Text 16"/>
          <p:cNvSpPr/>
          <p:nvPr/>
        </p:nvSpPr>
        <p:spPr>
          <a:xfrm>
            <a:off x="3840480" y="5257800"/>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Two logins. The website is Tina CMS. Sermons, giving, and the app are Subsplash. The Watch button still plays the sermon from Subsplash.</a:t>
            </a:r>
            <a:endParaRPr lang="en-US" sz="15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marL="0" indent="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marL="0" indent="0" algn="r">
              <a:buNone/>
            </a:pPr>
            <a:r>
              <a:rPr lang="en-US" sz="1100" dirty="0">
                <a:solidFill>
                  <a:srgbClr val="5C6B64"/>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1E7"/>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1155680" cy="384048"/>
          </a:xfrm>
          <a:prstGeom prst="rect">
            <a:avLst/>
          </a:prstGeom>
          <a:noFill/>
        </p:spPr>
        <p:txBody>
          <a:bodyPr wrap="none">
            <a:spAutoFit/>
          </a:bodyPr>
          <a:lstStyle/>
          <a:p>
            <a:r>
              <a:rPr sz="2800" b="0">
                <a:solidFill>
                  <a:srgbClr val="1C3A32"/>
                </a:solidFill>
                <a:latin typeface="Georgia"/>
              </a:rPr>
              <a:t>What Tina CMS looks like</a:t>
            </a:r>
          </a:p>
        </p:txBody>
      </p:sp>
      <p:sp>
        <p:nvSpPr>
          <p:cNvPr id="3" name="TextBox 2"/>
          <p:cNvSpPr txBox="1"/>
          <p:nvPr/>
        </p:nvSpPr>
        <p:spPr>
          <a:xfrm>
            <a:off x="502920" y="658368"/>
            <a:ext cx="11155680" cy="329184"/>
          </a:xfrm>
          <a:prstGeom prst="rect">
            <a:avLst/>
          </a:prstGeom>
          <a:noFill/>
        </p:spPr>
        <p:txBody>
          <a:bodyPr wrap="none">
            <a:spAutoFit/>
          </a:bodyPr>
          <a:lstStyle/>
          <a:p>
            <a:r>
              <a:rPr sz="1500">
                <a:solidFill>
                  <a:srgbClr val="1E2A26"/>
                </a:solidFill>
                <a:latin typeface="Calibri"/>
              </a:rPr>
              <a:t>The real homepage is on the right. The boxes on the left are the words. Click the big headline, type, and the page changes.</a:t>
            </a:r>
          </a:p>
        </p:txBody>
      </p:sp>
      <p:pic>
        <p:nvPicPr>
          <p:cNvPr id="4" name="Picture 3" descr="tina-editor-home.png"/>
          <p:cNvPicPr>
            <a:picLocks noChangeAspect="1"/>
          </p:cNvPicPr>
          <p:nvPr/>
        </p:nvPicPr>
        <p:blipFill>
          <a:blip r:embed="rId2"/>
          <a:stretch>
            <a:fillRect/>
          </a:stretch>
        </p:blipFill>
        <p:spPr>
          <a:xfrm>
            <a:off x="2036064" y="1051560"/>
            <a:ext cx="8119872" cy="5074920"/>
          </a:xfrm>
          <a:prstGeom prst="rect">
            <a:avLst/>
          </a:prstGeom>
        </p:spPr>
      </p:pic>
      <p:sp>
        <p:nvSpPr>
          <p:cNvPr id="5" name="TextBox 4"/>
          <p:cNvSpPr txBox="1"/>
          <p:nvPr/>
        </p:nvSpPr>
        <p:spPr>
          <a:xfrm>
            <a:off x="502920" y="6510528"/>
            <a:ext cx="9601200" cy="219456"/>
          </a:xfrm>
          <a:prstGeom prst="rect">
            <a:avLst/>
          </a:prstGeom>
          <a:noFill/>
        </p:spPr>
        <p:txBody>
          <a:bodyPr wrap="none">
            <a:spAutoFit/>
          </a:bodyPr>
          <a:lstStyle/>
          <a:p>
            <a:r>
              <a:rPr sz="1100">
                <a:solidFill>
                  <a:srgbClr val="5C6B64"/>
                </a:solidFill>
                <a:latin typeface="Calibri"/>
              </a:rPr>
              <a:t>For Pastor Dave and Pastor Shawn  ·  28 September 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1E7"/>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1155680" cy="384048"/>
          </a:xfrm>
          <a:prstGeom prst="rect">
            <a:avLst/>
          </a:prstGeom>
          <a:noFill/>
        </p:spPr>
        <p:txBody>
          <a:bodyPr wrap="none">
            <a:spAutoFit/>
          </a:bodyPr>
          <a:lstStyle/>
          <a:p>
            <a:r>
              <a:rPr sz="2800" b="0">
                <a:solidFill>
                  <a:srgbClr val="1C3A32"/>
                </a:solidFill>
                <a:latin typeface="Georgia"/>
              </a:rPr>
              <a:t>The words they click</a:t>
            </a:r>
          </a:p>
        </p:txBody>
      </p:sp>
      <p:sp>
        <p:nvSpPr>
          <p:cNvPr id="3" name="TextBox 2"/>
          <p:cNvSpPr txBox="1"/>
          <p:nvPr/>
        </p:nvSpPr>
        <p:spPr>
          <a:xfrm>
            <a:off x="502920" y="658368"/>
            <a:ext cx="11155680" cy="329184"/>
          </a:xfrm>
          <a:prstGeom prst="rect">
            <a:avLst/>
          </a:prstGeom>
          <a:noFill/>
        </p:spPr>
        <p:txBody>
          <a:bodyPr wrap="none">
            <a:spAutoFit/>
          </a:bodyPr>
          <a:lstStyle/>
          <a:p>
            <a:r>
              <a:rPr sz="1500">
                <a:solidFill>
                  <a:srgbClr val="1E2A26"/>
                </a:solidFill>
                <a:latin typeface="Calibri"/>
              </a:rPr>
              <a:t>Headline, vision, phone, and email are ordinary boxes. The dotted line on the picture is the headline they can also click.</a:t>
            </a:r>
          </a:p>
        </p:txBody>
      </p:sp>
      <p:pic>
        <p:nvPicPr>
          <p:cNvPr id="4" name="Picture 3" descr="tina-editor-close.png"/>
          <p:cNvPicPr>
            <a:picLocks noChangeAspect="1"/>
          </p:cNvPicPr>
          <p:nvPr/>
        </p:nvPicPr>
        <p:blipFill>
          <a:blip r:embed="rId2"/>
          <a:stretch>
            <a:fillRect/>
          </a:stretch>
        </p:blipFill>
        <p:spPr>
          <a:xfrm>
            <a:off x="1510229" y="1051560"/>
            <a:ext cx="9171542" cy="5074920"/>
          </a:xfrm>
          <a:prstGeom prst="rect">
            <a:avLst/>
          </a:prstGeom>
        </p:spPr>
      </p:pic>
      <p:sp>
        <p:nvSpPr>
          <p:cNvPr id="5" name="TextBox 4"/>
          <p:cNvSpPr txBox="1"/>
          <p:nvPr/>
        </p:nvSpPr>
        <p:spPr>
          <a:xfrm>
            <a:off x="502920" y="6510528"/>
            <a:ext cx="9601200" cy="219456"/>
          </a:xfrm>
          <a:prstGeom prst="rect">
            <a:avLst/>
          </a:prstGeom>
          <a:noFill/>
        </p:spPr>
        <p:txBody>
          <a:bodyPr wrap="none">
            <a:spAutoFit/>
          </a:bodyPr>
          <a:lstStyle/>
          <a:p>
            <a:r>
              <a:rPr sz="1100">
                <a:solidFill>
                  <a:srgbClr val="5C6B64"/>
                </a:solidFill>
                <a:latin typeface="Calibri"/>
              </a:rPr>
              <a:t>For Pastor Dave and Pastor Shawn  ·  28 September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6F1E7"/>
        </a:solidFill>
        <a:effectLst/>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marL="0" indent="0">
              <a:buNone/>
            </a:pPr>
            <a:r>
              <a:rPr lang="en-US" sz="3200" dirty="0">
                <a:solidFill>
                  <a:srgbClr val="1C3A32"/>
                </a:solidFill>
                <a:latin typeface="Georgia" pitchFamily="34" charset="0"/>
                <a:ea typeface="Georgia" pitchFamily="34" charset="-122"/>
                <a:cs typeface="Georgia" pitchFamily="34" charset="-120"/>
              </a:rPr>
              <a:t>Option 2. SnapPages</a:t>
            </a:r>
            <a:endParaRPr lang="en-US" sz="3200" dirty="0"/>
          </a:p>
        </p:txBody>
      </p:sp>
      <p:sp>
        <p:nvSpPr>
          <p:cNvPr id="3" name="Text 1"/>
          <p:cNvSpPr/>
          <p:nvPr/>
        </p:nvSpPr>
        <p:spPr>
          <a:xfrm>
            <a:off x="502920" y="868680"/>
            <a:ext cx="11155680" cy="411480"/>
          </a:xfrm>
          <a:prstGeom prst="rect">
            <a:avLst/>
          </a:prstGeom>
          <a:noFill/>
          <a:ln/>
        </p:spPr>
        <p:txBody>
          <a:bodyPr wrap="square" lIns="0" tIns="0" rIns="0" bIns="0" rtlCol="0" anchor="ctr"/>
          <a:lstStyle/>
          <a:p>
            <a:pPr marL="0" indent="0">
              <a:buNone/>
            </a:pPr>
            <a:r>
              <a:rPr lang="en-US" sz="1600" dirty="0">
                <a:solidFill>
                  <a:srgbClr val="1E2A26"/>
                </a:solidFill>
                <a:latin typeface="Calibri" pitchFamily="34" charset="0"/>
                <a:ea typeface="Calibri" pitchFamily="34" charset="-122"/>
                <a:cs typeface="Calibri" pitchFamily="34" charset="-120"/>
              </a:rPr>
              <a:t>This is Subsplash’s own website builder. A practice site is already started. A lot of the writing on it is still filler.</a:t>
            </a:r>
            <a:endParaRPr lang="en-US" sz="1600" dirty="0"/>
          </a:p>
        </p:txBody>
      </p:sp>
      <p:sp>
        <p:nvSpPr>
          <p:cNvPr id="4" name="Shape 2"/>
          <p:cNvSpPr/>
          <p:nvPr/>
        </p:nvSpPr>
        <p:spPr>
          <a:xfrm>
            <a:off x="502920" y="1417320"/>
            <a:ext cx="11155680" cy="841248"/>
          </a:xfrm>
          <a:prstGeom prst="rect">
            <a:avLst/>
          </a:prstGeom>
          <a:solidFill>
            <a:srgbClr val="FFFFFF"/>
          </a:solidFill>
          <a:ln/>
        </p:spPr>
        <p:txBody>
          <a:bodyPr/>
          <a:lstStyle/>
          <a:p>
            <a:endParaRPr lang="en-US"/>
          </a:p>
        </p:txBody>
      </p:sp>
      <p:sp>
        <p:nvSpPr>
          <p:cNvPr id="5" name="Text 3"/>
          <p:cNvSpPr/>
          <p:nvPr/>
        </p:nvSpPr>
        <p:spPr>
          <a:xfrm>
            <a:off x="731520" y="1527048"/>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the office does</a:t>
            </a:r>
            <a:endParaRPr lang="en-US" sz="1600" dirty="0"/>
          </a:p>
        </p:txBody>
      </p:sp>
      <p:sp>
        <p:nvSpPr>
          <p:cNvPr id="6" name="Text 4"/>
          <p:cNvSpPr/>
          <p:nvPr/>
        </p:nvSpPr>
        <p:spPr>
          <a:xfrm>
            <a:off x="3840480" y="1527048"/>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They log into Subsplash and change the words on the page. One login covers the website, the app, and giving.</a:t>
            </a:r>
            <a:endParaRPr lang="en-US" sz="1500" dirty="0"/>
          </a:p>
        </p:txBody>
      </p:sp>
      <p:sp>
        <p:nvSpPr>
          <p:cNvPr id="7" name="Shape 5"/>
          <p:cNvSpPr/>
          <p:nvPr/>
        </p:nvSpPr>
        <p:spPr>
          <a:xfrm>
            <a:off x="502920" y="2350008"/>
            <a:ext cx="11155680" cy="841248"/>
          </a:xfrm>
          <a:prstGeom prst="rect">
            <a:avLst/>
          </a:prstGeom>
          <a:solidFill>
            <a:srgbClr val="FFFFFF"/>
          </a:solidFill>
          <a:ln/>
        </p:spPr>
        <p:txBody>
          <a:bodyPr/>
          <a:lstStyle/>
          <a:p>
            <a:endParaRPr lang="en-US"/>
          </a:p>
        </p:txBody>
      </p:sp>
      <p:sp>
        <p:nvSpPr>
          <p:cNvPr id="8" name="Text 6"/>
          <p:cNvSpPr/>
          <p:nvPr/>
        </p:nvSpPr>
        <p:spPr>
          <a:xfrm>
            <a:off x="731520" y="2459736"/>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they can change</a:t>
            </a:r>
            <a:endParaRPr lang="en-US" sz="1600" dirty="0"/>
          </a:p>
        </p:txBody>
      </p:sp>
      <p:sp>
        <p:nvSpPr>
          <p:cNvPr id="9" name="Text 7"/>
          <p:cNvSpPr/>
          <p:nvPr/>
        </p:nvSpPr>
        <p:spPr>
          <a:xfrm>
            <a:off x="3840480" y="2459736"/>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Words, photos, and sections, inside Subsplash’s design.</a:t>
            </a:r>
            <a:endParaRPr lang="en-US" sz="1500" dirty="0"/>
          </a:p>
        </p:txBody>
      </p:sp>
      <p:sp>
        <p:nvSpPr>
          <p:cNvPr id="10" name="Shape 8"/>
          <p:cNvSpPr/>
          <p:nvPr/>
        </p:nvSpPr>
        <p:spPr>
          <a:xfrm>
            <a:off x="502920" y="3282696"/>
            <a:ext cx="11155680" cy="841248"/>
          </a:xfrm>
          <a:prstGeom prst="rect">
            <a:avLst/>
          </a:prstGeom>
          <a:solidFill>
            <a:srgbClr val="FFFFFF"/>
          </a:solidFill>
          <a:ln/>
        </p:spPr>
        <p:txBody>
          <a:bodyPr/>
          <a:lstStyle/>
          <a:p>
            <a:endParaRPr lang="en-US"/>
          </a:p>
        </p:txBody>
      </p:sp>
      <p:sp>
        <p:nvSpPr>
          <p:cNvPr id="11" name="Text 9"/>
          <p:cNvSpPr/>
          <p:nvPr/>
        </p:nvSpPr>
        <p:spPr>
          <a:xfrm>
            <a:off x="731520" y="3392424"/>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we would rebuild</a:t>
            </a:r>
            <a:endParaRPr lang="en-US" sz="1600" dirty="0"/>
          </a:p>
        </p:txBody>
      </p:sp>
      <p:sp>
        <p:nvSpPr>
          <p:cNvPr id="12" name="Text 10"/>
          <p:cNvSpPr/>
          <p:nvPr/>
        </p:nvSpPr>
        <p:spPr>
          <a:xfrm>
            <a:off x="3840480" y="3392424"/>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Home, Visit, the ministry pages, the sermons page, and the giving page. We cannot move the new site over. We build it again.</a:t>
            </a:r>
            <a:endParaRPr lang="en-US" sz="1500" dirty="0"/>
          </a:p>
        </p:txBody>
      </p:sp>
      <p:sp>
        <p:nvSpPr>
          <p:cNvPr id="13" name="Shape 11"/>
          <p:cNvSpPr/>
          <p:nvPr/>
        </p:nvSpPr>
        <p:spPr>
          <a:xfrm>
            <a:off x="502920" y="4215384"/>
            <a:ext cx="11155680" cy="841248"/>
          </a:xfrm>
          <a:prstGeom prst="rect">
            <a:avLst/>
          </a:prstGeom>
          <a:solidFill>
            <a:srgbClr val="FFFFFF"/>
          </a:solidFill>
          <a:ln/>
        </p:spPr>
        <p:txBody>
          <a:bodyPr/>
          <a:lstStyle/>
          <a:p>
            <a:endParaRPr lang="en-US"/>
          </a:p>
        </p:txBody>
      </p:sp>
      <p:sp>
        <p:nvSpPr>
          <p:cNvPr id="14" name="Text 12"/>
          <p:cNvSpPr/>
          <p:nvPr/>
        </p:nvSpPr>
        <p:spPr>
          <a:xfrm>
            <a:off x="731520" y="4325112"/>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What we would give up</a:t>
            </a:r>
            <a:endParaRPr lang="en-US" sz="1600" dirty="0"/>
          </a:p>
        </p:txBody>
      </p:sp>
      <p:sp>
        <p:nvSpPr>
          <p:cNvPr id="15" name="Text 13"/>
          <p:cNvSpPr/>
          <p:nvPr/>
        </p:nvSpPr>
        <p:spPr>
          <a:xfrm>
            <a:off x="3840480" y="4325112"/>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The exact look of the new site. Subsplash sets the layout. We can change colors and words. We cannot freely redesign the page.</a:t>
            </a:r>
            <a:endParaRPr lang="en-US" sz="1500" dirty="0"/>
          </a:p>
        </p:txBody>
      </p:sp>
      <p:sp>
        <p:nvSpPr>
          <p:cNvPr id="16" name="Shape 14"/>
          <p:cNvSpPr/>
          <p:nvPr/>
        </p:nvSpPr>
        <p:spPr>
          <a:xfrm>
            <a:off x="502920" y="5148072"/>
            <a:ext cx="11155680" cy="841248"/>
          </a:xfrm>
          <a:prstGeom prst="rect">
            <a:avLst/>
          </a:prstGeom>
          <a:solidFill>
            <a:srgbClr val="FFFFFF"/>
          </a:solidFill>
          <a:ln/>
        </p:spPr>
        <p:txBody>
          <a:bodyPr/>
          <a:lstStyle/>
          <a:p>
            <a:endParaRPr lang="en-US"/>
          </a:p>
        </p:txBody>
      </p:sp>
      <p:sp>
        <p:nvSpPr>
          <p:cNvPr id="17" name="Text 15"/>
          <p:cNvSpPr/>
          <p:nvPr/>
        </p:nvSpPr>
        <p:spPr>
          <a:xfrm>
            <a:off x="731520" y="5257800"/>
            <a:ext cx="3017520" cy="621792"/>
          </a:xfrm>
          <a:prstGeom prst="rect">
            <a:avLst/>
          </a:prstGeom>
          <a:noFill/>
          <a:ln/>
        </p:spPr>
        <p:txBody>
          <a:bodyPr wrap="square" lIns="0" tIns="0" rIns="0" bIns="0" rtlCol="0" anchor="ctr"/>
          <a:lstStyle/>
          <a:p>
            <a:pPr marL="0" indent="0">
              <a:buNone/>
            </a:pPr>
            <a:r>
              <a:rPr lang="en-US" sz="1600" dirty="0">
                <a:solidFill>
                  <a:srgbClr val="1C3A32"/>
                </a:solidFill>
                <a:latin typeface="Georgia" pitchFamily="34" charset="0"/>
                <a:ea typeface="Georgia" pitchFamily="34" charset="-122"/>
                <a:cs typeface="Georgia" pitchFamily="34" charset="-120"/>
              </a:rPr>
              <a:t>The tradeoff</a:t>
            </a:r>
            <a:endParaRPr lang="en-US" sz="1600" dirty="0"/>
          </a:p>
        </p:txBody>
      </p:sp>
      <p:sp>
        <p:nvSpPr>
          <p:cNvPr id="18" name="Text 16"/>
          <p:cNvSpPr/>
          <p:nvPr/>
        </p:nvSpPr>
        <p:spPr>
          <a:xfrm>
            <a:off x="3840480" y="5257800"/>
            <a:ext cx="7498080" cy="621792"/>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Easier if the office wants one church login. The finished site will look like a Subsplash site, not the one already designed.</a:t>
            </a:r>
            <a:endParaRPr lang="en-US" sz="15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marL="0" indent="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marL="0" indent="0" algn="r">
              <a:buNone/>
            </a:pPr>
            <a:r>
              <a:rPr lang="en-US" sz="1100" dirty="0">
                <a:solidFill>
                  <a:srgbClr val="5C6B64"/>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6F1E7"/>
        </a:solidFill>
        <a:effectLst/>
      </p:bgPr>
    </p:bg>
    <p:spTree>
      <p:nvGrpSpPr>
        <p:cNvPr id="1" name=""/>
        <p:cNvGrpSpPr/>
        <p:nvPr/>
      </p:nvGrpSpPr>
      <p:grpSpPr>
        <a:xfrm>
          <a:off x="0" y="0"/>
          <a:ext cx="0" cy="0"/>
          <a:chOff x="0" y="0"/>
          <a:chExt cx="0" cy="0"/>
        </a:xfrm>
      </p:grpSpPr>
      <p:sp>
        <p:nvSpPr>
          <p:cNvPr id="2" name="Text 0"/>
          <p:cNvSpPr/>
          <p:nvPr/>
        </p:nvSpPr>
        <p:spPr>
          <a:xfrm>
            <a:off x="502920" y="292608"/>
            <a:ext cx="10972800" cy="420624"/>
          </a:xfrm>
          <a:prstGeom prst="rect">
            <a:avLst/>
          </a:prstGeom>
          <a:noFill/>
          <a:ln/>
        </p:spPr>
        <p:txBody>
          <a:bodyPr wrap="square" lIns="0" tIns="0" rIns="0" bIns="0" rtlCol="0" anchor="ctr"/>
          <a:lstStyle/>
          <a:p>
            <a:pPr marL="0" indent="0">
              <a:buNone/>
            </a:pPr>
            <a:r>
              <a:rPr lang="en-US" sz="3000" dirty="0">
                <a:solidFill>
                  <a:srgbClr val="1C3A32"/>
                </a:solidFill>
                <a:latin typeface="Georgia" pitchFamily="34" charset="0"/>
                <a:ea typeface="Georgia" pitchFamily="34" charset="-122"/>
                <a:cs typeface="Georgia" pitchFamily="34" charset="-120"/>
              </a:rPr>
              <a:t>What this costs</a:t>
            </a:r>
            <a:endParaRPr lang="en-US" sz="3000" dirty="0"/>
          </a:p>
        </p:txBody>
      </p:sp>
      <p:sp>
        <p:nvSpPr>
          <p:cNvPr id="3" name="Text 1"/>
          <p:cNvSpPr/>
          <p:nvPr/>
        </p:nvSpPr>
        <p:spPr>
          <a:xfrm>
            <a:off x="502920" y="768096"/>
            <a:ext cx="10972800" cy="292608"/>
          </a:xfrm>
          <a:prstGeom prst="rect">
            <a:avLst/>
          </a:prstGeom>
          <a:noFill/>
          <a:ln/>
        </p:spPr>
        <p:txBody>
          <a:bodyPr wrap="square" lIns="0" tIns="0" rIns="0" bIns="0" rtlCol="0" anchor="ctr"/>
          <a:lstStyle/>
          <a:p>
            <a:pPr marL="0" indent="0">
              <a:buNone/>
            </a:pPr>
            <a:r>
              <a:rPr lang="en-US" sz="1500" dirty="0">
                <a:solidFill>
                  <a:srgbClr val="1E2A26"/>
                </a:solidFill>
                <a:latin typeface="Calibri" pitchFamily="34" charset="0"/>
                <a:ea typeface="Calibri" pitchFamily="34" charset="-122"/>
                <a:cs typeface="Calibri" pitchFamily="34" charset="-120"/>
              </a:rPr>
              <a:t>The Subsplash bill for the app, giving, and sermons stays either way. This table is only the website.</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38560" cy="4983480"/>
        </p:xfrm>
        <a:graphic>
          <a:graphicData uri="http://schemas.openxmlformats.org/drawingml/2006/table">
            <a:tbl>
              <a:tblPr/>
              <a:tblGrid>
                <a:gridCol w="210312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830580">
                <a:tc>
                  <a:txBody>
                    <a:bodyPr/>
                    <a:lstStyle/>
                    <a:p>
                      <a:pPr marL="0" indent="0" algn="l">
                        <a:buNone/>
                      </a:pPr>
                      <a:r>
                        <a:rPr lang="en-US" sz="1300" b="1" dirty="0">
                          <a:solidFill>
                            <a:srgbClr val="F6F1E7"/>
                          </a:solidFill>
                          <a:latin typeface="Calibri" pitchFamily="34" charset="0"/>
                          <a:ea typeface="Calibri" pitchFamily="34" charset="-122"/>
                          <a:cs typeface="Calibri" pitchFamily="34" charset="-120"/>
                        </a:rPr>
                        <a:t>Website cost</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c>
                  <a:txBody>
                    <a:bodyPr/>
                    <a:lstStyle/>
                    <a:p>
                      <a:pPr marL="0" indent="0" algn="l">
                        <a:buNone/>
                      </a:pPr>
                      <a:r>
                        <a:rPr lang="en-US" sz="1300" b="1" dirty="0">
                          <a:solidFill>
                            <a:srgbClr val="F6F1E7"/>
                          </a:solidFill>
                          <a:latin typeface="Calibri" pitchFamily="34" charset="0"/>
                          <a:ea typeface="Calibri" pitchFamily="34" charset="-122"/>
                          <a:cs typeface="Calibri" pitchFamily="34" charset="-120"/>
                        </a:rPr>
                        <a:t>Option 1  ·  Tina CMS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c>
                  <a:txBody>
                    <a:bodyPr/>
                    <a:lstStyle/>
                    <a:p>
                      <a:pPr marL="0" indent="0" algn="l">
                        <a:buNone/>
                      </a:pPr>
                      <a:r>
                        <a:rPr lang="en-US" sz="1300" b="1" dirty="0">
                          <a:solidFill>
                            <a:srgbClr val="F6F1E7"/>
                          </a:solidFill>
                          <a:latin typeface="Calibri" pitchFamily="34" charset="0"/>
                          <a:ea typeface="Calibri" pitchFamily="34" charset="-122"/>
                          <a:cs typeface="Calibri" pitchFamily="34" charset="-120"/>
                        </a:rPr>
                        <a:t>Option 2  ·  SnapPages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extLst>
                  <a:ext uri="{0D108BD9-81ED-4DB2-BD59-A6C34878D82A}">
                    <a16:rowId xmlns:a16="http://schemas.microsoft.com/office/drawing/2014/main" val="10000"/>
                  </a:ext>
                </a:extLst>
              </a:tr>
              <a:tr h="83058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The editing tool</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Free for two people. A third person is not included.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No extra charge. It uses the Subsplash website tools we already have.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3058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Where it lives online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The sample site is already hosted. Plan on $0 extra, or about $20 a month if a paid hosting seat is needed.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Included. Subsplash hosts the site.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extLst>
                  <a:ext uri="{0D108BD9-81ED-4DB2-BD59-A6C34878D82A}">
                    <a16:rowId xmlns:a16="http://schemas.microsoft.com/office/drawing/2014/main" val="10002"/>
                  </a:ext>
                </a:extLst>
              </a:tr>
              <a:tr h="83058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Building the pages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The site is already built. We finish the editor and show the office how to use it.</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Every page is built again by hand. That is people’s time, not a monthly fee.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3058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Is the price public?</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Yes. Free for two people. Checked 28 September 2026.</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Subsplash does not list a public price. Check our current bill before assuming a new charge.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extLst>
                  <a:ext uri="{0D108BD9-81ED-4DB2-BD59-A6C34878D82A}">
                    <a16:rowId xmlns:a16="http://schemas.microsoft.com/office/drawing/2014/main" val="10004"/>
                  </a:ext>
                </a:extLst>
              </a:tr>
              <a:tr h="83058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Cost this year</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$0 for Tina CMS. Hosting is $0, or up to about $240 for the year if a paid seat is needed.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$0 in new software if our plan already includes the website. The cost is the time to rebuild.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p:nvPr/>
        </p:nvSpPr>
        <p:spPr>
          <a:xfrm>
            <a:off x="502920" y="6510528"/>
            <a:ext cx="9326880" cy="219456"/>
          </a:xfrm>
          <a:prstGeom prst="rect">
            <a:avLst/>
          </a:prstGeom>
          <a:noFill/>
          <a:ln/>
        </p:spPr>
        <p:txBody>
          <a:bodyPr wrap="square" lIns="0" tIns="0" rIns="0" bIns="0" rtlCol="0" anchor="ctr"/>
          <a:lstStyle/>
          <a:p>
            <a:pPr marL="0" indent="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6" name="Text 3"/>
          <p:cNvSpPr/>
          <p:nvPr/>
        </p:nvSpPr>
        <p:spPr>
          <a:xfrm>
            <a:off x="11155680" y="6510528"/>
            <a:ext cx="502920" cy="219456"/>
          </a:xfrm>
          <a:prstGeom prst="rect">
            <a:avLst/>
          </a:prstGeom>
          <a:noFill/>
          <a:ln/>
        </p:spPr>
        <p:txBody>
          <a:bodyPr wrap="square" lIns="0" tIns="0" rIns="0" bIns="0" rtlCol="0" anchor="ctr"/>
          <a:lstStyle/>
          <a:p>
            <a:pPr marL="0" indent="0" algn="r">
              <a:buNone/>
            </a:pPr>
            <a:r>
              <a:rPr lang="en-US" sz="1100" dirty="0">
                <a:solidFill>
                  <a:srgbClr val="5C6B64"/>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6F1E7"/>
        </a:solidFill>
        <a:effectLst/>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marL="0" indent="0">
              <a:buNone/>
            </a:pPr>
            <a:r>
              <a:rPr lang="en-US" sz="3200" dirty="0">
                <a:solidFill>
                  <a:srgbClr val="1C3A32"/>
                </a:solidFill>
                <a:latin typeface="Georgia" pitchFamily="34" charset="0"/>
                <a:ea typeface="Georgia" pitchFamily="34" charset="-122"/>
                <a:cs typeface="Georgia" pitchFamily="34" charset="-120"/>
              </a:rPr>
              <a:t>A normal week at the church</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38560" cy="5029200"/>
        </p:xfrm>
        <a:graphic>
          <a:graphicData uri="http://schemas.openxmlformats.org/drawingml/2006/table">
            <a:tbl>
              <a:tblPr/>
              <a:tblGrid>
                <a:gridCol w="246888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838200">
                <a:tc>
                  <a:txBody>
                    <a:bodyPr/>
                    <a:lstStyle/>
                    <a:p>
                      <a:pPr marL="0" indent="0" algn="l">
                        <a:buNone/>
                      </a:pPr>
                      <a:r>
                        <a:rPr lang="en-US" sz="1400" b="1" dirty="0">
                          <a:solidFill>
                            <a:srgbClr val="F6F1E7"/>
                          </a:solidFill>
                          <a:latin typeface="Calibri" pitchFamily="34" charset="0"/>
                          <a:ea typeface="Calibri" pitchFamily="34" charset="-122"/>
                          <a:cs typeface="Calibri" pitchFamily="34" charset="-120"/>
                        </a:rPr>
                        <a:t>The job</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c>
                  <a:txBody>
                    <a:bodyPr/>
                    <a:lstStyle/>
                    <a:p>
                      <a:pPr marL="0" indent="0" algn="l">
                        <a:buNone/>
                      </a:pPr>
                      <a:r>
                        <a:rPr lang="en-US" sz="1400" b="1" dirty="0">
                          <a:solidFill>
                            <a:srgbClr val="F6F1E7"/>
                          </a:solidFill>
                          <a:latin typeface="Calibri" pitchFamily="34" charset="0"/>
                          <a:ea typeface="Calibri" pitchFamily="34" charset="-122"/>
                          <a:cs typeface="Calibri" pitchFamily="34" charset="-120"/>
                        </a:rPr>
                        <a:t>Tina CMS</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c>
                  <a:txBody>
                    <a:bodyPr/>
                    <a:lstStyle/>
                    <a:p>
                      <a:pPr marL="0" indent="0" algn="l">
                        <a:buNone/>
                      </a:pPr>
                      <a:r>
                        <a:rPr lang="en-US" sz="1400" b="1" dirty="0">
                          <a:solidFill>
                            <a:srgbClr val="F6F1E7"/>
                          </a:solidFill>
                          <a:latin typeface="Calibri" pitchFamily="34" charset="0"/>
                          <a:ea typeface="Calibri" pitchFamily="34" charset="-122"/>
                          <a:cs typeface="Calibri" pitchFamily="34" charset="-120"/>
                        </a:rPr>
                        <a:t>SnapPages</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extLst>
                  <a:ext uri="{0D108BD9-81ED-4DB2-BD59-A6C34878D82A}">
                    <a16:rowId xmlns:a16="http://schemas.microsoft.com/office/drawing/2014/main" val="10000"/>
                  </a:ext>
                </a:extLst>
              </a:tr>
              <a:tr h="83820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Change the Sunday time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Click the time on the homepage. Type the new time. Save.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Open the page in Subsplash and change the words.</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extLst>
                  <a:ext uri="{0D108BD9-81ED-4DB2-BD59-A6C34878D82A}">
                    <a16:rowId xmlns:a16="http://schemas.microsoft.com/office/drawing/2014/main" val="10001"/>
                  </a:ext>
                </a:extLst>
              </a:tr>
              <a:tr h="83820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A new sermon video</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Upload it in Subsplash. Same as today.</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Upload it in Subsplash. Same as today.</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3820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A new bulletin</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We add the PDF. The office links it on the page.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Upload it in Subsplash and link it.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extLst>
                  <a:ext uri="{0D108BD9-81ED-4DB2-BD59-A6C34878D82A}">
                    <a16:rowId xmlns:a16="http://schemas.microsoft.com/office/drawing/2014/main" val="10003"/>
                  </a:ext>
                </a:extLst>
              </a:tr>
              <a:tr h="83820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Update a ministry page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Open that page and edit the words right on it.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Edit that section in Subsplash.</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838200">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Change how Home looks</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That is a design change, not an office edit.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marL="0" indent="0" algn="l">
                        <a:buNone/>
                      </a:pPr>
                      <a:r>
                        <a:rPr lang="en-US" sz="1300" dirty="0">
                          <a:solidFill>
                            <a:srgbClr val="1E2A26"/>
                          </a:solidFill>
                          <a:latin typeface="Calibri" pitchFamily="34" charset="0"/>
                          <a:ea typeface="Calibri" pitchFamily="34" charset="-122"/>
                          <a:cs typeface="Calibri" pitchFamily="34" charset="-120"/>
                        </a:rPr>
                        <a:t>Only as far as Subsplash’s design allows.</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extLst>
                  <a:ext uri="{0D108BD9-81ED-4DB2-BD59-A6C34878D82A}">
                    <a16:rowId xmlns:a16="http://schemas.microsoft.com/office/drawing/2014/main" val="10005"/>
                  </a:ext>
                </a:extLst>
              </a:tr>
            </a:tbl>
          </a:graphicData>
        </a:graphic>
      </p:graphicFrame>
      <p:sp>
        <p:nvSpPr>
          <p:cNvPr id="4" name="Text 1"/>
          <p:cNvSpPr/>
          <p:nvPr/>
        </p:nvSpPr>
        <p:spPr>
          <a:xfrm>
            <a:off x="502920" y="6510528"/>
            <a:ext cx="9326880" cy="219456"/>
          </a:xfrm>
          <a:prstGeom prst="rect">
            <a:avLst/>
          </a:prstGeom>
          <a:noFill/>
          <a:ln/>
        </p:spPr>
        <p:txBody>
          <a:bodyPr wrap="square" lIns="0" tIns="0" rIns="0" bIns="0" rtlCol="0" anchor="ctr"/>
          <a:lstStyle/>
          <a:p>
            <a:pPr marL="0" indent="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5" name="Text 2"/>
          <p:cNvSpPr/>
          <p:nvPr/>
        </p:nvSpPr>
        <p:spPr>
          <a:xfrm>
            <a:off x="11155680" y="6510528"/>
            <a:ext cx="502920" cy="219456"/>
          </a:xfrm>
          <a:prstGeom prst="rect">
            <a:avLst/>
          </a:prstGeom>
          <a:noFill/>
          <a:ln/>
        </p:spPr>
        <p:txBody>
          <a:bodyPr wrap="square" lIns="0" tIns="0" rIns="0" bIns="0" rtlCol="0" anchor="ctr"/>
          <a:lstStyle/>
          <a:p>
            <a:pPr marL="0" indent="0" algn="r">
              <a:buNone/>
            </a:pPr>
            <a:r>
              <a:rPr lang="en-US" sz="1100" dirty="0">
                <a:solidFill>
                  <a:srgbClr val="5C6B64"/>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6F1E7"/>
        </a:solidFill>
        <a:effectLst/>
      </p:bgPr>
    </p:bg>
    <p:spTree>
      <p:nvGrpSpPr>
        <p:cNvPr id="1" name=""/>
        <p:cNvGrpSpPr/>
        <p:nvPr/>
      </p:nvGrpSpPr>
      <p:grpSpPr>
        <a:xfrm>
          <a:off x="0" y="0"/>
          <a:ext cx="0" cy="0"/>
          <a:chOff x="0" y="0"/>
          <a:chExt cx="0" cy="0"/>
        </a:xfrm>
      </p:grpSpPr>
      <p:sp>
        <p:nvSpPr>
          <p:cNvPr id="2" name="Text 0"/>
          <p:cNvSpPr/>
          <p:nvPr/>
        </p:nvSpPr>
        <p:spPr>
          <a:xfrm>
            <a:off x="502920" y="347472"/>
            <a:ext cx="10972800" cy="457200"/>
          </a:xfrm>
          <a:prstGeom prst="rect">
            <a:avLst/>
          </a:prstGeom>
          <a:noFill/>
          <a:ln/>
        </p:spPr>
        <p:txBody>
          <a:bodyPr wrap="square" lIns="0" tIns="0" rIns="0" bIns="0" rtlCol="0" anchor="ctr"/>
          <a:lstStyle/>
          <a:p>
            <a:pPr marL="0" indent="0">
              <a:buNone/>
            </a:pPr>
            <a:r>
              <a:rPr lang="en-US" sz="3200" dirty="0">
                <a:solidFill>
                  <a:srgbClr val="1C3A32"/>
                </a:solidFill>
                <a:latin typeface="Georgia" pitchFamily="34" charset="0"/>
                <a:ea typeface="Georgia" pitchFamily="34" charset="-122"/>
                <a:cs typeface="Georgia" pitchFamily="34" charset="-120"/>
              </a:rPr>
              <a:t>The simple version</a:t>
            </a:r>
            <a:endParaRPr lang="en-US" sz="3200" dirty="0"/>
          </a:p>
        </p:txBody>
      </p:sp>
      <p:sp>
        <p:nvSpPr>
          <p:cNvPr id="3" name="Text 1"/>
          <p:cNvSpPr/>
          <p:nvPr/>
        </p:nvSpPr>
        <p:spPr>
          <a:xfrm>
            <a:off x="502920" y="1005840"/>
            <a:ext cx="3749040" cy="777240"/>
          </a:xfrm>
          <a:prstGeom prst="rect">
            <a:avLst/>
          </a:prstGeom>
          <a:noFill/>
          <a:ln/>
        </p:spPr>
        <p:txBody>
          <a:bodyPr wrap="square" lIns="0" tIns="0" rIns="0" bIns="0" rtlCol="0" anchor="t"/>
          <a:lstStyle/>
          <a:p>
            <a:pPr marL="0" indent="0">
              <a:buNone/>
            </a:pPr>
            <a:r>
              <a:rPr lang="en-US" sz="1600" dirty="0">
                <a:solidFill>
                  <a:srgbClr val="1C3A32"/>
                </a:solidFill>
                <a:latin typeface="Georgia" pitchFamily="34" charset="0"/>
                <a:ea typeface="Georgia" pitchFamily="34" charset="-122"/>
                <a:cs typeface="Georgia" pitchFamily="34" charset="-120"/>
              </a:rPr>
              <a:t>Tina CMS is free for two people.</a:t>
            </a:r>
            <a:endParaRPr lang="en-US" sz="1600" dirty="0"/>
          </a:p>
        </p:txBody>
      </p:sp>
      <p:sp>
        <p:nvSpPr>
          <p:cNvPr id="4" name="Text 2"/>
          <p:cNvSpPr/>
          <p:nvPr/>
        </p:nvSpPr>
        <p:spPr>
          <a:xfrm>
            <a:off x="4389120" y="1005840"/>
            <a:ext cx="7223760" cy="822960"/>
          </a:xfrm>
          <a:prstGeom prst="rect">
            <a:avLst/>
          </a:prstGeom>
          <a:noFill/>
          <a:ln/>
        </p:spPr>
        <p:txBody>
          <a:bodyPr wrap="square" lIns="0" tIns="0" rIns="0" bIns="0" rtlCol="0" anchor="t"/>
          <a:lstStyle/>
          <a:p>
            <a:pPr marL="0" indent="0">
              <a:buNone/>
            </a:pPr>
            <a:r>
              <a:rPr lang="en-US" sz="1500" dirty="0">
                <a:solidFill>
                  <a:srgbClr val="1E2A26"/>
                </a:solidFill>
                <a:latin typeface="Calibri" pitchFamily="34" charset="0"/>
                <a:ea typeface="Calibri" pitchFamily="34" charset="-122"/>
                <a:cs typeface="Calibri" pitchFamily="34" charset="-120"/>
              </a:rPr>
              <a:t>Two staff can each have a login. A third person would cost extra, and we are not planning that.</a:t>
            </a:r>
            <a:endParaRPr lang="en-US" sz="1500" dirty="0"/>
          </a:p>
        </p:txBody>
      </p:sp>
      <p:sp>
        <p:nvSpPr>
          <p:cNvPr id="5" name="Text 3"/>
          <p:cNvSpPr/>
          <p:nvPr/>
        </p:nvSpPr>
        <p:spPr>
          <a:xfrm>
            <a:off x="502920" y="1965960"/>
            <a:ext cx="3749040" cy="777240"/>
          </a:xfrm>
          <a:prstGeom prst="rect">
            <a:avLst/>
          </a:prstGeom>
          <a:noFill/>
          <a:ln/>
        </p:spPr>
        <p:txBody>
          <a:bodyPr wrap="square" lIns="0" tIns="0" rIns="0" bIns="0" rtlCol="0" anchor="t"/>
          <a:lstStyle/>
          <a:p>
            <a:pPr marL="0" indent="0">
              <a:buNone/>
            </a:pPr>
            <a:r>
              <a:rPr lang="en-US" sz="1600" dirty="0">
                <a:solidFill>
                  <a:srgbClr val="1C3A32"/>
                </a:solidFill>
                <a:latin typeface="Georgia" pitchFamily="34" charset="0"/>
                <a:ea typeface="Georgia" pitchFamily="34" charset="-122"/>
                <a:cs typeface="Georgia" pitchFamily="34" charset="-120"/>
              </a:rPr>
              <a:t>SnapPages is already in our account.</a:t>
            </a:r>
            <a:endParaRPr lang="en-US" sz="1600" dirty="0"/>
          </a:p>
        </p:txBody>
      </p:sp>
      <p:sp>
        <p:nvSpPr>
          <p:cNvPr id="6" name="Text 4"/>
          <p:cNvSpPr/>
          <p:nvPr/>
        </p:nvSpPr>
        <p:spPr>
          <a:xfrm>
            <a:off x="4389120" y="1965960"/>
            <a:ext cx="7223760" cy="822960"/>
          </a:xfrm>
          <a:prstGeom prst="rect">
            <a:avLst/>
          </a:prstGeom>
          <a:noFill/>
          <a:ln/>
        </p:spPr>
        <p:txBody>
          <a:bodyPr wrap="square" lIns="0" tIns="0" rIns="0" bIns="0" rtlCol="0" anchor="t"/>
          <a:lstStyle/>
          <a:p>
            <a:pPr marL="0" indent="0">
              <a:buNone/>
            </a:pPr>
            <a:r>
              <a:rPr lang="en-US" sz="1500" dirty="0">
                <a:solidFill>
                  <a:srgbClr val="1E2A26"/>
                </a:solidFill>
                <a:latin typeface="Calibri" pitchFamily="34" charset="0"/>
                <a:ea typeface="Calibri" pitchFamily="34" charset="-122"/>
                <a:cs typeface="Calibri" pitchFamily="34" charset="-120"/>
              </a:rPr>
              <a:t>A practice website is already started in Subsplash. They do not list a public price. Check our bill before adding a new website charge.</a:t>
            </a:r>
            <a:endParaRPr lang="en-US" sz="1500" dirty="0"/>
          </a:p>
        </p:txBody>
      </p:sp>
      <p:sp>
        <p:nvSpPr>
          <p:cNvPr id="7" name="Text 5"/>
          <p:cNvSpPr/>
          <p:nvPr/>
        </p:nvSpPr>
        <p:spPr>
          <a:xfrm>
            <a:off x="502920" y="2926080"/>
            <a:ext cx="3749040" cy="777240"/>
          </a:xfrm>
          <a:prstGeom prst="rect">
            <a:avLst/>
          </a:prstGeom>
          <a:noFill/>
          <a:ln/>
        </p:spPr>
        <p:txBody>
          <a:bodyPr wrap="square" lIns="0" tIns="0" rIns="0" bIns="0" rtlCol="0" anchor="t"/>
          <a:lstStyle/>
          <a:p>
            <a:pPr marL="0" indent="0">
              <a:buNone/>
            </a:pPr>
            <a:r>
              <a:rPr lang="en-US" sz="1600" dirty="0">
                <a:solidFill>
                  <a:srgbClr val="1C3A32"/>
                </a:solidFill>
                <a:latin typeface="Georgia" pitchFamily="34" charset="0"/>
                <a:ea typeface="Georgia" pitchFamily="34" charset="-122"/>
                <a:cs typeface="Georgia" pitchFamily="34" charset="-120"/>
              </a:rPr>
              <a:t>We still pay Subsplash.</a:t>
            </a:r>
            <a:endParaRPr lang="en-US" sz="1600" dirty="0"/>
          </a:p>
        </p:txBody>
      </p:sp>
      <p:sp>
        <p:nvSpPr>
          <p:cNvPr id="8" name="Text 6"/>
          <p:cNvSpPr/>
          <p:nvPr/>
        </p:nvSpPr>
        <p:spPr>
          <a:xfrm>
            <a:off x="4389120" y="2926080"/>
            <a:ext cx="7223760" cy="822960"/>
          </a:xfrm>
          <a:prstGeom prst="rect">
            <a:avLst/>
          </a:prstGeom>
          <a:noFill/>
          <a:ln/>
        </p:spPr>
        <p:txBody>
          <a:bodyPr wrap="square" lIns="0" tIns="0" rIns="0" bIns="0" rtlCol="0" anchor="t"/>
          <a:lstStyle/>
          <a:p>
            <a:pPr marL="0" indent="0">
              <a:buNone/>
            </a:pPr>
            <a:r>
              <a:rPr lang="en-US" sz="1500" dirty="0">
                <a:solidFill>
                  <a:srgbClr val="1E2A26"/>
                </a:solidFill>
                <a:latin typeface="Calibri" pitchFamily="34" charset="0"/>
                <a:ea typeface="Calibri" pitchFamily="34" charset="-122"/>
                <a:cs typeface="Calibri" pitchFamily="34" charset="-120"/>
              </a:rPr>
              <a:t>Choosing Tina CMS does not cancel the app, giving, or sermons. If the website is part of our package, that part of the bill may stay.</a:t>
            </a:r>
            <a:endParaRPr lang="en-US" sz="1500" dirty="0"/>
          </a:p>
        </p:txBody>
      </p:sp>
      <p:sp>
        <p:nvSpPr>
          <p:cNvPr id="9" name="Text 7"/>
          <p:cNvSpPr/>
          <p:nvPr/>
        </p:nvSpPr>
        <p:spPr>
          <a:xfrm>
            <a:off x="502920" y="3886200"/>
            <a:ext cx="3749040" cy="777240"/>
          </a:xfrm>
          <a:prstGeom prst="rect">
            <a:avLst/>
          </a:prstGeom>
          <a:noFill/>
          <a:ln/>
        </p:spPr>
        <p:txBody>
          <a:bodyPr wrap="square" lIns="0" tIns="0" rIns="0" bIns="0" rtlCol="0" anchor="t"/>
          <a:lstStyle/>
          <a:p>
            <a:pPr marL="0" indent="0">
              <a:buNone/>
            </a:pPr>
            <a:r>
              <a:rPr lang="en-US" sz="1600" dirty="0">
                <a:solidFill>
                  <a:srgbClr val="1C3A32"/>
                </a:solidFill>
                <a:latin typeface="Georgia" pitchFamily="34" charset="0"/>
                <a:ea typeface="Georgia" pitchFamily="34" charset="-122"/>
                <a:cs typeface="Georgia" pitchFamily="34" charset="-120"/>
              </a:rPr>
              <a:t>Giving fees stay the same.</a:t>
            </a:r>
            <a:endParaRPr lang="en-US" sz="1600" dirty="0"/>
          </a:p>
        </p:txBody>
      </p:sp>
      <p:sp>
        <p:nvSpPr>
          <p:cNvPr id="10" name="Text 8"/>
          <p:cNvSpPr/>
          <p:nvPr/>
        </p:nvSpPr>
        <p:spPr>
          <a:xfrm>
            <a:off x="4389120" y="3886200"/>
            <a:ext cx="7223760" cy="822960"/>
          </a:xfrm>
          <a:prstGeom prst="rect">
            <a:avLst/>
          </a:prstGeom>
          <a:noFill/>
          <a:ln/>
        </p:spPr>
        <p:txBody>
          <a:bodyPr wrap="square" lIns="0" tIns="0" rIns="0" bIns="0" rtlCol="0" anchor="t"/>
          <a:lstStyle/>
          <a:p>
            <a:pPr marL="0" indent="0">
              <a:buNone/>
            </a:pPr>
            <a:r>
              <a:rPr lang="en-US" sz="1500" dirty="0">
                <a:solidFill>
                  <a:srgbClr val="1E2A26"/>
                </a:solidFill>
                <a:latin typeface="Calibri" pitchFamily="34" charset="0"/>
                <a:ea typeface="Calibri" pitchFamily="34" charset="-122"/>
                <a:cs typeface="Calibri" pitchFamily="34" charset="-120"/>
              </a:rPr>
              <a:t>A card gift is 2.3% plus 30 cents. A bank gift is 1%. Both choices keep Subsplash for giving.</a:t>
            </a:r>
            <a:endParaRPr lang="en-US" sz="1500" dirty="0"/>
          </a:p>
        </p:txBody>
      </p:sp>
      <p:sp>
        <p:nvSpPr>
          <p:cNvPr id="11" name="Text 9"/>
          <p:cNvSpPr/>
          <p:nvPr/>
        </p:nvSpPr>
        <p:spPr>
          <a:xfrm>
            <a:off x="502920" y="4846320"/>
            <a:ext cx="3749040" cy="777240"/>
          </a:xfrm>
          <a:prstGeom prst="rect">
            <a:avLst/>
          </a:prstGeom>
          <a:noFill/>
          <a:ln/>
        </p:spPr>
        <p:txBody>
          <a:bodyPr wrap="square" lIns="0" tIns="0" rIns="0" bIns="0" rtlCol="0" anchor="t"/>
          <a:lstStyle/>
          <a:p>
            <a:pPr marL="0" indent="0">
              <a:buNone/>
            </a:pPr>
            <a:r>
              <a:rPr lang="en-US" sz="1600" dirty="0">
                <a:solidFill>
                  <a:srgbClr val="1C3A32"/>
                </a:solidFill>
                <a:latin typeface="Georgia" pitchFamily="34" charset="0"/>
                <a:ea typeface="Georgia" pitchFamily="34" charset="-122"/>
                <a:cs typeface="Georgia" pitchFamily="34" charset="-120"/>
              </a:rPr>
              <a:t>The real choice</a:t>
            </a:r>
            <a:endParaRPr lang="en-US" sz="1600" dirty="0"/>
          </a:p>
        </p:txBody>
      </p:sp>
      <p:sp>
        <p:nvSpPr>
          <p:cNvPr id="12" name="Text 10"/>
          <p:cNvSpPr/>
          <p:nvPr/>
        </p:nvSpPr>
        <p:spPr>
          <a:xfrm>
            <a:off x="4389120" y="4846320"/>
            <a:ext cx="7223760" cy="822960"/>
          </a:xfrm>
          <a:prstGeom prst="rect">
            <a:avLst/>
          </a:prstGeom>
          <a:noFill/>
          <a:ln/>
        </p:spPr>
        <p:txBody>
          <a:bodyPr wrap="square" lIns="0" tIns="0" rIns="0" bIns="0" rtlCol="0" anchor="t"/>
          <a:lstStyle/>
          <a:p>
            <a:pPr marL="0" indent="0">
              <a:buNone/>
            </a:pPr>
            <a:r>
              <a:rPr lang="en-US" sz="1500" dirty="0">
                <a:solidFill>
                  <a:srgbClr val="1E2A26"/>
                </a:solidFill>
                <a:latin typeface="Calibri" pitchFamily="34" charset="0"/>
                <a:ea typeface="Calibri" pitchFamily="34" charset="-122"/>
                <a:cs typeface="Calibri" pitchFamily="34" charset="-120"/>
              </a:rPr>
              <a:t>Option 1 keeps the website we have already designed, at no editor cost for two people. Option 2 rebuilds it inside the Subsplash login the office already knows.</a:t>
            </a:r>
            <a:endParaRPr lang="en-US" sz="1500" dirty="0"/>
          </a:p>
        </p:txBody>
      </p:sp>
      <p:sp>
        <p:nvSpPr>
          <p:cNvPr id="13" name="Text 11"/>
          <p:cNvSpPr/>
          <p:nvPr/>
        </p:nvSpPr>
        <p:spPr>
          <a:xfrm>
            <a:off x="502920" y="6510528"/>
            <a:ext cx="9326880" cy="219456"/>
          </a:xfrm>
          <a:prstGeom prst="rect">
            <a:avLst/>
          </a:prstGeom>
          <a:noFill/>
          <a:ln/>
        </p:spPr>
        <p:txBody>
          <a:bodyPr wrap="square" lIns="0" tIns="0" rIns="0" bIns="0" rtlCol="0" anchor="ctr"/>
          <a:lstStyle/>
          <a:p>
            <a:pPr marL="0" indent="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14" name="Text 12"/>
          <p:cNvSpPr/>
          <p:nvPr/>
        </p:nvSpPr>
        <p:spPr>
          <a:xfrm>
            <a:off x="11155680" y="6510528"/>
            <a:ext cx="502920" cy="219456"/>
          </a:xfrm>
          <a:prstGeom prst="rect">
            <a:avLst/>
          </a:prstGeom>
          <a:noFill/>
          <a:ln/>
        </p:spPr>
        <p:txBody>
          <a:bodyPr wrap="square" lIns="0" tIns="0" rIns="0" bIns="0" rtlCol="0" anchor="ctr"/>
          <a:lstStyle/>
          <a:p>
            <a:pPr marL="0" indent="0" algn="r">
              <a:buNone/>
            </a:pPr>
            <a:r>
              <a:rPr lang="en-US" sz="1100" dirty="0">
                <a:solidFill>
                  <a:srgbClr val="5C6B64"/>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1300</Words>
  <Application>Microsoft Macintosh PowerPoint</Application>
  <PresentationFormat>Widescreen</PresentationFormat>
  <Paragraphs>131</Paragraphs>
  <Slides>10</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the public website should live</dc:title>
  <dc:subject>Tina CMS and SnapPages, September 2026</dc:subject>
  <dc:creator>Calvary Chapel Frederick</dc:creator>
  <cp:lastModifiedBy>Aaron Torrence</cp:lastModifiedBy>
  <cp:revision>3</cp:revision>
  <dcterms:created xsi:type="dcterms:W3CDTF">2026-09-28T17:21:12Z</dcterms:created>
  <dcterms:modified xsi:type="dcterms:W3CDTF">2026-09-28T17:57:38Z</dcterms:modified>
</cp:coreProperties>
</file>