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1" Type="http://schemas.openxmlformats.org/officeDocument/2006/relationships/presProps" Target="presProps.xml"/>
  <Relationship Id="rId12" Type="http://schemas.openxmlformats.org/officeDocument/2006/relationships/viewProps" Target="viewProps.xml"/>
  <Relationship Id="rId13" Type="http://schemas.openxmlformats.org/officeDocument/2006/relationships/theme" Target="theme/theme1.xml"/>
  <Relationship Id="rId14" Type="http://schemas.openxmlformats.org/officeDocument/2006/relationships/tableStyles" Target="tableStyles.xml"/>
</Relationships>

</file>

<file path=ppt/notesMasters/_rels/notesMaster1.xml.rels><?xml version="1.0" encoding="utf-8"?>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1.xml"/>
</Relationships>

</file>

<file path=ppt/slides/_rels/slide2.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2.xml"/>
</Relationships>

</file>

<file path=ppt/slides/_rels/slide3.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3.xml"/>
</Relationships>

</file>

<file path=ppt/slides/_rels/slide4.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4.xml"/>
</Relationships>

</file>

<file path=ppt/slides/_rels/slide5.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5.xml"/>
</Relationships>

</file>

<file path=ppt/slides/_rels/slide6.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6.xml"/>
</Relationships>

</file>

<file path=ppt/slides/_rels/slide7.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7.xml"/>
</Relationships>

</file>

<file path=ppt/slides/_rels/slide8.xml.rels><?xml version="1.0" encoding="utf-8"?>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notesSlide" Target="../notesSlides/notesSlide8.xml"/>
</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82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A68445"/>
          </a:solidFill>
          <a:ln/>
        </p:spPr>
      </p:sp>
      <p:sp>
        <p:nvSpPr>
          <p:cNvPr id="3" name="Text 1"/>
          <p:cNvSpPr/>
          <p:nvPr/>
        </p:nvSpPr>
        <p:spPr>
          <a:xfrm>
            <a:off x="685800" y="1417320"/>
            <a:ext cx="10058400" cy="292608"/>
          </a:xfrm>
          <a:prstGeom prst="rect">
            <a:avLst/>
          </a:prstGeom>
          <a:noFill/>
          <a:ln/>
        </p:spPr>
        <p:txBody>
          <a:bodyPr wrap="square" lIns="0" tIns="0" rIns="0" bIns="0" rtlCol="0" anchor="ctr"/>
          <a:lstStyle/>
          <a:p>
            <a:pPr indent="0" marL="0">
              <a:buNone/>
            </a:pPr>
            <a:r>
              <a:rPr lang="en-US" sz="1400" spc="220" kern="0" dirty="0">
                <a:solidFill>
                  <a:srgbClr val="A68445"/>
                </a:solidFill>
                <a:latin typeface="Calibri" pitchFamily="34" charset="0"/>
                <a:ea typeface="Calibri" pitchFamily="34" charset="-122"/>
                <a:cs typeface="Calibri" pitchFamily="34" charset="-120"/>
              </a:rPr>
              <a:t>CALVARY CHAPEL FREDERICK</a:t>
            </a:r>
            <a:endParaRPr lang="en-US" sz="1400" dirty="0"/>
          </a:p>
        </p:txBody>
      </p:sp>
      <p:sp>
        <p:nvSpPr>
          <p:cNvPr id="4" name="Text 2"/>
          <p:cNvSpPr/>
          <p:nvPr/>
        </p:nvSpPr>
        <p:spPr>
          <a:xfrm>
            <a:off x="685800" y="1874520"/>
            <a:ext cx="10058400" cy="1920240"/>
          </a:xfrm>
          <a:prstGeom prst="rect">
            <a:avLst/>
          </a:prstGeom>
          <a:noFill/>
          <a:ln/>
        </p:spPr>
        <p:txBody>
          <a:bodyPr wrap="square" lIns="0" tIns="0" rIns="0" bIns="0" rtlCol="0" anchor="ctr"/>
          <a:lstStyle/>
          <a:p>
            <a:pPr indent="0" marL="0">
              <a:buNone/>
            </a:pPr>
            <a:r>
              <a:rPr lang="en-US" sz="4800" dirty="0">
                <a:solidFill>
                  <a:srgbClr val="F6F1E7"/>
                </a:solidFill>
                <a:latin typeface="Georgia" pitchFamily="34" charset="0"/>
                <a:ea typeface="Georgia" pitchFamily="34" charset="-122"/>
                <a:cs typeface="Georgia" pitchFamily="34" charset="-120"/>
              </a:rPr>
              <a:t>Where the public website</a:t>
            </a:r>
            <a:endParaRPr lang="en-US" sz="4800" dirty="0"/>
          </a:p>
          <a:p>
            <a:pPr indent="0" marL="0">
              <a:buNone/>
            </a:pPr>
            <a:r>
              <a:rPr lang="en-US" sz="4800" dirty="0">
                <a:solidFill>
                  <a:srgbClr val="F6F1E7"/>
                </a:solidFill>
                <a:latin typeface="Georgia" pitchFamily="34" charset="0"/>
                <a:ea typeface="Georgia" pitchFamily="34" charset="-122"/>
                <a:cs typeface="Georgia" pitchFamily="34" charset="-120"/>
              </a:rPr>
              <a:t>should live</a:t>
            </a:r>
            <a:endParaRPr lang="en-US" sz="4800" dirty="0"/>
          </a:p>
        </p:txBody>
      </p:sp>
      <p:sp>
        <p:nvSpPr>
          <p:cNvPr id="5" name="Text 3"/>
          <p:cNvSpPr/>
          <p:nvPr/>
        </p:nvSpPr>
        <p:spPr>
          <a:xfrm>
            <a:off x="685800" y="4023360"/>
            <a:ext cx="8686800" cy="457200"/>
          </a:xfrm>
          <a:prstGeom prst="rect">
            <a:avLst/>
          </a:prstGeom>
          <a:noFill/>
          <a:ln/>
        </p:spPr>
        <p:txBody>
          <a:bodyPr wrap="square" lIns="0" tIns="0" rIns="0" bIns="0" rtlCol="0" anchor="ctr"/>
          <a:lstStyle/>
          <a:p>
            <a:pPr indent="0" marL="0">
              <a:buNone/>
            </a:pPr>
            <a:r>
              <a:rPr lang="en-US" sz="1800" dirty="0">
                <a:solidFill>
                  <a:srgbClr val="D9D0C2"/>
                </a:solidFill>
                <a:latin typeface="Calibri" pitchFamily="34" charset="0"/>
                <a:ea typeface="Calibri" pitchFamily="34" charset="-122"/>
                <a:cs typeface="Calibri" pitchFamily="34" charset="-120"/>
              </a:rPr>
              <a:t>Two options. The church app, online giving, and sermons stay on Subsplash either way.</a:t>
            </a:r>
            <a:endParaRPr lang="en-US" sz="1800" dirty="0"/>
          </a:p>
        </p:txBody>
      </p:sp>
      <p:sp>
        <p:nvSpPr>
          <p:cNvPr id="6" name="Text 4"/>
          <p:cNvSpPr/>
          <p:nvPr/>
        </p:nvSpPr>
        <p:spPr>
          <a:xfrm>
            <a:off x="685800" y="5989320"/>
            <a:ext cx="7315200" cy="274320"/>
          </a:xfrm>
          <a:prstGeom prst="rect">
            <a:avLst/>
          </a:prstGeom>
          <a:noFill/>
          <a:ln/>
        </p:spPr>
        <p:txBody>
          <a:bodyPr wrap="square" lIns="0" tIns="0" rIns="0" bIns="0" rtlCol="0" anchor="ctr"/>
          <a:lstStyle/>
          <a:p>
            <a:pPr indent="0" marL="0">
              <a:buNone/>
            </a:pPr>
            <a:r>
              <a:rPr lang="en-US" sz="1400" dirty="0">
                <a:solidFill>
                  <a:srgbClr val="A68445"/>
                </a:solidFill>
                <a:latin typeface="Calibri" pitchFamily="34" charset="0"/>
                <a:ea typeface="Calibri" pitchFamily="34" charset="-122"/>
                <a:cs typeface="Calibri" pitchFamily="34" charset="-120"/>
              </a:rPr>
              <a:t>Decision brief  ·  28 September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47472"/>
            <a:ext cx="10972800" cy="502920"/>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The only open question is the front door</a:t>
            </a:r>
            <a:endParaRPr lang="en-US" sz="3200" dirty="0"/>
          </a:p>
        </p:txBody>
      </p:sp>
      <p:sp>
        <p:nvSpPr>
          <p:cNvPr id="3" name="Text 1"/>
          <p:cNvSpPr/>
          <p:nvPr/>
        </p:nvSpPr>
        <p:spPr>
          <a:xfrm>
            <a:off x="502920" y="960120"/>
            <a:ext cx="10972800" cy="41148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calvaryfrederick.com is on Squarespace today. Giving, sermons, podcasts, and the app are already Subsplash. This choice does not move those.</a:t>
            </a:r>
            <a:endParaRPr lang="en-US" sz="1600" dirty="0"/>
          </a:p>
        </p:txBody>
      </p:sp>
      <p:sp>
        <p:nvSpPr>
          <p:cNvPr id="4" name="Shape 2"/>
          <p:cNvSpPr/>
          <p:nvPr/>
        </p:nvSpPr>
        <p:spPr>
          <a:xfrm>
            <a:off x="502920" y="1600200"/>
            <a:ext cx="5394960" cy="4526280"/>
          </a:xfrm>
          <a:prstGeom prst="rect">
            <a:avLst/>
          </a:prstGeom>
          <a:solidFill>
            <a:srgbClr val="FFFFFF"/>
          </a:solidFill>
          <a:ln/>
          <a:effectLst>
            <a:outerShdw sx="100000" sy="100000" kx="0" ky="0" algn="bl" rotWithShape="0" blurRad="177800" dist="38100" dir="8100000">
              <a:srgbClr val="1C3A32">
                <a:alpha val="8000"/>
              </a:srgbClr>
            </a:outerShdw>
          </a:effectLst>
        </p:spPr>
      </p:sp>
      <p:sp>
        <p:nvSpPr>
          <p:cNvPr id="5" name="Shape 3"/>
          <p:cNvSpPr/>
          <p:nvPr/>
        </p:nvSpPr>
        <p:spPr>
          <a:xfrm>
            <a:off x="502920" y="1600200"/>
            <a:ext cx="5394960" cy="109728"/>
          </a:xfrm>
          <a:prstGeom prst="rect">
            <a:avLst/>
          </a:prstGeom>
          <a:solidFill>
            <a:srgbClr val="1C3A32"/>
          </a:solidFill>
          <a:ln/>
        </p:spPr>
      </p:sp>
      <p:sp>
        <p:nvSpPr>
          <p:cNvPr id="6" name="Text 4"/>
          <p:cNvSpPr/>
          <p:nvPr/>
        </p:nvSpPr>
        <p:spPr>
          <a:xfrm>
            <a:off x="777240" y="1874520"/>
            <a:ext cx="4846320" cy="256032"/>
          </a:xfrm>
          <a:prstGeom prst="rect">
            <a:avLst/>
          </a:prstGeom>
          <a:noFill/>
          <a:ln/>
        </p:spPr>
        <p:txBody>
          <a:bodyPr wrap="square" lIns="0" tIns="0" rIns="0" bIns="0" rtlCol="0" anchor="ctr"/>
          <a:lstStyle/>
          <a:p>
            <a:pPr indent="0" marL="0">
              <a:buNone/>
            </a:pPr>
            <a:r>
              <a:rPr lang="en-US" sz="1300" spc="140" kern="0" dirty="0">
                <a:solidFill>
                  <a:srgbClr val="A68445"/>
                </a:solidFill>
                <a:latin typeface="Calibri" pitchFamily="34" charset="0"/>
                <a:ea typeface="Calibri" pitchFamily="34" charset="-122"/>
                <a:cs typeface="Calibri" pitchFamily="34" charset="-120"/>
              </a:rPr>
              <a:t>OPTION 1</a:t>
            </a:r>
            <a:endParaRPr lang="en-US" sz="1300" dirty="0"/>
          </a:p>
        </p:txBody>
      </p:sp>
      <p:sp>
        <p:nvSpPr>
          <p:cNvPr id="7" name="Text 5"/>
          <p:cNvSpPr/>
          <p:nvPr/>
        </p:nvSpPr>
        <p:spPr>
          <a:xfrm>
            <a:off x="777240" y="2176272"/>
            <a:ext cx="4846320" cy="777240"/>
          </a:xfrm>
          <a:prstGeom prst="rect">
            <a:avLst/>
          </a:prstGeom>
          <a:noFill/>
          <a:ln/>
        </p:spPr>
        <p:txBody>
          <a:bodyPr wrap="square" lIns="0" tIns="0" rIns="0" bIns="0" rtlCol="0" anchor="ctr"/>
          <a:lstStyle/>
          <a:p>
            <a:pPr indent="0" marL="0">
              <a:buNone/>
            </a:pPr>
            <a:r>
              <a:rPr lang="en-US" sz="2600" dirty="0">
                <a:solidFill>
                  <a:srgbClr val="1C3A32"/>
                </a:solidFill>
                <a:latin typeface="Georgia" pitchFamily="34" charset="0"/>
                <a:ea typeface="Georgia" pitchFamily="34" charset="-122"/>
                <a:cs typeface="Georgia" pitchFamily="34" charset="-120"/>
              </a:rPr>
              <a:t>Tina, on the site already designed</a:t>
            </a:r>
            <a:endParaRPr lang="en-US" sz="2600" dirty="0"/>
          </a:p>
        </p:txBody>
      </p:sp>
      <p:sp>
        <p:nvSpPr>
          <p:cNvPr id="8" name="Text 6"/>
          <p:cNvSpPr/>
          <p:nvPr/>
        </p:nvSpPr>
        <p:spPr>
          <a:xfrm>
            <a:off x="777240" y="3108960"/>
            <a:ext cx="4846320" cy="137160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The public website lives outside Subsplash. The office edits words on the real page in Tina. Sermons, giving, and the app stay in the Subsplash dashboards they use now.</a:t>
            </a:r>
            <a:endParaRPr lang="en-US" sz="1600" dirty="0"/>
          </a:p>
        </p:txBody>
      </p:sp>
      <p:sp>
        <p:nvSpPr>
          <p:cNvPr id="9" name="Text 7"/>
          <p:cNvSpPr/>
          <p:nvPr/>
        </p:nvSpPr>
        <p:spPr>
          <a:xfrm>
            <a:off x="777240" y="4892040"/>
            <a:ext cx="4846320" cy="640080"/>
          </a:xfrm>
          <a:prstGeom prst="rect">
            <a:avLst/>
          </a:prstGeom>
          <a:noFill/>
          <a:ln/>
        </p:spPr>
        <p:txBody>
          <a:bodyPr wrap="square" lIns="0" tIns="0" rIns="0" bIns="0" rtlCol="0" anchor="ctr"/>
          <a:lstStyle/>
          <a:p>
            <a:pPr indent="0" marL="0">
              <a:buNone/>
            </a:pPr>
            <a:r>
              <a:rPr lang="en-US" sz="1500" dirty="0">
                <a:solidFill>
                  <a:srgbClr val="5C6B64"/>
                </a:solidFill>
                <a:latin typeface="Calibri" pitchFamily="34" charset="0"/>
                <a:ea typeface="Calibri" pitchFamily="34" charset="-122"/>
                <a:cs typeface="Calibri" pitchFamily="34" charset="-120"/>
              </a:rPr>
              <a:t>Preview already exists</a:t>
            </a:r>
            <a:endParaRPr lang="en-US" sz="1500" dirty="0"/>
          </a:p>
          <a:p>
            <a:pPr indent="0" marL="0">
              <a:buNone/>
            </a:pPr>
            <a:r>
              <a:rPr lang="en-US" sz="1500" dirty="0">
                <a:solidFill>
                  <a:srgbClr val="5C6B64"/>
                </a:solidFill>
                <a:latin typeface="Calibri" pitchFamily="34" charset="0"/>
                <a:ea typeface="Calibri" pitchFamily="34" charset="-122"/>
                <a:cs typeface="Calibri" pitchFamily="34" charset="-120"/>
              </a:rPr>
              <a:t>calvary-frederick.vercel.app</a:t>
            </a:r>
            <a:endParaRPr lang="en-US" sz="1500" dirty="0"/>
          </a:p>
        </p:txBody>
      </p:sp>
      <p:sp>
        <p:nvSpPr>
          <p:cNvPr id="10" name="Shape 8"/>
          <p:cNvSpPr/>
          <p:nvPr/>
        </p:nvSpPr>
        <p:spPr>
          <a:xfrm>
            <a:off x="6263640" y="1600200"/>
            <a:ext cx="5394960" cy="4526280"/>
          </a:xfrm>
          <a:prstGeom prst="rect">
            <a:avLst/>
          </a:prstGeom>
          <a:solidFill>
            <a:srgbClr val="FFFFFF"/>
          </a:solidFill>
          <a:ln/>
          <a:effectLst>
            <a:outerShdw sx="100000" sy="100000" kx="0" ky="0" algn="bl" rotWithShape="0" blurRad="177800" dist="38100" dir="8100000">
              <a:srgbClr val="1C3A32">
                <a:alpha val="8000"/>
              </a:srgbClr>
            </a:outerShdw>
          </a:effectLst>
        </p:spPr>
      </p:sp>
      <p:sp>
        <p:nvSpPr>
          <p:cNvPr id="11" name="Shape 9"/>
          <p:cNvSpPr/>
          <p:nvPr/>
        </p:nvSpPr>
        <p:spPr>
          <a:xfrm>
            <a:off x="6263640" y="1600200"/>
            <a:ext cx="5394960" cy="109728"/>
          </a:xfrm>
          <a:prstGeom prst="rect">
            <a:avLst/>
          </a:prstGeom>
          <a:solidFill>
            <a:srgbClr val="A68445"/>
          </a:solidFill>
          <a:ln/>
        </p:spPr>
      </p:sp>
      <p:sp>
        <p:nvSpPr>
          <p:cNvPr id="12" name="Text 10"/>
          <p:cNvSpPr/>
          <p:nvPr/>
        </p:nvSpPr>
        <p:spPr>
          <a:xfrm>
            <a:off x="6537960" y="1874520"/>
            <a:ext cx="4846320" cy="256032"/>
          </a:xfrm>
          <a:prstGeom prst="rect">
            <a:avLst/>
          </a:prstGeom>
          <a:noFill/>
          <a:ln/>
        </p:spPr>
        <p:txBody>
          <a:bodyPr wrap="square" lIns="0" tIns="0" rIns="0" bIns="0" rtlCol="0" anchor="ctr"/>
          <a:lstStyle/>
          <a:p>
            <a:pPr indent="0" marL="0">
              <a:buNone/>
            </a:pPr>
            <a:r>
              <a:rPr lang="en-US" sz="1300" spc="140" kern="0" dirty="0">
                <a:solidFill>
                  <a:srgbClr val="A68445"/>
                </a:solidFill>
                <a:latin typeface="Calibri" pitchFamily="34" charset="0"/>
                <a:ea typeface="Calibri" pitchFamily="34" charset="-122"/>
                <a:cs typeface="Calibri" pitchFamily="34" charset="-120"/>
              </a:rPr>
              <a:t>OPTION 2</a:t>
            </a:r>
            <a:endParaRPr lang="en-US" sz="1300" dirty="0"/>
          </a:p>
        </p:txBody>
      </p:sp>
      <p:sp>
        <p:nvSpPr>
          <p:cNvPr id="13" name="Text 11"/>
          <p:cNvSpPr/>
          <p:nvPr/>
        </p:nvSpPr>
        <p:spPr>
          <a:xfrm>
            <a:off x="6537960" y="2176272"/>
            <a:ext cx="4846320" cy="777240"/>
          </a:xfrm>
          <a:prstGeom prst="rect">
            <a:avLst/>
          </a:prstGeom>
          <a:noFill/>
          <a:ln/>
        </p:spPr>
        <p:txBody>
          <a:bodyPr wrap="square" lIns="0" tIns="0" rIns="0" bIns="0" rtlCol="0" anchor="ctr"/>
          <a:lstStyle/>
          <a:p>
            <a:pPr indent="0" marL="0">
              <a:buNone/>
            </a:pPr>
            <a:r>
              <a:rPr lang="en-US" sz="2600" dirty="0">
                <a:solidFill>
                  <a:srgbClr val="1C3A32"/>
                </a:solidFill>
                <a:latin typeface="Georgia" pitchFamily="34" charset="0"/>
                <a:ea typeface="Georgia" pitchFamily="34" charset="-122"/>
                <a:cs typeface="Georgia" pitchFamily="34" charset="-120"/>
              </a:rPr>
              <a:t>Rebuild the site in SnapPages</a:t>
            </a:r>
            <a:endParaRPr lang="en-US" sz="2600" dirty="0"/>
          </a:p>
        </p:txBody>
      </p:sp>
      <p:sp>
        <p:nvSpPr>
          <p:cNvPr id="14" name="Text 12"/>
          <p:cNvSpPr/>
          <p:nvPr/>
        </p:nvSpPr>
        <p:spPr>
          <a:xfrm>
            <a:off x="6537960" y="3108960"/>
            <a:ext cx="4846320" cy="141732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The public website moves into Subsplash’s website builder. The office edits with drag and drop, in the same login as the app. The designed site cannot be imported. It is rebuilt by hand.</a:t>
            </a:r>
            <a:endParaRPr lang="en-US" sz="1600" dirty="0"/>
          </a:p>
        </p:txBody>
      </p:sp>
      <p:sp>
        <p:nvSpPr>
          <p:cNvPr id="15" name="Text 13"/>
          <p:cNvSpPr/>
          <p:nvPr/>
        </p:nvSpPr>
        <p:spPr>
          <a:xfrm>
            <a:off x="6537960" y="4892040"/>
            <a:ext cx="4846320" cy="640080"/>
          </a:xfrm>
          <a:prstGeom prst="rect">
            <a:avLst/>
          </a:prstGeom>
          <a:noFill/>
          <a:ln/>
        </p:spPr>
        <p:txBody>
          <a:bodyPr wrap="square" lIns="0" tIns="0" rIns="0" bIns="0" rtlCol="0" anchor="ctr"/>
          <a:lstStyle/>
          <a:p>
            <a:pPr indent="0" marL="0">
              <a:buNone/>
            </a:pPr>
            <a:r>
              <a:rPr lang="en-US" sz="1500" dirty="0">
                <a:solidFill>
                  <a:srgbClr val="5C6B64"/>
                </a:solidFill>
                <a:latin typeface="Calibri" pitchFamily="34" charset="0"/>
                <a:ea typeface="Calibri" pitchFamily="34" charset="-122"/>
                <a:cs typeface="Calibri" pitchFamily="34" charset="-120"/>
              </a:rPr>
              <a:t>A holding site already exists</a:t>
            </a:r>
            <a:endParaRPr lang="en-US" sz="1500" dirty="0"/>
          </a:p>
          <a:p>
            <a:pPr indent="0" marL="0">
              <a:buNone/>
            </a:pPr>
            <a:r>
              <a:rPr lang="en-US" sz="1500" dirty="0">
                <a:solidFill>
                  <a:srgbClr val="5C6B64"/>
                </a:solidFill>
                <a:latin typeface="Calibri" pitchFamily="34" charset="0"/>
                <a:ea typeface="Calibri" pitchFamily="34" charset="-122"/>
                <a:cs typeface="Calibri" pitchFamily="34" charset="-120"/>
              </a:rPr>
              <a:t>calvarychapelfrederick1.snappages.site</a:t>
            </a:r>
            <a:endParaRPr lang="en-US" sz="1500" dirty="0"/>
          </a:p>
        </p:txBody>
      </p:sp>
      <p:sp>
        <p:nvSpPr>
          <p:cNvPr id="16" name="Text 14"/>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Calvary Chapel Frederick  ·  Public website options  ·  28 September 2026</a:t>
            </a:r>
            <a:endParaRPr lang="en-US" sz="1100" dirty="0"/>
          </a:p>
        </p:txBody>
      </p:sp>
      <p:sp>
        <p:nvSpPr>
          <p:cNvPr id="17" name="Text 15"/>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47472"/>
            <a:ext cx="10972800" cy="457200"/>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What does not change</a:t>
            </a:r>
            <a:endParaRPr lang="en-US" sz="3200" dirty="0"/>
          </a:p>
        </p:txBody>
      </p:sp>
      <p:sp>
        <p:nvSpPr>
          <p:cNvPr id="3" name="Text 1"/>
          <p:cNvSpPr/>
          <p:nvPr/>
        </p:nvSpPr>
        <p:spPr>
          <a:xfrm>
            <a:off x="502920" y="914400"/>
            <a:ext cx="10972800" cy="32004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Both options keep the church on Subsplash for everything except the marketing pages.</a:t>
            </a:r>
            <a:endParaRPr lang="en-US" sz="1600" dirty="0"/>
          </a:p>
        </p:txBody>
      </p:sp>
      <p:sp>
        <p:nvSpPr>
          <p:cNvPr id="4" name="Shape 2"/>
          <p:cNvSpPr/>
          <p:nvPr/>
        </p:nvSpPr>
        <p:spPr>
          <a:xfrm>
            <a:off x="502920" y="1463040"/>
            <a:ext cx="91440" cy="658368"/>
          </a:xfrm>
          <a:prstGeom prst="rect">
            <a:avLst/>
          </a:prstGeom>
          <a:solidFill>
            <a:srgbClr val="1C3A32"/>
          </a:solidFill>
          <a:ln/>
        </p:spPr>
      </p:sp>
      <p:sp>
        <p:nvSpPr>
          <p:cNvPr id="5" name="Text 3"/>
          <p:cNvSpPr/>
          <p:nvPr/>
        </p:nvSpPr>
        <p:spPr>
          <a:xfrm>
            <a:off x="822960" y="1463040"/>
            <a:ext cx="3840480" cy="658368"/>
          </a:xfrm>
          <a:prstGeom prst="rect">
            <a:avLst/>
          </a:prstGeom>
          <a:noFill/>
          <a:ln/>
        </p:spPr>
        <p:txBody>
          <a:bodyPr wrap="square" lIns="0" tIns="0" rIns="0" bIns="0" rtlCol="0" anchor="ctr"/>
          <a:lstStyle/>
          <a:p>
            <a:pPr indent="0" marL="0">
              <a:buNone/>
            </a:pPr>
            <a:r>
              <a:rPr lang="en-US" sz="1800" dirty="0">
                <a:solidFill>
                  <a:srgbClr val="1C3A32"/>
                </a:solidFill>
                <a:latin typeface="Georgia" pitchFamily="34" charset="0"/>
                <a:ea typeface="Georgia" pitchFamily="34" charset="-122"/>
                <a:cs typeface="Georgia" pitchFamily="34" charset="-120"/>
              </a:rPr>
              <a:t>Sermons, live, and podcasts</a:t>
            </a:r>
            <a:endParaRPr lang="en-US" sz="1800" dirty="0"/>
          </a:p>
        </p:txBody>
      </p:sp>
      <p:sp>
        <p:nvSpPr>
          <p:cNvPr id="6" name="Text 4"/>
          <p:cNvSpPr/>
          <p:nvPr/>
        </p:nvSpPr>
        <p:spPr>
          <a:xfrm>
            <a:off x="4754880" y="1463040"/>
            <a:ext cx="6766560" cy="658368"/>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Subsplash Media. Upload once. The app and podcasts keep working.</a:t>
            </a:r>
            <a:endParaRPr lang="en-US" sz="1600" dirty="0"/>
          </a:p>
        </p:txBody>
      </p:sp>
      <p:sp>
        <p:nvSpPr>
          <p:cNvPr id="7" name="Shape 5"/>
          <p:cNvSpPr/>
          <p:nvPr/>
        </p:nvSpPr>
        <p:spPr>
          <a:xfrm>
            <a:off x="502920" y="2331720"/>
            <a:ext cx="91440" cy="658368"/>
          </a:xfrm>
          <a:prstGeom prst="rect">
            <a:avLst/>
          </a:prstGeom>
          <a:solidFill>
            <a:srgbClr val="A68445"/>
          </a:solidFill>
          <a:ln/>
        </p:spPr>
      </p:sp>
      <p:sp>
        <p:nvSpPr>
          <p:cNvPr id="8" name="Text 6"/>
          <p:cNvSpPr/>
          <p:nvPr/>
        </p:nvSpPr>
        <p:spPr>
          <a:xfrm>
            <a:off x="822960" y="2331720"/>
            <a:ext cx="3840480" cy="658368"/>
          </a:xfrm>
          <a:prstGeom prst="rect">
            <a:avLst/>
          </a:prstGeom>
          <a:noFill/>
          <a:ln/>
        </p:spPr>
        <p:txBody>
          <a:bodyPr wrap="square" lIns="0" tIns="0" rIns="0" bIns="0" rtlCol="0" anchor="ctr"/>
          <a:lstStyle/>
          <a:p>
            <a:pPr indent="0" marL="0">
              <a:buNone/>
            </a:pPr>
            <a:r>
              <a:rPr lang="en-US" sz="1800" dirty="0">
                <a:solidFill>
                  <a:srgbClr val="1C3A32"/>
                </a:solidFill>
                <a:latin typeface="Georgia" pitchFamily="34" charset="0"/>
                <a:ea typeface="Georgia" pitchFamily="34" charset="-122"/>
                <a:cs typeface="Georgia" pitchFamily="34" charset="-120"/>
              </a:rPr>
              <a:t>Online giving and receipts</a:t>
            </a:r>
            <a:endParaRPr lang="en-US" sz="1800" dirty="0"/>
          </a:p>
        </p:txBody>
      </p:sp>
      <p:sp>
        <p:nvSpPr>
          <p:cNvPr id="9" name="Text 7"/>
          <p:cNvSpPr/>
          <p:nvPr/>
        </p:nvSpPr>
        <p:spPr>
          <a:xfrm>
            <a:off x="4754880" y="2331720"/>
            <a:ext cx="6766560" cy="658368"/>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Subsplash Wallet. Card 2.3% + $0.30 and ACH 1.0%, as checked 16 August 2026.</a:t>
            </a:r>
            <a:endParaRPr lang="en-US" sz="1600" dirty="0"/>
          </a:p>
        </p:txBody>
      </p:sp>
      <p:sp>
        <p:nvSpPr>
          <p:cNvPr id="10" name="Shape 8"/>
          <p:cNvSpPr/>
          <p:nvPr/>
        </p:nvSpPr>
        <p:spPr>
          <a:xfrm>
            <a:off x="502920" y="3200400"/>
            <a:ext cx="91440" cy="658368"/>
          </a:xfrm>
          <a:prstGeom prst="rect">
            <a:avLst/>
          </a:prstGeom>
          <a:solidFill>
            <a:srgbClr val="1C3A32"/>
          </a:solidFill>
          <a:ln/>
        </p:spPr>
      </p:sp>
      <p:sp>
        <p:nvSpPr>
          <p:cNvPr id="11" name="Text 9"/>
          <p:cNvSpPr/>
          <p:nvPr/>
        </p:nvSpPr>
        <p:spPr>
          <a:xfrm>
            <a:off x="822960" y="3200400"/>
            <a:ext cx="3840480" cy="658368"/>
          </a:xfrm>
          <a:prstGeom prst="rect">
            <a:avLst/>
          </a:prstGeom>
          <a:noFill/>
          <a:ln/>
        </p:spPr>
        <p:txBody>
          <a:bodyPr wrap="square" lIns="0" tIns="0" rIns="0" bIns="0" rtlCol="0" anchor="ctr"/>
          <a:lstStyle/>
          <a:p>
            <a:pPr indent="0" marL="0">
              <a:buNone/>
            </a:pPr>
            <a:r>
              <a:rPr lang="en-US" sz="1800" dirty="0">
                <a:solidFill>
                  <a:srgbClr val="1C3A32"/>
                </a:solidFill>
                <a:latin typeface="Georgia" pitchFamily="34" charset="0"/>
                <a:ea typeface="Georgia" pitchFamily="34" charset="-122"/>
                <a:cs typeface="Georgia" pitchFamily="34" charset="-120"/>
              </a:rPr>
              <a:t>The church app</a:t>
            </a:r>
            <a:endParaRPr lang="en-US" sz="1800" dirty="0"/>
          </a:p>
        </p:txBody>
      </p:sp>
      <p:sp>
        <p:nvSpPr>
          <p:cNvPr id="12" name="Text 10"/>
          <p:cNvSpPr/>
          <p:nvPr/>
        </p:nvSpPr>
        <p:spPr>
          <a:xfrm>
            <a:off x="4754880" y="3200400"/>
            <a:ext cx="6766560" cy="658368"/>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The app people already installed. Push, live, and the app store stay in Subsplash.</a:t>
            </a:r>
            <a:endParaRPr lang="en-US" sz="1600" dirty="0"/>
          </a:p>
        </p:txBody>
      </p:sp>
      <p:sp>
        <p:nvSpPr>
          <p:cNvPr id="13" name="Shape 11"/>
          <p:cNvSpPr/>
          <p:nvPr/>
        </p:nvSpPr>
        <p:spPr>
          <a:xfrm>
            <a:off x="502920" y="4069080"/>
            <a:ext cx="91440" cy="658368"/>
          </a:xfrm>
          <a:prstGeom prst="rect">
            <a:avLst/>
          </a:prstGeom>
          <a:solidFill>
            <a:srgbClr val="A68445"/>
          </a:solidFill>
          <a:ln/>
        </p:spPr>
      </p:sp>
      <p:sp>
        <p:nvSpPr>
          <p:cNvPr id="14" name="Text 12"/>
          <p:cNvSpPr/>
          <p:nvPr/>
        </p:nvSpPr>
        <p:spPr>
          <a:xfrm>
            <a:off x="822960" y="4069080"/>
            <a:ext cx="3840480" cy="658368"/>
          </a:xfrm>
          <a:prstGeom prst="rect">
            <a:avLst/>
          </a:prstGeom>
          <a:noFill/>
          <a:ln/>
        </p:spPr>
        <p:txBody>
          <a:bodyPr wrap="square" lIns="0" tIns="0" rIns="0" bIns="0" rtlCol="0" anchor="ctr"/>
          <a:lstStyle/>
          <a:p>
            <a:pPr indent="0" marL="0">
              <a:buNone/>
            </a:pPr>
            <a:r>
              <a:rPr lang="en-US" sz="1800" dirty="0">
                <a:solidFill>
                  <a:srgbClr val="1C3A32"/>
                </a:solidFill>
                <a:latin typeface="Georgia" pitchFamily="34" charset="0"/>
                <a:ea typeface="Georgia" pitchFamily="34" charset="-122"/>
                <a:cs typeface="Georgia" pitchFamily="34" charset="-120"/>
              </a:rPr>
              <a:t>The domain name</a:t>
            </a:r>
            <a:endParaRPr lang="en-US" sz="1800" dirty="0"/>
          </a:p>
        </p:txBody>
      </p:sp>
      <p:sp>
        <p:nvSpPr>
          <p:cNvPr id="15" name="Text 13"/>
          <p:cNvSpPr/>
          <p:nvPr/>
        </p:nvSpPr>
        <p:spPr>
          <a:xfrm>
            <a:off x="4754880" y="4069080"/>
            <a:ext cx="6766560" cy="658368"/>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calvaryfrederick.com stays. DNS is not switched until leadership picks.</a:t>
            </a:r>
            <a:endParaRPr lang="en-US" sz="1600" dirty="0"/>
          </a:p>
        </p:txBody>
      </p:sp>
      <p:sp>
        <p:nvSpPr>
          <p:cNvPr id="16" name="Shape 14"/>
          <p:cNvSpPr/>
          <p:nvPr/>
        </p:nvSpPr>
        <p:spPr>
          <a:xfrm>
            <a:off x="502920" y="4937760"/>
            <a:ext cx="91440" cy="658368"/>
          </a:xfrm>
          <a:prstGeom prst="rect">
            <a:avLst/>
          </a:prstGeom>
          <a:solidFill>
            <a:srgbClr val="1C3A32"/>
          </a:solidFill>
          <a:ln/>
        </p:spPr>
      </p:sp>
      <p:sp>
        <p:nvSpPr>
          <p:cNvPr id="17" name="Text 15"/>
          <p:cNvSpPr/>
          <p:nvPr/>
        </p:nvSpPr>
        <p:spPr>
          <a:xfrm>
            <a:off x="822960" y="4937760"/>
            <a:ext cx="3840480" cy="658368"/>
          </a:xfrm>
          <a:prstGeom prst="rect">
            <a:avLst/>
          </a:prstGeom>
          <a:noFill/>
          <a:ln/>
        </p:spPr>
        <p:txBody>
          <a:bodyPr wrap="square" lIns="0" tIns="0" rIns="0" bIns="0" rtlCol="0" anchor="ctr"/>
          <a:lstStyle/>
          <a:p>
            <a:pPr indent="0" marL="0">
              <a:buNone/>
            </a:pPr>
            <a:r>
              <a:rPr lang="en-US" sz="1800" dirty="0">
                <a:solidFill>
                  <a:srgbClr val="1C3A32"/>
                </a:solidFill>
                <a:latin typeface="Georgia" pitchFamily="34" charset="0"/>
                <a:ea typeface="Georgia" pitchFamily="34" charset="-122"/>
                <a:cs typeface="Georgia" pitchFamily="34" charset="-120"/>
              </a:rPr>
              <a:t>Squarespace</a:t>
            </a:r>
            <a:endParaRPr lang="en-US" sz="1800" dirty="0"/>
          </a:p>
        </p:txBody>
      </p:sp>
      <p:sp>
        <p:nvSpPr>
          <p:cNvPr id="18" name="Text 16"/>
          <p:cNvSpPr/>
          <p:nvPr/>
        </p:nvSpPr>
        <p:spPr>
          <a:xfrm>
            <a:off x="4754880" y="4937760"/>
            <a:ext cx="6766560" cy="658368"/>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The current public site is retired when the new front door goes live. That happens on either option.</a:t>
            </a:r>
            <a:endParaRPr lang="en-US" sz="1600" dirty="0"/>
          </a:p>
        </p:txBody>
      </p:sp>
      <p:sp>
        <p:nvSpPr>
          <p:cNvPr id="19" name="Text 17"/>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Calvary Chapel Frederick  ·  Public website options  ·  28 September 2026</a:t>
            </a:r>
            <a:endParaRPr lang="en-US" sz="1100" dirty="0"/>
          </a:p>
        </p:txBody>
      </p:sp>
      <p:sp>
        <p:nvSpPr>
          <p:cNvPr id="20" name="Text 18"/>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20040"/>
            <a:ext cx="10972800" cy="438912"/>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Option 1  ·  Tina</a:t>
            </a:r>
            <a:endParaRPr lang="en-US" sz="3200" dirty="0"/>
          </a:p>
        </p:txBody>
      </p:sp>
      <p:sp>
        <p:nvSpPr>
          <p:cNvPr id="3" name="Text 1"/>
          <p:cNvSpPr/>
          <p:nvPr/>
        </p:nvSpPr>
        <p:spPr>
          <a:xfrm>
            <a:off x="502920" y="868680"/>
            <a:ext cx="10972800" cy="36576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The office sees the page while they type. A save updates the same files a developer can still edit.</a:t>
            </a:r>
            <a:endParaRPr lang="en-US" sz="1600" dirty="0"/>
          </a:p>
        </p:txBody>
      </p:sp>
      <p:sp>
        <p:nvSpPr>
          <p:cNvPr id="4" name="Shape 2"/>
          <p:cNvSpPr/>
          <p:nvPr/>
        </p:nvSpPr>
        <p:spPr>
          <a:xfrm>
            <a:off x="502920" y="1417320"/>
            <a:ext cx="11155680" cy="841248"/>
          </a:xfrm>
          <a:prstGeom prst="rect">
            <a:avLst/>
          </a:prstGeom>
          <a:solidFill>
            <a:srgbClr val="FFFFFF"/>
          </a:solidFill>
          <a:ln/>
        </p:spPr>
      </p:sp>
      <p:sp>
        <p:nvSpPr>
          <p:cNvPr id="5" name="Text 3"/>
          <p:cNvSpPr/>
          <p:nvPr/>
        </p:nvSpPr>
        <p:spPr>
          <a:xfrm>
            <a:off x="731520" y="1527048"/>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the office does</a:t>
            </a:r>
            <a:endParaRPr lang="en-US" sz="1600" dirty="0"/>
          </a:p>
        </p:txBody>
      </p:sp>
      <p:sp>
        <p:nvSpPr>
          <p:cNvPr id="6" name="Text 4"/>
          <p:cNvSpPr/>
          <p:nvPr/>
        </p:nvSpPr>
        <p:spPr>
          <a:xfrm>
            <a:off x="3840480" y="1527048"/>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Opens Tina, clicks the homepage headline or a ministry title, rewrites it, and saves. No code.</a:t>
            </a:r>
            <a:endParaRPr lang="en-US" sz="1500" dirty="0"/>
          </a:p>
        </p:txBody>
      </p:sp>
      <p:sp>
        <p:nvSpPr>
          <p:cNvPr id="7" name="Shape 5"/>
          <p:cNvSpPr/>
          <p:nvPr/>
        </p:nvSpPr>
        <p:spPr>
          <a:xfrm>
            <a:off x="502920" y="2350008"/>
            <a:ext cx="11155680" cy="841248"/>
          </a:xfrm>
          <a:prstGeom prst="rect">
            <a:avLst/>
          </a:prstGeom>
          <a:solidFill>
            <a:srgbClr val="FFFFFF"/>
          </a:solidFill>
          <a:ln/>
        </p:spPr>
      </p:sp>
      <p:sp>
        <p:nvSpPr>
          <p:cNvPr id="8" name="Text 6"/>
          <p:cNvSpPr/>
          <p:nvPr/>
        </p:nvSpPr>
        <p:spPr>
          <a:xfrm>
            <a:off x="731520" y="2459736"/>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they can change</a:t>
            </a:r>
            <a:endParaRPr lang="en-US" sz="1600" dirty="0"/>
          </a:p>
        </p:txBody>
      </p:sp>
      <p:sp>
        <p:nvSpPr>
          <p:cNvPr id="9" name="Text 7"/>
          <p:cNvSpPr/>
          <p:nvPr/>
        </p:nvSpPr>
        <p:spPr>
          <a:xfrm>
            <a:off x="3840480" y="2459736"/>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Service times, the bulletin path, ministry paragraphs, address, and the weekly message title.</a:t>
            </a:r>
            <a:endParaRPr lang="en-US" sz="1500" dirty="0"/>
          </a:p>
        </p:txBody>
      </p:sp>
      <p:sp>
        <p:nvSpPr>
          <p:cNvPr id="10" name="Shape 8"/>
          <p:cNvSpPr/>
          <p:nvPr/>
        </p:nvSpPr>
        <p:spPr>
          <a:xfrm>
            <a:off x="502920" y="3282696"/>
            <a:ext cx="11155680" cy="841248"/>
          </a:xfrm>
          <a:prstGeom prst="rect">
            <a:avLst/>
          </a:prstGeom>
          <a:solidFill>
            <a:srgbClr val="FFFFFF"/>
          </a:solidFill>
          <a:ln/>
        </p:spPr>
      </p:sp>
      <p:sp>
        <p:nvSpPr>
          <p:cNvPr id="11" name="Text 9"/>
          <p:cNvSpPr/>
          <p:nvPr/>
        </p:nvSpPr>
        <p:spPr>
          <a:xfrm>
            <a:off x="731520" y="3392424"/>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they do not change</a:t>
            </a:r>
            <a:endParaRPr lang="en-US" sz="1600" dirty="0"/>
          </a:p>
        </p:txBody>
      </p:sp>
      <p:sp>
        <p:nvSpPr>
          <p:cNvPr id="12" name="Text 10"/>
          <p:cNvSpPr/>
          <p:nvPr/>
        </p:nvSpPr>
        <p:spPr>
          <a:xfrm>
            <a:off x="3840480" y="3392424"/>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Sermon video, the app, and giving. Those stay in Subsplash. Wallet IDs stay off the form.</a:t>
            </a:r>
            <a:endParaRPr lang="en-US" sz="1500" dirty="0"/>
          </a:p>
        </p:txBody>
      </p:sp>
      <p:sp>
        <p:nvSpPr>
          <p:cNvPr id="13" name="Shape 11"/>
          <p:cNvSpPr/>
          <p:nvPr/>
        </p:nvSpPr>
        <p:spPr>
          <a:xfrm>
            <a:off x="502920" y="4215384"/>
            <a:ext cx="11155680" cy="841248"/>
          </a:xfrm>
          <a:prstGeom prst="rect">
            <a:avLst/>
          </a:prstGeom>
          <a:solidFill>
            <a:srgbClr val="FFFFFF"/>
          </a:solidFill>
          <a:ln/>
        </p:spPr>
      </p:sp>
      <p:sp>
        <p:nvSpPr>
          <p:cNvPr id="14" name="Text 12"/>
          <p:cNvSpPr/>
          <p:nvPr/>
        </p:nvSpPr>
        <p:spPr>
          <a:xfrm>
            <a:off x="731520" y="4325112"/>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you keep</a:t>
            </a:r>
            <a:endParaRPr lang="en-US" sz="1600" dirty="0"/>
          </a:p>
        </p:txBody>
      </p:sp>
      <p:sp>
        <p:nvSpPr>
          <p:cNvPr id="15" name="Text 13"/>
          <p:cNvSpPr/>
          <p:nvPr/>
        </p:nvSpPr>
        <p:spPr>
          <a:xfrm>
            <a:off x="3840480" y="4325112"/>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The designed site: hero, ministry films, Visit page, and the look already in the preview.</a:t>
            </a:r>
            <a:endParaRPr lang="en-US" sz="1500" dirty="0"/>
          </a:p>
        </p:txBody>
      </p:sp>
      <p:sp>
        <p:nvSpPr>
          <p:cNvPr id="16" name="Shape 14"/>
          <p:cNvSpPr/>
          <p:nvPr/>
        </p:nvSpPr>
        <p:spPr>
          <a:xfrm>
            <a:off x="502920" y="5148072"/>
            <a:ext cx="11155680" cy="841248"/>
          </a:xfrm>
          <a:prstGeom prst="rect">
            <a:avLst/>
          </a:prstGeom>
          <a:solidFill>
            <a:srgbClr val="FFFFFF"/>
          </a:solidFill>
          <a:ln/>
        </p:spPr>
      </p:sp>
      <p:sp>
        <p:nvSpPr>
          <p:cNvPr id="17" name="Text 15"/>
          <p:cNvSpPr/>
          <p:nvPr/>
        </p:nvSpPr>
        <p:spPr>
          <a:xfrm>
            <a:off x="731520" y="5257800"/>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The tradeoff</a:t>
            </a:r>
            <a:endParaRPr lang="en-US" sz="1600" dirty="0"/>
          </a:p>
        </p:txBody>
      </p:sp>
      <p:sp>
        <p:nvSpPr>
          <p:cNvPr id="18" name="Text 16"/>
          <p:cNvSpPr/>
          <p:nvPr/>
        </p:nvSpPr>
        <p:spPr>
          <a:xfrm>
            <a:off x="3840480" y="5257800"/>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Two logins. Website in Tina. Sermons, giving, and the app in Subsplash. The homepage Watch card still follows Subsplash, not the message-title field.</a:t>
            </a:r>
            <a:endParaRPr lang="en-US" sz="1500" dirty="0"/>
          </a:p>
        </p:txBody>
      </p:sp>
      <p:sp>
        <p:nvSpPr>
          <p:cNvPr id="19" name="Text 17"/>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Calvary Chapel Frederick  ·  Public website options  ·  28 September 2026</a:t>
            </a:r>
            <a:endParaRPr lang="en-US" sz="1100" dirty="0"/>
          </a:p>
        </p:txBody>
      </p:sp>
      <p:sp>
        <p:nvSpPr>
          <p:cNvPr id="20" name="Text 18"/>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20040"/>
            <a:ext cx="10972800" cy="438912"/>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Option 2  ·  SnapPages</a:t>
            </a:r>
            <a:endParaRPr lang="en-US" sz="3200" dirty="0"/>
          </a:p>
        </p:txBody>
      </p:sp>
      <p:sp>
        <p:nvSpPr>
          <p:cNvPr id="3" name="Text 1"/>
          <p:cNvSpPr/>
          <p:nvPr/>
        </p:nvSpPr>
        <p:spPr>
          <a:xfrm>
            <a:off x="502920" y="868680"/>
            <a:ext cx="11155680" cy="411480"/>
          </a:xfrm>
          <a:prstGeom prst="rect">
            <a:avLst/>
          </a:prstGeom>
          <a:noFill/>
          <a:ln/>
        </p:spPr>
        <p:txBody>
          <a:bodyPr wrap="square" lIns="0" tIns="0" rIns="0" bIns="0" rtlCol="0" anchor="ctr"/>
          <a:lstStyle/>
          <a:p>
            <a:pPr indent="0" marL="0">
              <a:buNone/>
            </a:pPr>
            <a:r>
              <a:rPr lang="en-US" sz="1600" dirty="0">
                <a:solidFill>
                  <a:srgbClr val="1E2A26"/>
                </a:solidFill>
                <a:latin typeface="Calibri" pitchFamily="34" charset="0"/>
                <a:ea typeface="Calibri" pitchFamily="34" charset="-122"/>
                <a:cs typeface="Calibri" pitchFamily="34" charset="-120"/>
              </a:rPr>
              <a:t>Subsplash’s website builder. The holding site shows the church already has a websites seat. The interiors on it are still placeholder copy.</a:t>
            </a:r>
            <a:endParaRPr lang="en-US" sz="1600" dirty="0"/>
          </a:p>
        </p:txBody>
      </p:sp>
      <p:sp>
        <p:nvSpPr>
          <p:cNvPr id="4" name="Shape 2"/>
          <p:cNvSpPr/>
          <p:nvPr/>
        </p:nvSpPr>
        <p:spPr>
          <a:xfrm>
            <a:off x="502920" y="1417320"/>
            <a:ext cx="11155680" cy="841248"/>
          </a:xfrm>
          <a:prstGeom prst="rect">
            <a:avLst/>
          </a:prstGeom>
          <a:solidFill>
            <a:srgbClr val="FFFFFF"/>
          </a:solidFill>
          <a:ln/>
        </p:spPr>
      </p:sp>
      <p:sp>
        <p:nvSpPr>
          <p:cNvPr id="5" name="Text 3"/>
          <p:cNvSpPr/>
          <p:nvPr/>
        </p:nvSpPr>
        <p:spPr>
          <a:xfrm>
            <a:off x="731520" y="1527048"/>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the office does</a:t>
            </a:r>
            <a:endParaRPr lang="en-US" sz="1600" dirty="0"/>
          </a:p>
        </p:txBody>
      </p:sp>
      <p:sp>
        <p:nvSpPr>
          <p:cNvPr id="6" name="Text 4"/>
          <p:cNvSpPr/>
          <p:nvPr/>
        </p:nvSpPr>
        <p:spPr>
          <a:xfrm>
            <a:off x="3840480" y="1527048"/>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Signs into Subsplash and edits blocks on the page. One login covers the website, the app, and giving.</a:t>
            </a:r>
            <a:endParaRPr lang="en-US" sz="1500" dirty="0"/>
          </a:p>
        </p:txBody>
      </p:sp>
      <p:sp>
        <p:nvSpPr>
          <p:cNvPr id="7" name="Shape 5"/>
          <p:cNvSpPr/>
          <p:nvPr/>
        </p:nvSpPr>
        <p:spPr>
          <a:xfrm>
            <a:off x="502920" y="2350008"/>
            <a:ext cx="11155680" cy="841248"/>
          </a:xfrm>
          <a:prstGeom prst="rect">
            <a:avLst/>
          </a:prstGeom>
          <a:solidFill>
            <a:srgbClr val="FFFFFF"/>
          </a:solidFill>
          <a:ln/>
        </p:spPr>
      </p:sp>
      <p:sp>
        <p:nvSpPr>
          <p:cNvPr id="8" name="Text 6"/>
          <p:cNvSpPr/>
          <p:nvPr/>
        </p:nvSpPr>
        <p:spPr>
          <a:xfrm>
            <a:off x="731520" y="2459736"/>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they can change</a:t>
            </a:r>
            <a:endParaRPr lang="en-US" sz="1600" dirty="0"/>
          </a:p>
        </p:txBody>
      </p:sp>
      <p:sp>
        <p:nvSpPr>
          <p:cNvPr id="9" name="Text 7"/>
          <p:cNvSpPr/>
          <p:nvPr/>
        </p:nvSpPr>
        <p:spPr>
          <a:xfrm>
            <a:off x="3840480" y="2459736"/>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Text, photos, and sections inside the SnapPages theme. A native giving block and media block sit in the same editor.</a:t>
            </a:r>
            <a:endParaRPr lang="en-US" sz="1500" dirty="0"/>
          </a:p>
        </p:txBody>
      </p:sp>
      <p:sp>
        <p:nvSpPr>
          <p:cNvPr id="10" name="Shape 8"/>
          <p:cNvSpPr/>
          <p:nvPr/>
        </p:nvSpPr>
        <p:spPr>
          <a:xfrm>
            <a:off x="502920" y="3282696"/>
            <a:ext cx="11155680" cy="841248"/>
          </a:xfrm>
          <a:prstGeom prst="rect">
            <a:avLst/>
          </a:prstGeom>
          <a:solidFill>
            <a:srgbClr val="FFFFFF"/>
          </a:solidFill>
          <a:ln/>
        </p:spPr>
      </p:sp>
      <p:sp>
        <p:nvSpPr>
          <p:cNvPr id="11" name="Text 9"/>
          <p:cNvSpPr/>
          <p:nvPr/>
        </p:nvSpPr>
        <p:spPr>
          <a:xfrm>
            <a:off x="731520" y="3392424"/>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gets rebuilt</a:t>
            </a:r>
            <a:endParaRPr lang="en-US" sz="1600" dirty="0"/>
          </a:p>
        </p:txBody>
      </p:sp>
      <p:sp>
        <p:nvSpPr>
          <p:cNvPr id="12" name="Text 10"/>
          <p:cNvSpPr/>
          <p:nvPr/>
        </p:nvSpPr>
        <p:spPr>
          <a:xfrm>
            <a:off x="3840480" y="3392424"/>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Home, Visit, ministries, Media, and Give. The current site cannot be dropped in. Layout, type, and the ministry films are approximated.</a:t>
            </a:r>
            <a:endParaRPr lang="en-US" sz="1500" dirty="0"/>
          </a:p>
        </p:txBody>
      </p:sp>
      <p:sp>
        <p:nvSpPr>
          <p:cNvPr id="13" name="Shape 11"/>
          <p:cNvSpPr/>
          <p:nvPr/>
        </p:nvSpPr>
        <p:spPr>
          <a:xfrm>
            <a:off x="502920" y="4215384"/>
            <a:ext cx="11155680" cy="841248"/>
          </a:xfrm>
          <a:prstGeom prst="rect">
            <a:avLst/>
          </a:prstGeom>
          <a:solidFill>
            <a:srgbClr val="FFFFFF"/>
          </a:solidFill>
          <a:ln/>
        </p:spPr>
      </p:sp>
      <p:sp>
        <p:nvSpPr>
          <p:cNvPr id="14" name="Text 12"/>
          <p:cNvSpPr/>
          <p:nvPr/>
        </p:nvSpPr>
        <p:spPr>
          <a:xfrm>
            <a:off x="731520" y="4325112"/>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What you give up</a:t>
            </a:r>
            <a:endParaRPr lang="en-US" sz="1600" dirty="0"/>
          </a:p>
        </p:txBody>
      </p:sp>
      <p:sp>
        <p:nvSpPr>
          <p:cNvPr id="15" name="Text 13"/>
          <p:cNvSpPr/>
          <p:nvPr/>
        </p:nvSpPr>
        <p:spPr>
          <a:xfrm>
            <a:off x="3840480" y="4325112"/>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Grok and an IDE cannot edit the public pages the way they edit this project. Custom layout CSS is outside SnapPages support.</a:t>
            </a:r>
            <a:endParaRPr lang="en-US" sz="1500" dirty="0"/>
          </a:p>
        </p:txBody>
      </p:sp>
      <p:sp>
        <p:nvSpPr>
          <p:cNvPr id="16" name="Shape 14"/>
          <p:cNvSpPr/>
          <p:nvPr/>
        </p:nvSpPr>
        <p:spPr>
          <a:xfrm>
            <a:off x="502920" y="5148072"/>
            <a:ext cx="11155680" cy="841248"/>
          </a:xfrm>
          <a:prstGeom prst="rect">
            <a:avLst/>
          </a:prstGeom>
          <a:solidFill>
            <a:srgbClr val="FFFFFF"/>
          </a:solidFill>
          <a:ln/>
        </p:spPr>
      </p:sp>
      <p:sp>
        <p:nvSpPr>
          <p:cNvPr id="17" name="Text 15"/>
          <p:cNvSpPr/>
          <p:nvPr/>
        </p:nvSpPr>
        <p:spPr>
          <a:xfrm>
            <a:off x="731520" y="5257800"/>
            <a:ext cx="3017520" cy="621792"/>
          </a:xfrm>
          <a:prstGeom prst="rect">
            <a:avLst/>
          </a:prstGeom>
          <a:noFill/>
          <a:ln/>
        </p:spPr>
        <p:txBody>
          <a:bodyPr wrap="square" lIns="0" tIns="0" rIns="0" bIns="0" rtlCol="0" anchor="ctr"/>
          <a:lstStyle/>
          <a:p>
            <a:pPr indent="0" marL="0">
              <a:buNone/>
            </a:pPr>
            <a:r>
              <a:rPr lang="en-US" sz="1600" dirty="0">
                <a:solidFill>
                  <a:srgbClr val="1C3A32"/>
                </a:solidFill>
                <a:latin typeface="Georgia" pitchFamily="34" charset="0"/>
                <a:ea typeface="Georgia" pitchFamily="34" charset="-122"/>
                <a:cs typeface="Georgia" pitchFamily="34" charset="-120"/>
              </a:rPr>
              <a:t>The tradeoff</a:t>
            </a:r>
            <a:endParaRPr lang="en-US" sz="1600" dirty="0"/>
          </a:p>
        </p:txBody>
      </p:sp>
      <p:sp>
        <p:nvSpPr>
          <p:cNvPr id="18" name="Text 16"/>
          <p:cNvSpPr/>
          <p:nvPr/>
        </p:nvSpPr>
        <p:spPr>
          <a:xfrm>
            <a:off x="3840480" y="5257800"/>
            <a:ext cx="7498080" cy="621792"/>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Simpler for a volunteer who wants one church login. The finished look is the theme, not the site already designed.</a:t>
            </a:r>
            <a:endParaRPr lang="en-US" sz="1500" dirty="0"/>
          </a:p>
        </p:txBody>
      </p:sp>
      <p:sp>
        <p:nvSpPr>
          <p:cNvPr id="19" name="Text 17"/>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Calvary Chapel Frederick  ·  Public website options  ·  28 September 2026</a:t>
            </a:r>
            <a:endParaRPr lang="en-US" sz="1100" dirty="0"/>
          </a:p>
        </p:txBody>
      </p:sp>
      <p:sp>
        <p:nvSpPr>
          <p:cNvPr id="20" name="Text 18"/>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292608"/>
            <a:ext cx="10972800" cy="420624"/>
          </a:xfrm>
          <a:prstGeom prst="rect">
            <a:avLst/>
          </a:prstGeom>
          <a:noFill/>
          <a:ln/>
        </p:spPr>
        <p:txBody>
          <a:bodyPr wrap="square" lIns="0" tIns="0" rIns="0" bIns="0" rtlCol="0" anchor="ctr"/>
          <a:lstStyle/>
          <a:p>
            <a:pPr indent="0" marL="0">
              <a:buNone/>
            </a:pPr>
            <a:r>
              <a:rPr lang="en-US" sz="3000" dirty="0">
                <a:solidFill>
                  <a:srgbClr val="1C3A32"/>
                </a:solidFill>
                <a:latin typeface="Georgia" pitchFamily="34" charset="0"/>
                <a:ea typeface="Georgia" pitchFamily="34" charset="-122"/>
                <a:cs typeface="Georgia" pitchFamily="34" charset="-120"/>
              </a:rPr>
              <a:t>What is new money, and what is not</a:t>
            </a:r>
            <a:endParaRPr lang="en-US" sz="3000" dirty="0"/>
          </a:p>
        </p:txBody>
      </p:sp>
      <p:sp>
        <p:nvSpPr>
          <p:cNvPr id="3" name="Text 1"/>
          <p:cNvSpPr/>
          <p:nvPr/>
        </p:nvSpPr>
        <p:spPr>
          <a:xfrm>
            <a:off x="502920" y="768096"/>
            <a:ext cx="10972800" cy="292608"/>
          </a:xfrm>
          <a:prstGeom prst="rect">
            <a:avLst/>
          </a:prstGeom>
          <a:noFill/>
          <a:ln/>
        </p:spPr>
        <p:txBody>
          <a:bodyPr wrap="square" lIns="0" tIns="0" rIns="0" bIns="0" rtlCol="0" anchor="ctr"/>
          <a:lstStyle/>
          <a:p>
            <a:pPr indent="0" marL="0">
              <a:buNone/>
            </a:pPr>
            <a:r>
              <a:rPr lang="en-US" sz="1500" dirty="0">
                <a:solidFill>
                  <a:srgbClr val="1E2A26"/>
                </a:solidFill>
                <a:latin typeface="Calibri" pitchFamily="34" charset="0"/>
                <a:ea typeface="Calibri" pitchFamily="34" charset="-122"/>
                <a:cs typeface="Calibri" pitchFamily="34" charset="-120"/>
              </a:rPr>
              <a:t>The Subsplash bill for the app, giving, and sermons stays on both options. These rows are only the website.</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11338560" cy="4983480"/>
        </p:xfrm>
        <a:graphic>
          <a:graphicData uri="http://schemas.openxmlformats.org/drawingml/2006/table">
            <a:tbl>
              <a:tblPr/>
              <a:tblGrid>
                <a:gridCol w="2103120"/>
                <a:gridCol w="4617720"/>
                <a:gridCol w="4617720"/>
              </a:tblGrid>
              <a:tr h="830580">
                <a:tc>
                  <a:txBody>
                    <a:bodyPr/>
                    <a:lstStyle/>
                    <a:p>
                      <a:pPr algn="l" indent="0" marL="0">
                        <a:buNone/>
                      </a:pPr>
                      <a:r>
                        <a:rPr lang="en-US" sz="1300" b="1" dirty="0">
                          <a:solidFill>
                            <a:srgbClr val="F6F1E7"/>
                          </a:solidFill>
                          <a:latin typeface="Calibri" pitchFamily="34" charset="0"/>
                          <a:ea typeface="Calibri" pitchFamily="34" charset="-122"/>
                          <a:cs typeface="Calibri" pitchFamily="34" charset="-120"/>
                        </a:rPr>
                        <a:t>Website cost</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1C3A32"/>
                    </a:solidFill>
                  </a:tcPr>
                </a:tc>
                <a:tc>
                  <a:txBody>
                    <a:bodyPr/>
                    <a:lstStyle/>
                    <a:p>
                      <a:pPr algn="l" indent="0" marL="0">
                        <a:buNone/>
                      </a:pPr>
                      <a:r>
                        <a:rPr lang="en-US" sz="1300" b="1" dirty="0">
                          <a:solidFill>
                            <a:srgbClr val="F6F1E7"/>
                          </a:solidFill>
                          <a:latin typeface="Calibri" pitchFamily="34" charset="0"/>
                          <a:ea typeface="Calibri" pitchFamily="34" charset="-122"/>
                          <a:cs typeface="Calibri" pitchFamily="34" charset="-120"/>
                        </a:rPr>
                        <a:t>Option 1  ·  Tina</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1C3A32"/>
                    </a:solidFill>
                  </a:tcPr>
                </a:tc>
                <a:tc>
                  <a:txBody>
                    <a:bodyPr/>
                    <a:lstStyle/>
                    <a:p>
                      <a:pPr algn="l" indent="0" marL="0">
                        <a:buNone/>
                      </a:pPr>
                      <a:r>
                        <a:rPr lang="en-US" sz="1300" b="1" dirty="0">
                          <a:solidFill>
                            <a:srgbClr val="F6F1E7"/>
                          </a:solidFill>
                          <a:latin typeface="Calibri" pitchFamily="34" charset="0"/>
                          <a:ea typeface="Calibri" pitchFamily="34" charset="-122"/>
                          <a:cs typeface="Calibri" pitchFamily="34" charset="-120"/>
                        </a:rPr>
                        <a:t>Option 2  ·  SnapPages</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1C3A32"/>
                    </a:solidFill>
                  </a:tcPr>
                </a:tc>
              </a:tr>
              <a:tr h="83058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Editor software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Free. Two people only. A third login is not on this plan.</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No separate editor fee. Uses the Subsplash websites seat the church already has.</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r>
              <a:tr h="83058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Hosting</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Vercel, already running the preview. Budget $0 extra on the current team, or $20 a month if a new Pro seat is required.</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Included with SnapPages. Hosting is Subsplash.</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r>
              <a:tr h="83058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Rebuild</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The site is already built. Remaining work is finishing Tina and training the office.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Full rebuild by hand. The designed pages cannot be imported. That is staff or vendor time, not a listed monthly fee.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r>
              <a:tr h="83058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Published list price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Free tier, checked 28 September 2026 at tina.io/pricing. It stops at 2 users.</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SnapPages names Basic and Advanced plans and does not publish the dollars. Subsplash One is a custom quote.</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3EEE4"/>
                    </a:solidFill>
                  </a:tcPr>
                </a:tc>
              </a:tr>
              <a:tr h="83058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Year-one website cash</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$0 for Tina. Hosting is $0 to $240 a year, plus time to finish the editor.</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$0 of new software if the current websites seat covers it. The cost is the rebuild.</a:t>
                      </a:r>
                      <a:endParaRPr lang="en-US" sz="1300" dirty="0">
                        <a:latin typeface="Calibri" charset="0"/>
                        <a:ea typeface="Calibri" charset="0"/>
                        <a:cs typeface="Calibri" charset="0"/>
                      </a:endParaRPr>
                    </a:p>
                  </a:txBody>
                  <a:tcPr marL="76200" marR="76200" marT="76200" marB="76200" anchor="ctr">
                    <a:lnL w="12700" cap="flat" cmpd="sng" algn="ctr">
                      <a:solidFill>
                        <a:srgbClr val="F6F1E7"/>
                      </a:solidFill>
                      <a:prstDash val="solid"/>
                      <a:round/>
                      <a:headEnd type="none" w="med" len="med"/>
                      <a:tailEnd type="none" w="med" len="med"/>
                    </a:lnL>
                    <a:lnR w="12700" cap="flat" cmpd="sng" algn="ctr">
                      <a:solidFill>
                        <a:srgbClr val="F6F1E7"/>
                      </a:solidFill>
                      <a:prstDash val="solid"/>
                      <a:round/>
                      <a:headEnd type="none" w="med" len="med"/>
                      <a:tailEnd type="none" w="med" len="med"/>
                    </a:lnR>
                    <a:lnT w="12700" cap="flat" cmpd="sng" algn="ctr">
                      <a:solidFill>
                        <a:srgbClr val="F6F1E7"/>
                      </a:solidFill>
                      <a:prstDash val="solid"/>
                      <a:round/>
                      <a:headEnd type="none" w="med" len="med"/>
                      <a:tailEnd type="none" w="med" len="med"/>
                    </a:lnT>
                    <a:lnB w="12700" cap="flat" cmpd="sng" algn="ctr">
                      <a:solidFill>
                        <a:srgbClr val="F6F1E7"/>
                      </a:solidFill>
                      <a:prstDash val="solid"/>
                      <a:round/>
                      <a:headEnd type="none" w="med" len="med"/>
                      <a:tailEnd type="none" w="med" len="med"/>
                    </a:lnB>
                    <a:solidFill>
                      <a:srgbClr val="FFFFFF"/>
                    </a:solidFill>
                  </a:tcPr>
                </a:tc>
              </a:tr>
            </a:tbl>
          </a:graphicData>
        </a:graphic>
      </p:graphicFrame>
      <p:sp>
        <p:nvSpPr>
          <p:cNvPr id="5" name="Text 2"/>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Calvary Chapel Frederick  ·  Public website options  ·  28 September 2026</a:t>
            </a:r>
            <a:endParaRPr lang="en-US" sz="1100" dirty="0"/>
          </a:p>
        </p:txBody>
      </p:sp>
      <p:sp>
        <p:nvSpPr>
          <p:cNvPr id="6" name="Text 3"/>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20040"/>
            <a:ext cx="10972800" cy="438912"/>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How a normal week feels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11338560" cy="5029200"/>
        </p:xfrm>
        <a:graphic>
          <a:graphicData uri="http://schemas.openxmlformats.org/drawingml/2006/table">
            <a:tbl>
              <a:tblPr/>
              <a:tblGrid>
                <a:gridCol w="2468880"/>
                <a:gridCol w="4434840"/>
                <a:gridCol w="4434840"/>
              </a:tblGrid>
              <a:tr h="838200">
                <a:tc>
                  <a:txBody>
                    <a:bodyPr/>
                    <a:lstStyle/>
                    <a:p>
                      <a:pPr algn="l" indent="0" marL="0">
                        <a:buNone/>
                      </a:pPr>
                      <a:r>
                        <a:rPr lang="en-US" sz="1400" b="1" dirty="0">
                          <a:solidFill>
                            <a:srgbClr val="F6F1E7"/>
                          </a:solidFill>
                          <a:latin typeface="Calibri" pitchFamily="34" charset="0"/>
                          <a:ea typeface="Calibri" pitchFamily="34" charset="-122"/>
                          <a:cs typeface="Calibri" pitchFamily="34" charset="-120"/>
                        </a:rPr>
                        <a:t>Job</a:t>
                      </a:r>
                      <a:endParaRPr lang="en-US" sz="14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1C3A32"/>
                    </a:solidFill>
                  </a:tcPr>
                </a:tc>
                <a:tc>
                  <a:txBody>
                    <a:bodyPr/>
                    <a:lstStyle/>
                    <a:p>
                      <a:pPr algn="l" indent="0" marL="0">
                        <a:buNone/>
                      </a:pPr>
                      <a:r>
                        <a:rPr lang="en-US" sz="1400" b="1" dirty="0">
                          <a:solidFill>
                            <a:srgbClr val="F6F1E7"/>
                          </a:solidFill>
                          <a:latin typeface="Calibri" pitchFamily="34" charset="0"/>
                          <a:ea typeface="Calibri" pitchFamily="34" charset="-122"/>
                          <a:cs typeface="Calibri" pitchFamily="34" charset="-120"/>
                        </a:rPr>
                        <a:t>Tina</a:t>
                      </a:r>
                      <a:endParaRPr lang="en-US" sz="14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1C3A32"/>
                    </a:solidFill>
                  </a:tcPr>
                </a:tc>
                <a:tc>
                  <a:txBody>
                    <a:bodyPr/>
                    <a:lstStyle/>
                    <a:p>
                      <a:pPr algn="l" indent="0" marL="0">
                        <a:buNone/>
                      </a:pPr>
                      <a:r>
                        <a:rPr lang="en-US" sz="1400" b="1" dirty="0">
                          <a:solidFill>
                            <a:srgbClr val="F6F1E7"/>
                          </a:solidFill>
                          <a:latin typeface="Calibri" pitchFamily="34" charset="0"/>
                          <a:ea typeface="Calibri" pitchFamily="34" charset="-122"/>
                          <a:cs typeface="Calibri" pitchFamily="34" charset="-120"/>
                        </a:rPr>
                        <a:t>SnapPages</a:t>
                      </a:r>
                      <a:endParaRPr lang="en-US" sz="14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1C3A32"/>
                    </a:solidFill>
                  </a:tcPr>
                </a:tc>
              </a:tr>
              <a:tr h="83820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Change Sunday’s time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Click the time on the homepage. Type the new time. Save.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Open the SnapPages block and edit the text.</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r>
              <a:tr h="83820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New sermon video</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Subsplash. Same as today.</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Subsplash. Same as today.</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r>
              <a:tr h="83820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New bulletin PDF</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Aaron places the file. The office pastes the path.</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Upload into SnapPages storage and link it.</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r>
              <a:tr h="83820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Rewrite a ministry page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Open that page in Tina and edit on the page.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Edit the section in the theme.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FFFFF"/>
                    </a:solidFill>
                  </a:tcPr>
                </a:tc>
              </a:tr>
              <a:tr h="838200">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Change the look of Home</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A developer, in the project.</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c>
                  <a:txBody>
                    <a:bodyPr/>
                    <a:lstStyle/>
                    <a:p>
                      <a:pPr algn="l" indent="0" marL="0">
                        <a:buNone/>
                      </a:pPr>
                      <a:r>
                        <a:rPr lang="en-US" sz="1300" dirty="0">
                          <a:solidFill>
                            <a:srgbClr val="1E2A26"/>
                          </a:solidFill>
                          <a:latin typeface="Calibri" pitchFamily="34" charset="0"/>
                          <a:ea typeface="Calibri" pitchFamily="34" charset="-122"/>
                          <a:cs typeface="Calibri" pitchFamily="34" charset="-120"/>
                        </a:rPr>
                        <a:t>Whatever the theme allows. Custom layout is unsupported.</a:t>
                      </a:r>
                      <a:endParaRPr lang="en-US" sz="1300" dirty="0">
                        <a:latin typeface="Calibri" charset="0"/>
                        <a:ea typeface="Calibri" charset="0"/>
                        <a:cs typeface="Calibri" charset="0"/>
                      </a:endParaRPr>
                    </a:p>
                  </a:txBody>
                  <a:tcPr marL="76200" marR="76200" marT="76200" marB="76200" anchor="ctr">
                    <a:lnL w="12700" cap="flat" cmpd="sng" algn="ctr">
                      <a:solidFill>
                        <a:srgbClr val="666666"/>
                      </a:solidFill>
                      <a:prstDash val="solid"/>
                      <a:round/>
                      <a:headEnd type="none" w="med" len="med"/>
                      <a:tailEnd type="none" w="med" len="med"/>
                    </a:lnL>
                    <a:lnR w="12700" cap="flat" cmpd="sng" algn="ctr">
                      <a:solidFill>
                        <a:srgbClr val="666666"/>
                      </a:solidFill>
                      <a:prstDash val="solid"/>
                      <a:round/>
                      <a:headEnd type="none" w="med" len="med"/>
                      <a:tailEnd type="none" w="med" len="med"/>
                    </a:lnR>
                    <a:lnT w="12700" cap="flat" cmpd="sng" algn="ctr">
                      <a:solidFill>
                        <a:srgbClr val="666666"/>
                      </a:solidFill>
                      <a:prstDash val="solid"/>
                      <a:round/>
                      <a:headEnd type="none" w="med" len="med"/>
                      <a:tailEnd type="none" w="med" len="med"/>
                    </a:lnT>
                    <a:lnB w="12700" cap="flat" cmpd="sng" algn="ctr">
                      <a:solidFill>
                        <a:srgbClr val="666666"/>
                      </a:solidFill>
                      <a:prstDash val="solid"/>
                      <a:round/>
                      <a:headEnd type="none" w="med" len="med"/>
                      <a:tailEnd type="none" w="med" len="med"/>
                    </a:lnB>
                    <a:solidFill>
                      <a:srgbClr val="F3EEE4"/>
                    </a:solidFill>
                  </a:tcPr>
                </a:tc>
              </a:tr>
            </a:tbl>
          </a:graphicData>
        </a:graphic>
      </p:graphicFrame>
      <p:sp>
        <p:nvSpPr>
          <p:cNvPr id="4" name="Text 1"/>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Calvary Chapel Frederick  ·  Public website options  ·  28 September 2026</a:t>
            </a:r>
            <a:endParaRPr lang="en-US" sz="1100" dirty="0"/>
          </a:p>
        </p:txBody>
      </p:sp>
      <p:sp>
        <p:nvSpPr>
          <p:cNvPr id="5" name="Text 2"/>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7"/>
        </a:solidFill>
      </p:bgPr>
    </p:bg>
    <p:spTree>
      <p:nvGrpSpPr>
        <p:cNvPr id="1" name=""/>
        <p:cNvGrpSpPr/>
        <p:nvPr/>
      </p:nvGrpSpPr>
      <p:grpSpPr>
        <a:xfrm>
          <a:off x="0" y="0"/>
          <a:ext cx="0" cy="0"/>
          <a:chOff x="0" y="0"/>
          <a:chExt cx="0" cy="0"/>
        </a:xfrm>
      </p:grpSpPr>
      <p:sp>
        <p:nvSpPr>
          <p:cNvPr id="2" name="Text 0"/>
          <p:cNvSpPr/>
          <p:nvPr/>
        </p:nvSpPr>
        <p:spPr>
          <a:xfrm>
            <a:off x="502920" y="347472"/>
            <a:ext cx="10972800" cy="457200"/>
          </a:xfrm>
          <a:prstGeom prst="rect">
            <a:avLst/>
          </a:prstGeom>
          <a:noFill/>
          <a:ln/>
        </p:spPr>
        <p:txBody>
          <a:bodyPr wrap="square" lIns="0" tIns="0" rIns="0" bIns="0" rtlCol="0" anchor="ctr"/>
          <a:lstStyle/>
          <a:p>
            <a:pPr indent="0" marL="0">
              <a:buNone/>
            </a:pPr>
            <a:r>
              <a:rPr lang="en-US" sz="3200" dirty="0">
                <a:solidFill>
                  <a:srgbClr val="1C3A32"/>
                </a:solidFill>
                <a:latin typeface="Georgia" pitchFamily="34" charset="0"/>
                <a:ea typeface="Georgia" pitchFamily="34" charset="-122"/>
                <a:cs typeface="Georgia" pitchFamily="34" charset="-120"/>
              </a:rPr>
              <a:t>How to read the numbers</a:t>
            </a:r>
            <a:endParaRPr lang="en-US" sz="3200" dirty="0"/>
          </a:p>
        </p:txBody>
      </p:sp>
      <p:sp>
        <p:nvSpPr>
          <p:cNvPr id="3" name="Text 1"/>
          <p:cNvSpPr/>
          <p:nvPr/>
        </p:nvSpPr>
        <p:spPr>
          <a:xfrm>
            <a:off x="502920" y="1005840"/>
            <a:ext cx="3749040" cy="777240"/>
          </a:xfrm>
          <a:prstGeom prst="rect">
            <a:avLst/>
          </a:prstGeom>
          <a:noFill/>
          <a:ln/>
        </p:spPr>
        <p:txBody>
          <a:bodyPr wrap="square" lIns="0" tIns="0" rIns="0" bIns="0" rtlCol="0" anchor="t"/>
          <a:lstStyle/>
          <a:p>
            <a:pPr indent="0" marL="0">
              <a:buNone/>
            </a:pPr>
            <a:r>
              <a:rPr lang="en-US" sz="1600" dirty="0">
                <a:solidFill>
                  <a:srgbClr val="1C3A32"/>
                </a:solidFill>
                <a:latin typeface="Georgia" pitchFamily="34" charset="0"/>
                <a:ea typeface="Georgia" pitchFamily="34" charset="-122"/>
                <a:cs typeface="Georgia" pitchFamily="34" charset="-120"/>
              </a:rPr>
              <a:t>Tina is free for two people.</a:t>
            </a:r>
            <a:endParaRPr lang="en-US" sz="1600" dirty="0"/>
          </a:p>
        </p:txBody>
      </p:sp>
      <p:sp>
        <p:nvSpPr>
          <p:cNvPr id="4" name="Text 2"/>
          <p:cNvSpPr/>
          <p:nvPr/>
        </p:nvSpPr>
        <p:spPr>
          <a:xfrm>
            <a:off x="4389120" y="1005840"/>
            <a:ext cx="7223760" cy="822960"/>
          </a:xfrm>
          <a:prstGeom prst="rect">
            <a:avLst/>
          </a:prstGeom>
          <a:noFill/>
          <a:ln/>
        </p:spPr>
        <p:txBody>
          <a:bodyPr wrap="square" lIns="0" tIns="0" rIns="0" bIns="0" rtlCol="0" anchor="t"/>
          <a:lstStyle/>
          <a:p>
            <a:pPr indent="0" marL="0">
              <a:buNone/>
            </a:pPr>
            <a:r>
              <a:rPr lang="en-US" sz="1500" dirty="0">
                <a:solidFill>
                  <a:srgbClr val="1E2A26"/>
                </a:solidFill>
                <a:latin typeface="Calibri" pitchFamily="34" charset="0"/>
                <a:ea typeface="Calibri" pitchFamily="34" charset="-122"/>
                <a:cs typeface="Calibri" pitchFamily="34" charset="-120"/>
              </a:rPr>
              <a:t>The free plan is $0 and stops at 2 users. A third person is a paid upgrade, and this comparison does not include it. Checked 28 September 2026 at tina.io/pricing.</a:t>
            </a:r>
            <a:endParaRPr lang="en-US" sz="1500" dirty="0"/>
          </a:p>
        </p:txBody>
      </p:sp>
      <p:sp>
        <p:nvSpPr>
          <p:cNvPr id="5" name="Text 3"/>
          <p:cNvSpPr/>
          <p:nvPr/>
        </p:nvSpPr>
        <p:spPr>
          <a:xfrm>
            <a:off x="502920" y="1965960"/>
            <a:ext cx="3749040" cy="777240"/>
          </a:xfrm>
          <a:prstGeom prst="rect">
            <a:avLst/>
          </a:prstGeom>
          <a:noFill/>
          <a:ln/>
        </p:spPr>
        <p:txBody>
          <a:bodyPr wrap="square" lIns="0" tIns="0" rIns="0" bIns="0" rtlCol="0" anchor="t"/>
          <a:lstStyle/>
          <a:p>
            <a:pPr indent="0" marL="0">
              <a:buNone/>
            </a:pPr>
            <a:r>
              <a:rPr lang="en-US" sz="1600" dirty="0">
                <a:solidFill>
                  <a:srgbClr val="1C3A32"/>
                </a:solidFill>
                <a:latin typeface="Georgia" pitchFamily="34" charset="0"/>
                <a:ea typeface="Georgia" pitchFamily="34" charset="-122"/>
                <a:cs typeface="Georgia" pitchFamily="34" charset="-120"/>
              </a:rPr>
              <a:t>SnapPages is already in the house.</a:t>
            </a:r>
            <a:endParaRPr lang="en-US" sz="1600" dirty="0"/>
          </a:p>
        </p:txBody>
      </p:sp>
      <p:sp>
        <p:nvSpPr>
          <p:cNvPr id="6" name="Text 4"/>
          <p:cNvSpPr/>
          <p:nvPr/>
        </p:nvSpPr>
        <p:spPr>
          <a:xfrm>
            <a:off x="4389120" y="1965960"/>
            <a:ext cx="7223760" cy="822960"/>
          </a:xfrm>
          <a:prstGeom prst="rect">
            <a:avLst/>
          </a:prstGeom>
          <a:noFill/>
          <a:ln/>
        </p:spPr>
        <p:txBody>
          <a:bodyPr wrap="square" lIns="0" tIns="0" rIns="0" bIns="0" rtlCol="0" anchor="t"/>
          <a:lstStyle/>
          <a:p>
            <a:pPr indent="0" marL="0">
              <a:buNone/>
            </a:pPr>
            <a:r>
              <a:rPr lang="en-US" sz="1500" dirty="0">
                <a:solidFill>
                  <a:srgbClr val="1E2A26"/>
                </a:solidFill>
                <a:latin typeface="Calibri" pitchFamily="34" charset="0"/>
                <a:ea typeface="Calibri" pitchFamily="34" charset="-122"/>
                <a:cs typeface="Calibri" pitchFamily="34" charset="-120"/>
              </a:rPr>
              <a:t>The holding site proves a websites seat. SnapPages does not publish a dollar price. Do not budget a new website subscription until the Subsplash invoice is checked.</a:t>
            </a:r>
            <a:endParaRPr lang="en-US" sz="1500" dirty="0"/>
          </a:p>
        </p:txBody>
      </p:sp>
      <p:sp>
        <p:nvSpPr>
          <p:cNvPr id="7" name="Text 5"/>
          <p:cNvSpPr/>
          <p:nvPr/>
        </p:nvSpPr>
        <p:spPr>
          <a:xfrm>
            <a:off x="502920" y="2926080"/>
            <a:ext cx="3749040" cy="777240"/>
          </a:xfrm>
          <a:prstGeom prst="rect">
            <a:avLst/>
          </a:prstGeom>
          <a:noFill/>
          <a:ln/>
        </p:spPr>
        <p:txBody>
          <a:bodyPr wrap="square" lIns="0" tIns="0" rIns="0" bIns="0" rtlCol="0" anchor="t"/>
          <a:lstStyle/>
          <a:p>
            <a:pPr indent="0" marL="0">
              <a:buNone/>
            </a:pPr>
            <a:r>
              <a:rPr lang="en-US" sz="1600" dirty="0">
                <a:solidFill>
                  <a:srgbClr val="1C3A32"/>
                </a:solidFill>
                <a:latin typeface="Georgia" pitchFamily="34" charset="0"/>
                <a:ea typeface="Georgia" pitchFamily="34" charset="-122"/>
                <a:cs typeface="Georgia" pitchFamily="34" charset="-120"/>
              </a:rPr>
              <a:t>Do not subtract Subsplash.</a:t>
            </a:r>
            <a:endParaRPr lang="en-US" sz="1600" dirty="0"/>
          </a:p>
        </p:txBody>
      </p:sp>
      <p:sp>
        <p:nvSpPr>
          <p:cNvPr id="8" name="Text 6"/>
          <p:cNvSpPr/>
          <p:nvPr/>
        </p:nvSpPr>
        <p:spPr>
          <a:xfrm>
            <a:off x="4389120" y="2926080"/>
            <a:ext cx="7223760" cy="822960"/>
          </a:xfrm>
          <a:prstGeom prst="rect">
            <a:avLst/>
          </a:prstGeom>
          <a:noFill/>
          <a:ln/>
        </p:spPr>
        <p:txBody>
          <a:bodyPr wrap="square" lIns="0" tIns="0" rIns="0" bIns="0" rtlCol="0" anchor="t"/>
          <a:lstStyle/>
          <a:p>
            <a:pPr indent="0" marL="0">
              <a:buNone/>
            </a:pPr>
            <a:r>
              <a:rPr lang="en-US" sz="1500" dirty="0">
                <a:solidFill>
                  <a:srgbClr val="1E2A26"/>
                </a:solidFill>
                <a:latin typeface="Calibri" pitchFamily="34" charset="0"/>
                <a:ea typeface="Calibri" pitchFamily="34" charset="-122"/>
                <a:cs typeface="Calibri" pitchFamily="34" charset="-120"/>
              </a:rPr>
              <a:t>Choosing Tina does not cancel the app, giving, or media. If websites are bundled into Subsplash One, that line may stay even when the public site lives outside it.</a:t>
            </a:r>
            <a:endParaRPr lang="en-US" sz="1500" dirty="0"/>
          </a:p>
        </p:txBody>
      </p:sp>
      <p:sp>
        <p:nvSpPr>
          <p:cNvPr id="9" name="Text 7"/>
          <p:cNvSpPr/>
          <p:nvPr/>
        </p:nvSpPr>
        <p:spPr>
          <a:xfrm>
            <a:off x="502920" y="3886200"/>
            <a:ext cx="3749040" cy="777240"/>
          </a:xfrm>
          <a:prstGeom prst="rect">
            <a:avLst/>
          </a:prstGeom>
          <a:noFill/>
          <a:ln/>
        </p:spPr>
        <p:txBody>
          <a:bodyPr wrap="square" lIns="0" tIns="0" rIns="0" bIns="0" rtlCol="0" anchor="t"/>
          <a:lstStyle/>
          <a:p>
            <a:pPr indent="0" marL="0">
              <a:buNone/>
            </a:pPr>
            <a:r>
              <a:rPr lang="en-US" sz="1600" dirty="0">
                <a:solidFill>
                  <a:srgbClr val="1C3A32"/>
                </a:solidFill>
                <a:latin typeface="Georgia" pitchFamily="34" charset="0"/>
                <a:ea typeface="Georgia" pitchFamily="34" charset="-122"/>
                <a:cs typeface="Georgia" pitchFamily="34" charset="-120"/>
              </a:rPr>
              <a:t>Giving fees are not a tie-breaker.</a:t>
            </a:r>
            <a:endParaRPr lang="en-US" sz="1600" dirty="0"/>
          </a:p>
        </p:txBody>
      </p:sp>
      <p:sp>
        <p:nvSpPr>
          <p:cNvPr id="10" name="Text 8"/>
          <p:cNvSpPr/>
          <p:nvPr/>
        </p:nvSpPr>
        <p:spPr>
          <a:xfrm>
            <a:off x="4389120" y="3886200"/>
            <a:ext cx="7223760" cy="822960"/>
          </a:xfrm>
          <a:prstGeom prst="rect">
            <a:avLst/>
          </a:prstGeom>
          <a:noFill/>
          <a:ln/>
        </p:spPr>
        <p:txBody>
          <a:bodyPr wrap="square" lIns="0" tIns="0" rIns="0" bIns="0" rtlCol="0" anchor="t"/>
          <a:lstStyle/>
          <a:p>
            <a:pPr indent="0" marL="0">
              <a:buNone/>
            </a:pPr>
            <a:r>
              <a:rPr lang="en-US" sz="1500" dirty="0">
                <a:solidFill>
                  <a:srgbClr val="1E2A26"/>
                </a:solidFill>
                <a:latin typeface="Calibri" pitchFamily="34" charset="0"/>
                <a:ea typeface="Calibri" pitchFamily="34" charset="-122"/>
                <a:cs typeface="Calibri" pitchFamily="34" charset="-120"/>
              </a:rPr>
              <a:t>Card 2.3% + $0.30 and ACH 1.0% were the live rates on 16 August 2026. Both options keep that processor.</a:t>
            </a:r>
            <a:endParaRPr lang="en-US" sz="1500" dirty="0"/>
          </a:p>
        </p:txBody>
      </p:sp>
      <p:sp>
        <p:nvSpPr>
          <p:cNvPr id="11" name="Text 9"/>
          <p:cNvSpPr/>
          <p:nvPr/>
        </p:nvSpPr>
        <p:spPr>
          <a:xfrm>
            <a:off x="502920" y="4846320"/>
            <a:ext cx="3749040" cy="777240"/>
          </a:xfrm>
          <a:prstGeom prst="rect">
            <a:avLst/>
          </a:prstGeom>
          <a:noFill/>
          <a:ln/>
        </p:spPr>
        <p:txBody>
          <a:bodyPr wrap="square" lIns="0" tIns="0" rIns="0" bIns="0" rtlCol="0" anchor="t"/>
          <a:lstStyle/>
          <a:p>
            <a:pPr indent="0" marL="0">
              <a:buNone/>
            </a:pPr>
            <a:r>
              <a:rPr lang="en-US" sz="1600" dirty="0">
                <a:solidFill>
                  <a:srgbClr val="1C3A32"/>
                </a:solidFill>
                <a:latin typeface="Georgia" pitchFamily="34" charset="0"/>
                <a:ea typeface="Georgia" pitchFamily="34" charset="-122"/>
                <a:cs typeface="Georgia" pitchFamily="34" charset="-120"/>
              </a:rPr>
              <a:t>The real difference is the rebuild.</a:t>
            </a:r>
            <a:endParaRPr lang="en-US" sz="1600" dirty="0"/>
          </a:p>
        </p:txBody>
      </p:sp>
      <p:sp>
        <p:nvSpPr>
          <p:cNvPr id="12" name="Text 10"/>
          <p:cNvSpPr/>
          <p:nvPr/>
        </p:nvSpPr>
        <p:spPr>
          <a:xfrm>
            <a:off x="4389120" y="4846320"/>
            <a:ext cx="7223760" cy="822960"/>
          </a:xfrm>
          <a:prstGeom prst="rect">
            <a:avLst/>
          </a:prstGeom>
          <a:noFill/>
          <a:ln/>
        </p:spPr>
        <p:txBody>
          <a:bodyPr wrap="square" lIns="0" tIns="0" rIns="0" bIns="0" rtlCol="0" anchor="t"/>
          <a:lstStyle/>
          <a:p>
            <a:pPr indent="0" marL="0">
              <a:buNone/>
            </a:pPr>
            <a:r>
              <a:rPr lang="en-US" sz="1500" dirty="0">
                <a:solidFill>
                  <a:srgbClr val="1E2A26"/>
                </a:solidFill>
                <a:latin typeface="Calibri" pitchFamily="34" charset="0"/>
                <a:ea typeface="Calibri" pitchFamily="34" charset="-122"/>
                <a:cs typeface="Calibri" pitchFamily="34" charset="-120"/>
              </a:rPr>
              <a:t>Option 1 keeps the site that exists, with no editor fee for two people. Option 2 spends the rebuild to put the website inside the login the church already trusts.</a:t>
            </a:r>
            <a:endParaRPr lang="en-US" sz="1500" dirty="0"/>
          </a:p>
        </p:txBody>
      </p:sp>
      <p:sp>
        <p:nvSpPr>
          <p:cNvPr id="13" name="Text 11"/>
          <p:cNvSpPr/>
          <p:nvPr/>
        </p:nvSpPr>
        <p:spPr>
          <a:xfrm>
            <a:off x="502920" y="6510528"/>
            <a:ext cx="9326880" cy="219456"/>
          </a:xfrm>
          <a:prstGeom prst="rect">
            <a:avLst/>
          </a:prstGeom>
          <a:noFill/>
          <a:ln/>
        </p:spPr>
        <p:txBody>
          <a:bodyPr wrap="square" lIns="0" tIns="0" rIns="0" bIns="0" rtlCol="0" anchor="ctr"/>
          <a:lstStyle/>
          <a:p>
            <a:pPr indent="0" marL="0">
              <a:buNone/>
            </a:pPr>
            <a:r>
              <a:rPr lang="en-US" sz="1100" dirty="0">
                <a:solidFill>
                  <a:srgbClr val="5C6B64"/>
                </a:solidFill>
                <a:latin typeface="Calibri" pitchFamily="34" charset="0"/>
                <a:ea typeface="Calibri" pitchFamily="34" charset="-122"/>
                <a:cs typeface="Calibri" pitchFamily="34" charset="-120"/>
              </a:rPr>
              <a:t>Calvary Chapel Frederick  ·  Public website options  ·  28 September 2026</a:t>
            </a:r>
            <a:endParaRPr lang="en-US" sz="1100" dirty="0"/>
          </a:p>
        </p:txBody>
      </p:sp>
      <p:sp>
        <p:nvSpPr>
          <p:cNvPr id="14" name="Text 12"/>
          <p:cNvSpPr/>
          <p:nvPr/>
        </p:nvSpPr>
        <p:spPr>
          <a:xfrm>
            <a:off x="11155680" y="6510528"/>
            <a:ext cx="502920" cy="219456"/>
          </a:xfrm>
          <a:prstGeom prst="rect">
            <a:avLst/>
          </a:prstGeom>
          <a:noFill/>
          <a:ln/>
        </p:spPr>
        <p:txBody>
          <a:bodyPr wrap="square" lIns="0" tIns="0" rIns="0" bIns="0" rtlCol="0" anchor="ctr"/>
          <a:lstStyle/>
          <a:p>
            <a:pPr algn="r" indent="0" marL="0">
              <a:buNone/>
            </a:pPr>
            <a:r>
              <a:rPr lang="en-US" sz="1100" dirty="0">
                <a:solidFill>
                  <a:srgbClr val="5C6B64"/>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the public website should live</dc:title>
  <dc:subject>Tina CMS and SnapPages, September 2026</dc:subject>
  <dc:creator>Calvary Chapel Frederick</dc:creator>
  <cp:lastModifiedBy>Calvary Chapel Frederick</cp:lastModifiedBy>
  <cp:revision>1</cp:revision>
  <dcterms:created xsi:type="dcterms:W3CDTF">2026-09-28T17:21:12Z</dcterms:created>
  <dcterms:modified xsi:type="dcterms:W3CDTF">2026-09-28T17:21:12Z</dcterms:modified>
</cp:coreProperties>
</file>