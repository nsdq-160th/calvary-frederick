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82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A68445"/>
          </a:solidFill>
          <a:ln/>
        </p:spPr>
      </p:sp>
      <p:sp>
        <p:nvSpPr>
          <p:cNvPr id="3" name="Text 1"/>
          <p:cNvSpPr/>
          <p:nvPr/>
        </p:nvSpPr>
        <p:spPr>
          <a:xfrm>
            <a:off x="685800" y="1417320"/>
            <a:ext cx="10058400" cy="292608"/>
          </a:xfrm>
          <a:prstGeom prst="rect">
            <a:avLst/>
          </a:prstGeom>
          <a:noFill/>
          <a:ln/>
        </p:spPr>
        <p:txBody>
          <a:bodyPr wrap="square" lIns="0" tIns="0" rIns="0" bIns="0" rtlCol="0" anchor="ctr"/>
          <a:lstStyle/>
          <a:p>
            <a:pPr indent="0" marL="0">
              <a:buNone/>
            </a:pPr>
            <a:r>
              <a:rPr lang="en-US" sz="1400" spc="220" kern="0" dirty="0">
                <a:solidFill>
                  <a:srgbClr val="A68445"/>
                </a:solidFill>
                <a:latin typeface="Calibri" pitchFamily="34" charset="0"/>
                <a:ea typeface="Calibri" pitchFamily="34" charset="-122"/>
                <a:cs typeface="Calibri" pitchFamily="34" charset="-120"/>
              </a:rPr>
              <a:t>CALVARY CHAPEL FREDERICK</a:t>
            </a:r>
            <a:endParaRPr lang="en-US" sz="1400" dirty="0"/>
          </a:p>
        </p:txBody>
      </p:sp>
      <p:sp>
        <p:nvSpPr>
          <p:cNvPr id="4" name="Text 2"/>
          <p:cNvSpPr/>
          <p:nvPr/>
        </p:nvSpPr>
        <p:spPr>
          <a:xfrm>
            <a:off x="685800" y="1874520"/>
            <a:ext cx="10058400" cy="1920240"/>
          </a:xfrm>
          <a:prstGeom prst="rect">
            <a:avLst/>
          </a:prstGeom>
          <a:noFill/>
          <a:ln/>
        </p:spPr>
        <p:txBody>
          <a:bodyPr wrap="square" lIns="0" tIns="0" rIns="0" bIns="0" rtlCol="0" anchor="ctr"/>
          <a:lstStyle/>
          <a:p>
            <a:pPr indent="0" marL="0">
              <a:buNone/>
            </a:pPr>
            <a:r>
              <a:rPr lang="en-US" sz="4800" dirty="0">
                <a:solidFill>
                  <a:srgbClr val="F6F1E7"/>
                </a:solidFill>
                <a:latin typeface="Georgia" pitchFamily="34" charset="0"/>
                <a:ea typeface="Georgia" pitchFamily="34" charset="-122"/>
                <a:cs typeface="Georgia" pitchFamily="34" charset="-120"/>
              </a:rPr>
              <a:t>Where the public website</a:t>
            </a:r>
            <a:endParaRPr lang="en-US" sz="4800" dirty="0"/>
          </a:p>
          <a:p>
            <a:pPr indent="0" marL="0">
              <a:buNone/>
            </a:pPr>
            <a:r>
              <a:rPr lang="en-US" sz="4800" dirty="0">
                <a:solidFill>
                  <a:srgbClr val="F6F1E7"/>
                </a:solidFill>
                <a:latin typeface="Georgia" pitchFamily="34" charset="0"/>
                <a:ea typeface="Georgia" pitchFamily="34" charset="-122"/>
                <a:cs typeface="Georgia" pitchFamily="34" charset="-120"/>
              </a:rPr>
              <a:t>should live</a:t>
            </a:r>
            <a:endParaRPr lang="en-US" sz="4800" dirty="0"/>
          </a:p>
        </p:txBody>
      </p:sp>
      <p:sp>
        <p:nvSpPr>
          <p:cNvPr id="5" name="Text 3"/>
          <p:cNvSpPr/>
          <p:nvPr/>
        </p:nvSpPr>
        <p:spPr>
          <a:xfrm>
            <a:off x="685800" y="4023360"/>
            <a:ext cx="8686800" cy="457200"/>
          </a:xfrm>
          <a:prstGeom prst="rect">
            <a:avLst/>
          </a:prstGeom>
          <a:noFill/>
          <a:ln/>
        </p:spPr>
        <p:txBody>
          <a:bodyPr wrap="square" lIns="0" tIns="0" rIns="0" bIns="0" rtlCol="0" anchor="ctr"/>
          <a:lstStyle/>
          <a:p>
            <a:pPr indent="0" marL="0">
              <a:buNone/>
            </a:pPr>
            <a:r>
              <a:rPr lang="en-US" sz="1800" dirty="0">
                <a:solidFill>
                  <a:srgbClr val="D9D0C2"/>
                </a:solidFill>
                <a:latin typeface="Calibri" pitchFamily="34" charset="0"/>
                <a:ea typeface="Calibri" pitchFamily="34" charset="-122"/>
                <a:cs typeface="Calibri" pitchFamily="34" charset="-120"/>
              </a:rPr>
              <a:t>Two options. The church app, online giving, and sermons stay on Subsplash either way.</a:t>
            </a:r>
            <a:endParaRPr lang="en-US" sz="1800" dirty="0"/>
          </a:p>
        </p:txBody>
      </p:sp>
      <p:sp>
        <p:nvSpPr>
          <p:cNvPr id="6" name="Text 4"/>
          <p:cNvSpPr/>
          <p:nvPr/>
        </p:nvSpPr>
        <p:spPr>
          <a:xfrm>
            <a:off x="685800" y="5989320"/>
            <a:ext cx="7315200" cy="274320"/>
          </a:xfrm>
          <a:prstGeom prst="rect">
            <a:avLst/>
          </a:prstGeom>
          <a:noFill/>
          <a:ln/>
        </p:spPr>
        <p:txBody>
          <a:bodyPr wrap="square" lIns="0" tIns="0" rIns="0" bIns="0" rtlCol="0" anchor="ctr"/>
          <a:lstStyle/>
          <a:p>
            <a:pPr indent="0" marL="0">
              <a:buNone/>
            </a:pPr>
            <a:r>
              <a:rPr lang="en-US" sz="1400" dirty="0">
                <a:solidFill>
                  <a:srgbClr val="A68445"/>
                </a:solidFill>
                <a:latin typeface="Calibri" pitchFamily="34" charset="0"/>
                <a:ea typeface="Calibri" pitchFamily="34" charset="-122"/>
                <a:cs typeface="Calibri" pitchFamily="34" charset="-120"/>
              </a:rPr>
              <a:t>Decision brief  ·  28 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502920" y="347472"/>
            <a:ext cx="10972800" cy="502920"/>
          </a:xfrm>
          <a:prstGeom prst="rect">
            <a:avLst/>
          </a:prstGeom>
          <a:noFill/>
          <a:ln/>
        </p:spPr>
        <p:txBody>
          <a:bodyPr wrap="square" lIns="0" tIns="0" rIns="0" bIns="0" rtlCol="0" anchor="ctr"/>
          <a:lstStyle/>
          <a:p>
            <a:pPr indent="0" marL="0">
              <a:buNone/>
            </a:pPr>
            <a:r>
              <a:rPr lang="en-US" sz="3200" dirty="0">
                <a:solidFill>
                  <a:srgbClr val="1C3A32"/>
                </a:solidFill>
                <a:latin typeface="Georgia" pitchFamily="34" charset="0"/>
                <a:ea typeface="Georgia" pitchFamily="34" charset="-122"/>
                <a:cs typeface="Georgia" pitchFamily="34" charset="-120"/>
              </a:rPr>
              <a:t>The only open question is the front door</a:t>
            </a:r>
            <a:endParaRPr lang="en-US" sz="3200" dirty="0"/>
          </a:p>
        </p:txBody>
      </p:sp>
      <p:sp>
        <p:nvSpPr>
          <p:cNvPr id="3" name="Text 1"/>
          <p:cNvSpPr/>
          <p:nvPr/>
        </p:nvSpPr>
        <p:spPr>
          <a:xfrm>
            <a:off x="502920" y="960120"/>
            <a:ext cx="10972800" cy="411480"/>
          </a:xfrm>
          <a:prstGeom prst="rect">
            <a:avLst/>
          </a:prstGeom>
          <a:noFill/>
          <a:ln/>
        </p:spPr>
        <p:txBody>
          <a:bodyPr wrap="square" lIns="0" tIns="0" rIns="0" bIns="0" rtlCol="0" anchor="ctr"/>
          <a:lstStyle/>
          <a:p>
            <a:pPr indent="0" marL="0">
              <a:buNone/>
            </a:pPr>
            <a:r>
              <a:rPr lang="en-US" sz="1600" dirty="0">
                <a:solidFill>
                  <a:srgbClr val="1E2A26"/>
                </a:solidFill>
                <a:latin typeface="Calibri" pitchFamily="34" charset="0"/>
                <a:ea typeface="Calibri" pitchFamily="34" charset="-122"/>
                <a:cs typeface="Calibri" pitchFamily="34" charset="-120"/>
              </a:rPr>
              <a:t>calvaryfrederick.com is on Squarespace today. Giving, sermons, podcasts, and the app are already Subsplash. This choice does not move those.</a:t>
            </a:r>
            <a:endParaRPr lang="en-US" sz="1600" dirty="0"/>
          </a:p>
        </p:txBody>
      </p:sp>
      <p:sp>
        <p:nvSpPr>
          <p:cNvPr id="4" name="Shape 2"/>
          <p:cNvSpPr/>
          <p:nvPr/>
        </p:nvSpPr>
        <p:spPr>
          <a:xfrm>
            <a:off x="502920" y="1600200"/>
            <a:ext cx="5394960" cy="4526280"/>
          </a:xfrm>
          <a:prstGeom prst="rect">
            <a:avLst/>
          </a:prstGeom>
          <a:solidFill>
            <a:srgbClr val="FFFFFF"/>
          </a:solidFill>
          <a:ln/>
          <a:effectLst>
            <a:outerShdw sx="100000" sy="100000" kx="0" ky="0" algn="bl" rotWithShape="0" blurRad="177800" dist="38100" dir="8100000">
              <a:srgbClr val="1C3A32">
                <a:alpha val="8000"/>
              </a:srgbClr>
            </a:outerShdw>
          </a:effectLst>
        </p:spPr>
      </p:sp>
      <p:sp>
        <p:nvSpPr>
          <p:cNvPr id="5" name="Shape 3"/>
          <p:cNvSpPr/>
          <p:nvPr/>
        </p:nvSpPr>
        <p:spPr>
          <a:xfrm>
            <a:off x="502920" y="1600200"/>
            <a:ext cx="5394960" cy="109728"/>
          </a:xfrm>
          <a:prstGeom prst="rect">
            <a:avLst/>
          </a:prstGeom>
          <a:solidFill>
            <a:srgbClr val="1C3A32"/>
          </a:solidFill>
          <a:ln/>
        </p:spPr>
      </p:sp>
      <p:sp>
        <p:nvSpPr>
          <p:cNvPr id="6" name="Text 4"/>
          <p:cNvSpPr/>
          <p:nvPr/>
        </p:nvSpPr>
        <p:spPr>
          <a:xfrm>
            <a:off x="777240" y="1874520"/>
            <a:ext cx="4846320" cy="256032"/>
          </a:xfrm>
          <a:prstGeom prst="rect">
            <a:avLst/>
          </a:prstGeom>
          <a:noFill/>
          <a:ln/>
        </p:spPr>
        <p:txBody>
          <a:bodyPr wrap="square" lIns="0" tIns="0" rIns="0" bIns="0" rtlCol="0" anchor="ctr"/>
          <a:lstStyle/>
          <a:p>
            <a:pPr indent="0" marL="0">
              <a:buNone/>
            </a:pPr>
            <a:r>
              <a:rPr lang="en-US" sz="1300" spc="140" kern="0" dirty="0">
                <a:solidFill>
                  <a:srgbClr val="A68445"/>
                </a:solidFill>
                <a:latin typeface="Calibri" pitchFamily="34" charset="0"/>
                <a:ea typeface="Calibri" pitchFamily="34" charset="-122"/>
                <a:cs typeface="Calibri" pitchFamily="34" charset="-120"/>
              </a:rPr>
              <a:t>OPTION 1</a:t>
            </a:r>
            <a:endParaRPr lang="en-US" sz="1300" dirty="0"/>
          </a:p>
        </p:txBody>
      </p:sp>
      <p:sp>
        <p:nvSpPr>
          <p:cNvPr id="7" name="Text 5"/>
          <p:cNvSpPr/>
          <p:nvPr/>
        </p:nvSpPr>
        <p:spPr>
          <a:xfrm>
            <a:off x="777240" y="2176272"/>
            <a:ext cx="4846320" cy="777240"/>
          </a:xfrm>
          <a:prstGeom prst="rect">
            <a:avLst/>
          </a:prstGeom>
          <a:noFill/>
          <a:ln/>
        </p:spPr>
        <p:txBody>
          <a:bodyPr wrap="square" lIns="0" tIns="0" rIns="0" bIns="0" rtlCol="0" anchor="ctr"/>
          <a:lstStyle/>
          <a:p>
            <a:pPr indent="0" marL="0">
              <a:buNone/>
            </a:pPr>
            <a:r>
              <a:rPr lang="en-US" sz="2600" dirty="0">
                <a:solidFill>
                  <a:srgbClr val="1C3A32"/>
                </a:solidFill>
                <a:latin typeface="Georgia" pitchFamily="34" charset="0"/>
                <a:ea typeface="Georgia" pitchFamily="34" charset="-122"/>
                <a:cs typeface="Georgia" pitchFamily="34" charset="-120"/>
              </a:rPr>
              <a:t>Tina, on the site already designed</a:t>
            </a:r>
            <a:endParaRPr lang="en-US" sz="2600" dirty="0"/>
          </a:p>
        </p:txBody>
      </p:sp>
      <p:sp>
        <p:nvSpPr>
          <p:cNvPr id="8" name="Text 6"/>
          <p:cNvSpPr/>
          <p:nvPr/>
        </p:nvSpPr>
        <p:spPr>
          <a:xfrm>
            <a:off x="777240" y="3108960"/>
            <a:ext cx="4846320" cy="1371600"/>
          </a:xfrm>
          <a:prstGeom prst="rect">
            <a:avLst/>
          </a:prstGeom>
          <a:noFill/>
          <a:ln/>
        </p:spPr>
        <p:txBody>
          <a:bodyPr wrap="square" lIns="0" tIns="0" rIns="0" bIns="0" rtlCol="0" anchor="ctr"/>
          <a:lstStyle/>
          <a:p>
            <a:pPr indent="0" marL="0">
              <a:buNone/>
            </a:pPr>
            <a:r>
              <a:rPr lang="en-US" sz="1600" dirty="0">
                <a:solidFill>
                  <a:srgbClr val="1E2A26"/>
                </a:solidFill>
                <a:latin typeface="Calibri" pitchFamily="34" charset="0"/>
                <a:ea typeface="Calibri" pitchFamily="34" charset="-122"/>
                <a:cs typeface="Calibri" pitchFamily="34" charset="-120"/>
              </a:rPr>
              <a:t>The public website lives outside Subsplash. The office edits words on the real page in Tina. Sermons, giving, and the app stay in the Subsplash dashboards they use now.</a:t>
            </a:r>
            <a:endParaRPr lang="en-US" sz="1600" dirty="0"/>
          </a:p>
        </p:txBody>
      </p:sp>
      <p:sp>
        <p:nvSpPr>
          <p:cNvPr id="9" name="Text 7"/>
          <p:cNvSpPr/>
          <p:nvPr/>
        </p:nvSpPr>
        <p:spPr>
          <a:xfrm>
            <a:off x="777240" y="4892040"/>
            <a:ext cx="4846320" cy="640080"/>
          </a:xfrm>
          <a:prstGeom prst="rect">
            <a:avLst/>
          </a:prstGeom>
          <a:noFill/>
          <a:ln/>
        </p:spPr>
        <p:txBody>
          <a:bodyPr wrap="square" lIns="0" tIns="0" rIns="0" bIns="0" rtlCol="0" anchor="ctr"/>
          <a:lstStyle/>
          <a:p>
            <a:pPr indent="0" marL="0">
              <a:buNone/>
            </a:pPr>
            <a:r>
              <a:rPr lang="en-US" sz="1500" dirty="0">
                <a:solidFill>
                  <a:srgbClr val="5C6B64"/>
                </a:solidFill>
                <a:latin typeface="Calibri" pitchFamily="34" charset="0"/>
                <a:ea typeface="Calibri" pitchFamily="34" charset="-122"/>
                <a:cs typeface="Calibri" pitchFamily="34" charset="-120"/>
              </a:rPr>
              <a:t>Preview already exists</a:t>
            </a:r>
            <a:endParaRPr lang="en-US" sz="1500" dirty="0"/>
          </a:p>
          <a:p>
            <a:pPr indent="0" marL="0">
              <a:buNone/>
            </a:pPr>
            <a:r>
              <a:rPr lang="en-US" sz="1500" dirty="0">
                <a:solidFill>
                  <a:srgbClr val="5C6B64"/>
                </a:solidFill>
                <a:latin typeface="Calibri" pitchFamily="34" charset="0"/>
                <a:ea typeface="Calibri" pitchFamily="34" charset="-122"/>
                <a:cs typeface="Calibri" pitchFamily="34" charset="-120"/>
              </a:rPr>
              <a:t>calvary-frederick.vercel.app</a:t>
            </a:r>
            <a:endParaRPr lang="en-US" sz="1500" dirty="0"/>
          </a:p>
        </p:txBody>
      </p:sp>
      <p:sp>
        <p:nvSpPr>
          <p:cNvPr id="10" name="Shape 8"/>
          <p:cNvSpPr/>
          <p:nvPr/>
        </p:nvSpPr>
        <p:spPr>
          <a:xfrm>
            <a:off x="6263640" y="1600200"/>
            <a:ext cx="5394960" cy="4526280"/>
          </a:xfrm>
          <a:prstGeom prst="rect">
            <a:avLst/>
          </a:prstGeom>
          <a:solidFill>
            <a:srgbClr val="FFFFFF"/>
          </a:solidFill>
          <a:ln/>
          <a:effectLst>
            <a:outerShdw sx="100000" sy="100000" kx="0" ky="0" algn="bl" rotWithShape="0" blurRad="177800" dist="38100" dir="8100000">
              <a:srgbClr val="1C3A32">
                <a:alpha val="8000"/>
              </a:srgbClr>
            </a:outerShdw>
          </a:effectLst>
        </p:spPr>
      </p:sp>
      <p:sp>
        <p:nvSpPr>
          <p:cNvPr id="11" name="Shape 9"/>
          <p:cNvSpPr/>
          <p:nvPr/>
        </p:nvSpPr>
        <p:spPr>
          <a:xfrm>
            <a:off x="6263640" y="1600200"/>
            <a:ext cx="5394960" cy="109728"/>
          </a:xfrm>
          <a:prstGeom prst="rect">
            <a:avLst/>
          </a:prstGeom>
          <a:solidFill>
            <a:srgbClr val="A68445"/>
          </a:solidFill>
          <a:ln/>
        </p:spPr>
      </p:sp>
      <p:sp>
        <p:nvSpPr>
          <p:cNvPr id="12" name="Text 10"/>
          <p:cNvSpPr/>
          <p:nvPr/>
        </p:nvSpPr>
        <p:spPr>
          <a:xfrm>
            <a:off x="6537960" y="1874520"/>
            <a:ext cx="4846320" cy="256032"/>
          </a:xfrm>
          <a:prstGeom prst="rect">
            <a:avLst/>
          </a:prstGeom>
          <a:noFill/>
          <a:ln/>
        </p:spPr>
        <p:txBody>
          <a:bodyPr wrap="square" lIns="0" tIns="0" rIns="0" bIns="0" rtlCol="0" anchor="ctr"/>
          <a:lstStyle/>
          <a:p>
            <a:pPr indent="0" marL="0">
              <a:buNone/>
            </a:pPr>
            <a:r>
              <a:rPr lang="en-US" sz="1300" spc="140" kern="0" dirty="0">
                <a:solidFill>
                  <a:srgbClr val="A68445"/>
                </a:solidFill>
                <a:latin typeface="Calibri" pitchFamily="34" charset="0"/>
                <a:ea typeface="Calibri" pitchFamily="34" charset="-122"/>
                <a:cs typeface="Calibri" pitchFamily="34" charset="-120"/>
              </a:rPr>
              <a:t>OPTION 2</a:t>
            </a:r>
            <a:endParaRPr lang="en-US" sz="1300" dirty="0"/>
          </a:p>
        </p:txBody>
      </p:sp>
      <p:sp>
        <p:nvSpPr>
          <p:cNvPr id="13" name="Text 11"/>
          <p:cNvSpPr/>
          <p:nvPr/>
        </p:nvSpPr>
        <p:spPr>
          <a:xfrm>
            <a:off x="6537960" y="2176272"/>
            <a:ext cx="4846320" cy="777240"/>
          </a:xfrm>
          <a:prstGeom prst="rect">
            <a:avLst/>
          </a:prstGeom>
          <a:noFill/>
          <a:ln/>
        </p:spPr>
        <p:txBody>
          <a:bodyPr wrap="square" lIns="0" tIns="0" rIns="0" bIns="0" rtlCol="0" anchor="ctr"/>
          <a:lstStyle/>
          <a:p>
            <a:pPr indent="0" marL="0">
              <a:buNone/>
            </a:pPr>
            <a:r>
              <a:rPr lang="en-US" sz="2600" dirty="0">
                <a:solidFill>
                  <a:srgbClr val="1C3A32"/>
                </a:solidFill>
                <a:latin typeface="Georgia" pitchFamily="34" charset="0"/>
                <a:ea typeface="Georgia" pitchFamily="34" charset="-122"/>
                <a:cs typeface="Georgia" pitchFamily="34" charset="-120"/>
              </a:rPr>
              <a:t>Rebuild the site in SnapPages</a:t>
            </a:r>
            <a:endParaRPr lang="en-US" sz="2600" dirty="0"/>
          </a:p>
        </p:txBody>
      </p:sp>
      <p:sp>
        <p:nvSpPr>
          <p:cNvPr id="14" name="Text 12"/>
          <p:cNvSpPr/>
          <p:nvPr/>
        </p:nvSpPr>
        <p:spPr>
          <a:xfrm>
            <a:off x="6537960" y="3108960"/>
            <a:ext cx="4846320" cy="1417320"/>
          </a:xfrm>
          <a:prstGeom prst="rect">
            <a:avLst/>
          </a:prstGeom>
          <a:noFill/>
          <a:ln/>
        </p:spPr>
        <p:txBody>
          <a:bodyPr wrap="square" lIns="0" tIns="0" rIns="0" bIns="0" rtlCol="0" anchor="ctr"/>
          <a:lstStyle/>
          <a:p>
            <a:pPr indent="0" marL="0">
              <a:buNone/>
            </a:pPr>
            <a:r>
              <a:rPr lang="en-US" sz="1600" dirty="0">
                <a:solidFill>
                  <a:srgbClr val="1E2A26"/>
                </a:solidFill>
                <a:latin typeface="Calibri" pitchFamily="34" charset="0"/>
                <a:ea typeface="Calibri" pitchFamily="34" charset="-122"/>
                <a:cs typeface="Calibri" pitchFamily="34" charset="-120"/>
              </a:rPr>
              <a:t>The public website moves into Subsplash’s website builder. The office edits with drag and drop, in the same login as the app. The designed site cannot be imported. It is rebuilt by hand.</a:t>
            </a:r>
            <a:endParaRPr lang="en-US" sz="1600" dirty="0"/>
          </a:p>
        </p:txBody>
      </p:sp>
      <p:sp>
        <p:nvSpPr>
          <p:cNvPr id="15" name="Text 13"/>
          <p:cNvSpPr/>
          <p:nvPr/>
        </p:nvSpPr>
        <p:spPr>
          <a:xfrm>
            <a:off x="6537960" y="4892040"/>
            <a:ext cx="4846320" cy="640080"/>
          </a:xfrm>
          <a:prstGeom prst="rect">
            <a:avLst/>
          </a:prstGeom>
          <a:noFill/>
          <a:ln/>
        </p:spPr>
        <p:txBody>
          <a:bodyPr wrap="square" lIns="0" tIns="0" rIns="0" bIns="0" rtlCol="0" anchor="ctr"/>
          <a:lstStyle/>
          <a:p>
            <a:pPr indent="0" marL="0">
              <a:buNone/>
            </a:pPr>
            <a:r>
              <a:rPr lang="en-US" sz="1500" dirty="0">
                <a:solidFill>
                  <a:srgbClr val="5C6B64"/>
                </a:solidFill>
                <a:latin typeface="Calibri" pitchFamily="34" charset="0"/>
                <a:ea typeface="Calibri" pitchFamily="34" charset="-122"/>
                <a:cs typeface="Calibri" pitchFamily="34" charset="-120"/>
              </a:rPr>
              <a:t>A holding site already exists</a:t>
            </a:r>
            <a:endParaRPr lang="en-US" sz="1500" dirty="0"/>
          </a:p>
          <a:p>
            <a:pPr indent="0" marL="0">
              <a:buNone/>
            </a:pPr>
            <a:r>
              <a:rPr lang="en-US" sz="1500" dirty="0">
                <a:solidFill>
                  <a:srgbClr val="5C6B64"/>
                </a:solidFill>
                <a:latin typeface="Calibri" pitchFamily="34" charset="0"/>
                <a:ea typeface="Calibri" pitchFamily="34" charset="-122"/>
                <a:cs typeface="Calibri" pitchFamily="34" charset="-120"/>
              </a:rPr>
              <a:t>calvarychapelfrederick1.snappages.site</a:t>
            </a:r>
            <a:endParaRPr lang="en-US" sz="1500" dirty="0"/>
          </a:p>
        </p:txBody>
      </p:sp>
      <p:sp>
        <p:nvSpPr>
          <p:cNvPr id="16" name="Text 14"/>
          <p:cNvSpPr/>
          <p:nvPr/>
        </p:nvSpPr>
        <p:spPr>
          <a:xfrm>
            <a:off x="502920" y="6510528"/>
            <a:ext cx="9326880" cy="219456"/>
          </a:xfrm>
          <a:prstGeom prst="rect">
            <a:avLst/>
          </a:prstGeom>
          <a:noFill/>
          <a:ln/>
        </p:spPr>
        <p:txBody>
          <a:bodyPr wrap="square" lIns="0" tIns="0" rIns="0" bIns="0" rtlCol="0" anchor="ctr"/>
          <a:lstStyle/>
          <a:p>
            <a:pPr indent="0" marL="0">
              <a:buNone/>
            </a:pPr>
            <a:r>
              <a:rPr lang="en-US" sz="1100" dirty="0">
                <a:solidFill>
                  <a:srgbClr val="5C6B64"/>
                </a:solidFill>
                <a:latin typeface="Calibri" pitchFamily="34" charset="0"/>
                <a:ea typeface="Calibri" pitchFamily="34" charset="-122"/>
                <a:cs typeface="Calibri" pitchFamily="34" charset="-120"/>
              </a:rPr>
              <a:t>Calvary Chapel Frederick  ·  Public website options  ·  28 September 2026</a:t>
            </a:r>
            <a:endParaRPr lang="en-US" sz="1100" dirty="0"/>
          </a:p>
        </p:txBody>
      </p:sp>
      <p:sp>
        <p:nvSpPr>
          <p:cNvPr id="17" name="Text 15"/>
          <p:cNvSpPr/>
          <p:nvPr/>
        </p:nvSpPr>
        <p:spPr>
          <a:xfrm>
            <a:off x="11155680" y="6510528"/>
            <a:ext cx="502920" cy="219456"/>
          </a:xfrm>
          <a:prstGeom prst="rect">
            <a:avLst/>
          </a:prstGeom>
          <a:noFill/>
          <a:ln/>
        </p:spPr>
        <p:txBody>
          <a:bodyPr wrap="square" lIns="0" tIns="0" rIns="0" bIns="0" rtlCol="0" anchor="ctr"/>
          <a:lstStyle/>
          <a:p>
            <a:pPr algn="r" indent="0" marL="0">
              <a:buNone/>
            </a:pPr>
            <a:r>
              <a:rPr lang="en-US" sz="1100" dirty="0">
                <a:solidFill>
                  <a:srgbClr val="5C6B64"/>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502920" y="347472"/>
            <a:ext cx="10972800" cy="457200"/>
          </a:xfrm>
          <a:prstGeom prst="rect">
            <a:avLst/>
          </a:prstGeom>
          <a:noFill/>
          <a:ln/>
        </p:spPr>
        <p:txBody>
          <a:bodyPr wrap="square" lIns="0" tIns="0" rIns="0" bIns="0" rtlCol="0" anchor="ctr"/>
          <a:lstStyle/>
          <a:p>
            <a:pPr indent="0" marL="0">
              <a:buNone/>
            </a:pPr>
            <a:r>
              <a:rPr lang="en-US" sz="3200" dirty="0">
                <a:solidFill>
                  <a:srgbClr val="1C3A32"/>
                </a:solidFill>
                <a:latin typeface="Georgia" pitchFamily="34" charset="0"/>
                <a:ea typeface="Georgia" pitchFamily="34" charset="-122"/>
                <a:cs typeface="Georgia" pitchFamily="34" charset="-120"/>
              </a:rPr>
              <a:t>What does not change</a:t>
            </a:r>
            <a:endParaRPr lang="en-US" sz="3200" dirty="0"/>
          </a:p>
        </p:txBody>
      </p:sp>
      <p:sp>
        <p:nvSpPr>
          <p:cNvPr id="3" name="Text 1"/>
          <p:cNvSpPr/>
          <p:nvPr/>
        </p:nvSpPr>
        <p:spPr>
          <a:xfrm>
            <a:off x="502920" y="914400"/>
            <a:ext cx="10972800" cy="320040"/>
          </a:xfrm>
          <a:prstGeom prst="rect">
            <a:avLst/>
          </a:prstGeom>
          <a:noFill/>
          <a:ln/>
        </p:spPr>
        <p:txBody>
          <a:bodyPr wrap="square" lIns="0" tIns="0" rIns="0" bIns="0" rtlCol="0" anchor="ctr"/>
          <a:lstStyle/>
          <a:p>
            <a:pPr indent="0" marL="0">
              <a:buNone/>
            </a:pPr>
            <a:r>
              <a:rPr lang="en-US" sz="1600" dirty="0">
                <a:solidFill>
                  <a:srgbClr val="1E2A26"/>
                </a:solidFill>
                <a:latin typeface="Calibri" pitchFamily="34" charset="0"/>
                <a:ea typeface="Calibri" pitchFamily="34" charset="-122"/>
                <a:cs typeface="Calibri" pitchFamily="34" charset="-120"/>
              </a:rPr>
              <a:t>Both options keep the church on Subsplash for everything except the marketing pages.</a:t>
            </a:r>
            <a:endParaRPr lang="en-US" sz="1600" dirty="0"/>
          </a:p>
        </p:txBody>
      </p:sp>
      <p:sp>
        <p:nvSpPr>
          <p:cNvPr id="4" name="Shape 2"/>
          <p:cNvSpPr/>
          <p:nvPr/>
        </p:nvSpPr>
        <p:spPr>
          <a:xfrm>
            <a:off x="502920" y="1463040"/>
            <a:ext cx="91440" cy="658368"/>
          </a:xfrm>
          <a:prstGeom prst="rect">
            <a:avLst/>
          </a:prstGeom>
          <a:solidFill>
            <a:srgbClr val="1C3A32"/>
          </a:solidFill>
          <a:ln/>
        </p:spPr>
      </p:sp>
      <p:sp>
        <p:nvSpPr>
          <p:cNvPr id="5" name="Text 3"/>
          <p:cNvSpPr/>
          <p:nvPr/>
        </p:nvSpPr>
        <p:spPr>
          <a:xfrm>
            <a:off x="822960" y="1463040"/>
            <a:ext cx="3840480" cy="658368"/>
          </a:xfrm>
          <a:prstGeom prst="rect">
            <a:avLst/>
          </a:prstGeom>
          <a:noFill/>
          <a:ln/>
        </p:spPr>
        <p:txBody>
          <a:bodyPr wrap="square" lIns="0" tIns="0" rIns="0" bIns="0" rtlCol="0" anchor="ctr"/>
          <a:lstStyle/>
          <a:p>
            <a:pPr indent="0" marL="0">
              <a:buNone/>
            </a:pPr>
            <a:r>
              <a:rPr lang="en-US" sz="1800" dirty="0">
                <a:solidFill>
                  <a:srgbClr val="1C3A32"/>
                </a:solidFill>
                <a:latin typeface="Georgia" pitchFamily="34" charset="0"/>
                <a:ea typeface="Georgia" pitchFamily="34" charset="-122"/>
                <a:cs typeface="Georgia" pitchFamily="34" charset="-120"/>
              </a:rPr>
              <a:t>Sermons, live, and podcasts</a:t>
            </a:r>
            <a:endParaRPr lang="en-US" sz="1800" dirty="0"/>
          </a:p>
        </p:txBody>
      </p:sp>
      <p:sp>
        <p:nvSpPr>
          <p:cNvPr id="6" name="Text 4"/>
          <p:cNvSpPr/>
          <p:nvPr/>
        </p:nvSpPr>
        <p:spPr>
          <a:xfrm>
            <a:off x="4754880" y="1463040"/>
            <a:ext cx="6766560" cy="658368"/>
          </a:xfrm>
          <a:prstGeom prst="rect">
            <a:avLst/>
          </a:prstGeom>
          <a:noFill/>
          <a:ln/>
        </p:spPr>
        <p:txBody>
          <a:bodyPr wrap="square" lIns="0" tIns="0" rIns="0" bIns="0" rtlCol="0" anchor="ctr"/>
          <a:lstStyle/>
          <a:p>
            <a:pPr indent="0" marL="0">
              <a:buNone/>
            </a:pPr>
            <a:r>
              <a:rPr lang="en-US" sz="1600" dirty="0">
                <a:solidFill>
                  <a:srgbClr val="1E2A26"/>
                </a:solidFill>
                <a:latin typeface="Calibri" pitchFamily="34" charset="0"/>
                <a:ea typeface="Calibri" pitchFamily="34" charset="-122"/>
                <a:cs typeface="Calibri" pitchFamily="34" charset="-120"/>
              </a:rPr>
              <a:t>Subsplash Media. Upload once. The app and podcasts keep working.</a:t>
            </a:r>
            <a:endParaRPr lang="en-US" sz="1600" dirty="0"/>
          </a:p>
        </p:txBody>
      </p:sp>
      <p:sp>
        <p:nvSpPr>
          <p:cNvPr id="7" name="Shape 5"/>
          <p:cNvSpPr/>
          <p:nvPr/>
        </p:nvSpPr>
        <p:spPr>
          <a:xfrm>
            <a:off x="502920" y="2331720"/>
            <a:ext cx="91440" cy="658368"/>
          </a:xfrm>
          <a:prstGeom prst="rect">
            <a:avLst/>
          </a:prstGeom>
          <a:solidFill>
            <a:srgbClr val="A68445"/>
          </a:solidFill>
          <a:ln/>
        </p:spPr>
      </p:sp>
      <p:sp>
        <p:nvSpPr>
          <p:cNvPr id="8" name="Text 6"/>
          <p:cNvSpPr/>
          <p:nvPr/>
        </p:nvSpPr>
        <p:spPr>
          <a:xfrm>
            <a:off x="822960" y="2331720"/>
            <a:ext cx="3840480" cy="658368"/>
          </a:xfrm>
          <a:prstGeom prst="rect">
            <a:avLst/>
          </a:prstGeom>
          <a:noFill/>
          <a:ln/>
        </p:spPr>
        <p:txBody>
          <a:bodyPr wrap="square" lIns="0" tIns="0" rIns="0" bIns="0" rtlCol="0" anchor="ctr"/>
          <a:lstStyle/>
          <a:p>
            <a:pPr indent="0" marL="0">
              <a:buNone/>
            </a:pPr>
            <a:r>
              <a:rPr lang="en-US" sz="1800" dirty="0">
                <a:solidFill>
                  <a:srgbClr val="1C3A32"/>
                </a:solidFill>
                <a:latin typeface="Georgia" pitchFamily="34" charset="0"/>
                <a:ea typeface="Georgia" pitchFamily="34" charset="-122"/>
                <a:cs typeface="Georgia" pitchFamily="34" charset="-120"/>
              </a:rPr>
              <a:t>Online giving and receipts</a:t>
            </a:r>
            <a:endParaRPr lang="en-US" sz="1800" dirty="0"/>
          </a:p>
        </p:txBody>
      </p:sp>
      <p:sp>
        <p:nvSpPr>
          <p:cNvPr id="9" name="Text 7"/>
          <p:cNvSpPr/>
          <p:nvPr/>
        </p:nvSpPr>
        <p:spPr>
          <a:xfrm>
            <a:off x="4754880" y="2331720"/>
            <a:ext cx="6766560" cy="658368"/>
          </a:xfrm>
          <a:prstGeom prst="rect">
            <a:avLst/>
          </a:prstGeom>
          <a:noFill/>
          <a:ln/>
        </p:spPr>
        <p:txBody>
          <a:bodyPr wrap="square" lIns="0" tIns="0" rIns="0" bIns="0" rtlCol="0" anchor="ctr"/>
          <a:lstStyle/>
          <a:p>
            <a:pPr indent="0" marL="0">
              <a:buNone/>
            </a:pPr>
            <a:r>
              <a:rPr lang="en-US" sz="1600" dirty="0">
                <a:solidFill>
                  <a:srgbClr val="1E2A26"/>
                </a:solidFill>
                <a:latin typeface="Calibri" pitchFamily="34" charset="0"/>
                <a:ea typeface="Calibri" pitchFamily="34" charset="-122"/>
                <a:cs typeface="Calibri" pitchFamily="34" charset="-120"/>
              </a:rPr>
              <a:t>Subsplash Wallet. Card 2.3% + $0.30 and ACH 1.0%, as checked 16 August 2026.</a:t>
            </a:r>
            <a:endParaRPr lang="en-US" sz="1600" dirty="0"/>
          </a:p>
        </p:txBody>
      </p:sp>
      <p:sp>
        <p:nvSpPr>
          <p:cNvPr id="10" name="Shape 8"/>
          <p:cNvSpPr/>
          <p:nvPr/>
        </p:nvSpPr>
        <p:spPr>
          <a:xfrm>
            <a:off x="502920" y="3200400"/>
            <a:ext cx="91440" cy="658368"/>
          </a:xfrm>
          <a:prstGeom prst="rect">
            <a:avLst/>
          </a:prstGeom>
          <a:solidFill>
            <a:srgbClr val="1C3A32"/>
          </a:solidFill>
          <a:ln/>
        </p:spPr>
      </p:sp>
      <p:sp>
        <p:nvSpPr>
          <p:cNvPr id="11" name="Text 9"/>
          <p:cNvSpPr/>
          <p:nvPr/>
        </p:nvSpPr>
        <p:spPr>
          <a:xfrm>
            <a:off x="822960" y="3200400"/>
            <a:ext cx="3840480" cy="658368"/>
          </a:xfrm>
          <a:prstGeom prst="rect">
            <a:avLst/>
          </a:prstGeom>
          <a:noFill/>
          <a:ln/>
        </p:spPr>
        <p:txBody>
          <a:bodyPr wrap="square" lIns="0" tIns="0" rIns="0" bIns="0" rtlCol="0" anchor="ctr"/>
          <a:lstStyle/>
          <a:p>
            <a:pPr indent="0" marL="0">
              <a:buNone/>
            </a:pPr>
            <a:r>
              <a:rPr lang="en-US" sz="1800" dirty="0">
                <a:solidFill>
                  <a:srgbClr val="1C3A32"/>
                </a:solidFill>
                <a:latin typeface="Georgia" pitchFamily="34" charset="0"/>
                <a:ea typeface="Georgia" pitchFamily="34" charset="-122"/>
                <a:cs typeface="Georgia" pitchFamily="34" charset="-120"/>
              </a:rPr>
              <a:t>The church app</a:t>
            </a:r>
            <a:endParaRPr lang="en-US" sz="1800" dirty="0"/>
          </a:p>
        </p:txBody>
      </p:sp>
      <p:sp>
        <p:nvSpPr>
          <p:cNvPr id="12" name="Text 10"/>
          <p:cNvSpPr/>
          <p:nvPr/>
        </p:nvSpPr>
        <p:spPr>
          <a:xfrm>
            <a:off x="4754880" y="3200400"/>
            <a:ext cx="6766560" cy="658368"/>
          </a:xfrm>
          <a:prstGeom prst="rect">
            <a:avLst/>
          </a:prstGeom>
          <a:noFill/>
          <a:ln/>
        </p:spPr>
        <p:txBody>
          <a:bodyPr wrap="square" lIns="0" tIns="0" rIns="0" bIns="0" rtlCol="0" anchor="ctr"/>
          <a:lstStyle/>
          <a:p>
            <a:pPr indent="0" marL="0">
              <a:buNone/>
            </a:pPr>
            <a:r>
              <a:rPr lang="en-US" sz="1600" dirty="0">
                <a:solidFill>
                  <a:srgbClr val="1E2A26"/>
                </a:solidFill>
                <a:latin typeface="Calibri" pitchFamily="34" charset="0"/>
                <a:ea typeface="Calibri" pitchFamily="34" charset="-122"/>
                <a:cs typeface="Calibri" pitchFamily="34" charset="-120"/>
              </a:rPr>
              <a:t>The app people already installed. Push, live, and the app store stay in Subsplash.</a:t>
            </a:r>
            <a:endParaRPr lang="en-US" sz="1600" dirty="0"/>
          </a:p>
        </p:txBody>
      </p:sp>
      <p:sp>
        <p:nvSpPr>
          <p:cNvPr id="13" name="Shape 11"/>
          <p:cNvSpPr/>
          <p:nvPr/>
        </p:nvSpPr>
        <p:spPr>
          <a:xfrm>
            <a:off x="502920" y="4069080"/>
            <a:ext cx="91440" cy="658368"/>
          </a:xfrm>
          <a:prstGeom prst="rect">
            <a:avLst/>
          </a:prstGeom>
          <a:solidFill>
            <a:srgbClr val="A68445"/>
          </a:solidFill>
          <a:ln/>
        </p:spPr>
      </p:sp>
      <p:sp>
        <p:nvSpPr>
          <p:cNvPr id="14" name="Text 12"/>
          <p:cNvSpPr/>
          <p:nvPr/>
        </p:nvSpPr>
        <p:spPr>
          <a:xfrm>
            <a:off x="822960" y="4069080"/>
            <a:ext cx="3840480" cy="658368"/>
          </a:xfrm>
          <a:prstGeom prst="rect">
            <a:avLst/>
          </a:prstGeom>
          <a:noFill/>
          <a:ln/>
        </p:spPr>
        <p:txBody>
          <a:bodyPr wrap="square" lIns="0" tIns="0" rIns="0" bIns="0" rtlCol="0" anchor="ctr"/>
          <a:lstStyle/>
          <a:p>
            <a:pPr indent="0" marL="0">
              <a:buNone/>
            </a:pPr>
            <a:r>
              <a:rPr lang="en-US" sz="1800" dirty="0">
                <a:solidFill>
                  <a:srgbClr val="1C3A32"/>
                </a:solidFill>
                <a:latin typeface="Georgia" pitchFamily="34" charset="0"/>
                <a:ea typeface="Georgia" pitchFamily="34" charset="-122"/>
                <a:cs typeface="Georgia" pitchFamily="34" charset="-120"/>
              </a:rPr>
              <a:t>The domain name</a:t>
            </a:r>
            <a:endParaRPr lang="en-US" sz="1800" dirty="0"/>
          </a:p>
        </p:txBody>
      </p:sp>
      <p:sp>
        <p:nvSpPr>
          <p:cNvPr id="15" name="Text 13"/>
          <p:cNvSpPr/>
          <p:nvPr/>
        </p:nvSpPr>
        <p:spPr>
          <a:xfrm>
            <a:off x="4754880" y="4069080"/>
            <a:ext cx="6766560" cy="658368"/>
          </a:xfrm>
          <a:prstGeom prst="rect">
            <a:avLst/>
          </a:prstGeom>
          <a:noFill/>
          <a:ln/>
        </p:spPr>
        <p:txBody>
          <a:bodyPr wrap="square" lIns="0" tIns="0" rIns="0" bIns="0" rtlCol="0" anchor="ctr"/>
          <a:lstStyle/>
          <a:p>
            <a:pPr indent="0" marL="0">
              <a:buNone/>
            </a:pPr>
            <a:r>
              <a:rPr lang="en-US" sz="1600" dirty="0">
                <a:solidFill>
                  <a:srgbClr val="1E2A26"/>
                </a:solidFill>
                <a:latin typeface="Calibri" pitchFamily="34" charset="0"/>
                <a:ea typeface="Calibri" pitchFamily="34" charset="-122"/>
                <a:cs typeface="Calibri" pitchFamily="34" charset="-120"/>
              </a:rPr>
              <a:t>calvaryfrederick.com stays. DNS is not switched until leadership picks.</a:t>
            </a:r>
            <a:endParaRPr lang="en-US" sz="1600" dirty="0"/>
          </a:p>
        </p:txBody>
      </p:sp>
      <p:sp>
        <p:nvSpPr>
          <p:cNvPr id="16" name="Shape 14"/>
          <p:cNvSpPr/>
          <p:nvPr/>
        </p:nvSpPr>
        <p:spPr>
          <a:xfrm>
            <a:off x="502920" y="4937760"/>
            <a:ext cx="91440" cy="658368"/>
          </a:xfrm>
          <a:prstGeom prst="rect">
            <a:avLst/>
          </a:prstGeom>
          <a:solidFill>
            <a:srgbClr val="1C3A32"/>
          </a:solidFill>
          <a:ln/>
        </p:spPr>
      </p:sp>
      <p:sp>
        <p:nvSpPr>
          <p:cNvPr id="17" name="Text 15"/>
          <p:cNvSpPr/>
          <p:nvPr/>
        </p:nvSpPr>
        <p:spPr>
          <a:xfrm>
            <a:off x="822960" y="4937760"/>
            <a:ext cx="3840480" cy="658368"/>
          </a:xfrm>
          <a:prstGeom prst="rect">
            <a:avLst/>
          </a:prstGeom>
          <a:noFill/>
          <a:ln/>
        </p:spPr>
        <p:txBody>
          <a:bodyPr wrap="square" lIns="0" tIns="0" rIns="0" bIns="0" rtlCol="0" anchor="ctr"/>
          <a:lstStyle/>
          <a:p>
            <a:pPr indent="0" marL="0">
              <a:buNone/>
            </a:pPr>
            <a:r>
              <a:rPr lang="en-US" sz="1800" dirty="0">
                <a:solidFill>
                  <a:srgbClr val="1C3A32"/>
                </a:solidFill>
                <a:latin typeface="Georgia" pitchFamily="34" charset="0"/>
                <a:ea typeface="Georgia" pitchFamily="34" charset="-122"/>
                <a:cs typeface="Georgia" pitchFamily="34" charset="-120"/>
              </a:rPr>
              <a:t>Squarespace</a:t>
            </a:r>
            <a:endParaRPr lang="en-US" sz="1800" dirty="0"/>
          </a:p>
        </p:txBody>
      </p:sp>
      <p:sp>
        <p:nvSpPr>
          <p:cNvPr id="18" name="Text 16"/>
          <p:cNvSpPr/>
          <p:nvPr/>
        </p:nvSpPr>
        <p:spPr>
          <a:xfrm>
            <a:off x="4754880" y="4937760"/>
            <a:ext cx="6766560" cy="658368"/>
          </a:xfrm>
          <a:prstGeom prst="rect">
            <a:avLst/>
          </a:prstGeom>
          <a:noFill/>
          <a:ln/>
        </p:spPr>
        <p:txBody>
          <a:bodyPr wrap="square" lIns="0" tIns="0" rIns="0" bIns="0" rtlCol="0" anchor="ctr"/>
          <a:lstStyle/>
          <a:p>
            <a:pPr indent="0" marL="0">
              <a:buNone/>
            </a:pPr>
            <a:r>
              <a:rPr lang="en-US" sz="1600" dirty="0">
                <a:solidFill>
                  <a:srgbClr val="1E2A26"/>
                </a:solidFill>
                <a:latin typeface="Calibri" pitchFamily="34" charset="0"/>
                <a:ea typeface="Calibri" pitchFamily="34" charset="-122"/>
                <a:cs typeface="Calibri" pitchFamily="34" charset="-120"/>
              </a:rPr>
              <a:t>The current public site is retired when the new front door goes live. That happens on either option.</a:t>
            </a:r>
            <a:endParaRPr lang="en-US" sz="1600" dirty="0"/>
          </a:p>
        </p:txBody>
      </p:sp>
      <p:sp>
        <p:nvSpPr>
          <p:cNvPr id="19" name="Text 17"/>
          <p:cNvSpPr/>
          <p:nvPr/>
        </p:nvSpPr>
        <p:spPr>
          <a:xfrm>
            <a:off x="502920" y="6510528"/>
            <a:ext cx="9326880" cy="219456"/>
          </a:xfrm>
          <a:prstGeom prst="rect">
            <a:avLst/>
          </a:prstGeom>
          <a:noFill/>
          <a:ln/>
        </p:spPr>
        <p:txBody>
          <a:bodyPr wrap="square" lIns="0" tIns="0" rIns="0" bIns="0" rtlCol="0" anchor="ctr"/>
          <a:lstStyle/>
          <a:p>
            <a:pPr indent="0" marL="0">
              <a:buNone/>
            </a:pPr>
            <a:r>
              <a:rPr lang="en-US" sz="1100" dirty="0">
                <a:solidFill>
                  <a:srgbClr val="5C6B64"/>
                </a:solidFill>
                <a:latin typeface="Calibri" pitchFamily="34" charset="0"/>
                <a:ea typeface="Calibri" pitchFamily="34" charset="-122"/>
                <a:cs typeface="Calibri" pitchFamily="34" charset="-120"/>
              </a:rPr>
              <a:t>Calvary Chapel Frederick  ·  Public website options  ·  28 September 2026</a:t>
            </a:r>
            <a:endParaRPr lang="en-US" sz="1100" dirty="0"/>
          </a:p>
        </p:txBody>
      </p:sp>
      <p:sp>
        <p:nvSpPr>
          <p:cNvPr id="20" name="Text 18"/>
          <p:cNvSpPr/>
          <p:nvPr/>
        </p:nvSpPr>
        <p:spPr>
          <a:xfrm>
            <a:off x="11155680" y="6510528"/>
            <a:ext cx="502920" cy="219456"/>
          </a:xfrm>
          <a:prstGeom prst="rect">
            <a:avLst/>
          </a:prstGeom>
          <a:noFill/>
          <a:ln/>
        </p:spPr>
        <p:txBody>
          <a:bodyPr wrap="square" lIns="0" tIns="0" rIns="0" bIns="0" rtlCol="0" anchor="ctr"/>
          <a:lstStyle/>
          <a:p>
            <a:pPr algn="r" indent="0" marL="0">
              <a:buNone/>
            </a:pPr>
            <a:r>
              <a:rPr lang="en-US" sz="1100" dirty="0">
                <a:solidFill>
                  <a:srgbClr val="5C6B64"/>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502920" y="320040"/>
            <a:ext cx="10972800" cy="438912"/>
          </a:xfrm>
          <a:prstGeom prst="rect">
            <a:avLst/>
          </a:prstGeom>
          <a:noFill/>
          <a:ln/>
        </p:spPr>
        <p:txBody>
          <a:bodyPr wrap="square" lIns="0" tIns="0" rIns="0" bIns="0" rtlCol="0" anchor="ctr"/>
          <a:lstStyle/>
          <a:p>
            <a:pPr indent="0" marL="0">
              <a:buNone/>
            </a:pPr>
            <a:r>
              <a:rPr lang="en-US" sz="3200" dirty="0">
                <a:solidFill>
                  <a:srgbClr val="1C3A32"/>
                </a:solidFill>
                <a:latin typeface="Georgia" pitchFamily="34" charset="0"/>
                <a:ea typeface="Georgia" pitchFamily="34" charset="-122"/>
                <a:cs typeface="Georgia" pitchFamily="34" charset="-120"/>
              </a:rPr>
              <a:t>Option 1  ·  Tina</a:t>
            </a:r>
            <a:endParaRPr lang="en-US" sz="3200" dirty="0"/>
          </a:p>
        </p:txBody>
      </p:sp>
      <p:sp>
        <p:nvSpPr>
          <p:cNvPr id="3" name="Text 1"/>
          <p:cNvSpPr/>
          <p:nvPr/>
        </p:nvSpPr>
        <p:spPr>
          <a:xfrm>
            <a:off x="502920" y="868680"/>
            <a:ext cx="10972800" cy="365760"/>
          </a:xfrm>
          <a:prstGeom prst="rect">
            <a:avLst/>
          </a:prstGeom>
          <a:noFill/>
          <a:ln/>
        </p:spPr>
        <p:txBody>
          <a:bodyPr wrap="square" lIns="0" tIns="0" rIns="0" bIns="0" rtlCol="0" anchor="ctr"/>
          <a:lstStyle/>
          <a:p>
            <a:pPr indent="0" marL="0">
              <a:buNone/>
            </a:pPr>
            <a:r>
              <a:rPr lang="en-US" sz="1600" dirty="0">
                <a:solidFill>
                  <a:srgbClr val="1E2A26"/>
                </a:solidFill>
                <a:latin typeface="Calibri" pitchFamily="34" charset="0"/>
                <a:ea typeface="Calibri" pitchFamily="34" charset="-122"/>
                <a:cs typeface="Calibri" pitchFamily="34" charset="-120"/>
              </a:rPr>
              <a:t>The office sees the page while they type. A save updates the same files a developer can still edit.</a:t>
            </a:r>
            <a:endParaRPr lang="en-US" sz="1600" dirty="0"/>
          </a:p>
        </p:txBody>
      </p:sp>
      <p:sp>
        <p:nvSpPr>
          <p:cNvPr id="4" name="Shape 2"/>
          <p:cNvSpPr/>
          <p:nvPr/>
        </p:nvSpPr>
        <p:spPr>
          <a:xfrm>
            <a:off x="502920" y="1417320"/>
            <a:ext cx="11155680" cy="841248"/>
          </a:xfrm>
          <a:prstGeom prst="rect">
            <a:avLst/>
          </a:prstGeom>
          <a:solidFill>
            <a:srgbClr val="FFFFFF"/>
          </a:solidFill>
          <a:ln/>
        </p:spPr>
      </p:sp>
      <p:sp>
        <p:nvSpPr>
          <p:cNvPr id="5" name="Text 3"/>
          <p:cNvSpPr/>
          <p:nvPr/>
        </p:nvSpPr>
        <p:spPr>
          <a:xfrm>
            <a:off x="731520" y="1527048"/>
            <a:ext cx="3017520" cy="621792"/>
          </a:xfrm>
          <a:prstGeom prst="rect">
            <a:avLst/>
          </a:prstGeom>
          <a:noFill/>
          <a:ln/>
        </p:spPr>
        <p:txBody>
          <a:bodyPr wrap="square" lIns="0" tIns="0" rIns="0" bIns="0" rtlCol="0" anchor="ctr"/>
          <a:lstStyle/>
          <a:p>
            <a:pPr indent="0" marL="0">
              <a:buNone/>
            </a:pPr>
            <a:r>
              <a:rPr lang="en-US" sz="1600" dirty="0">
                <a:solidFill>
                  <a:srgbClr val="1C3A32"/>
                </a:solidFill>
                <a:latin typeface="Georgia" pitchFamily="34" charset="0"/>
                <a:ea typeface="Georgia" pitchFamily="34" charset="-122"/>
                <a:cs typeface="Georgia" pitchFamily="34" charset="-120"/>
              </a:rPr>
              <a:t>What the office does</a:t>
            </a:r>
            <a:endParaRPr lang="en-US" sz="1600" dirty="0"/>
          </a:p>
        </p:txBody>
      </p:sp>
      <p:sp>
        <p:nvSpPr>
          <p:cNvPr id="6" name="Text 4"/>
          <p:cNvSpPr/>
          <p:nvPr/>
        </p:nvSpPr>
        <p:spPr>
          <a:xfrm>
            <a:off x="3840480" y="1527048"/>
            <a:ext cx="7498080" cy="621792"/>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Opens Tina, clicks the homepage headline or a ministry title, rewrites it, and saves. No code.</a:t>
            </a:r>
            <a:endParaRPr lang="en-US" sz="1500" dirty="0"/>
          </a:p>
        </p:txBody>
      </p:sp>
      <p:sp>
        <p:nvSpPr>
          <p:cNvPr id="7" name="Shape 5"/>
          <p:cNvSpPr/>
          <p:nvPr/>
        </p:nvSpPr>
        <p:spPr>
          <a:xfrm>
            <a:off x="502920" y="2350008"/>
            <a:ext cx="11155680" cy="841248"/>
          </a:xfrm>
          <a:prstGeom prst="rect">
            <a:avLst/>
          </a:prstGeom>
          <a:solidFill>
            <a:srgbClr val="FFFFFF"/>
          </a:solidFill>
          <a:ln/>
        </p:spPr>
      </p:sp>
      <p:sp>
        <p:nvSpPr>
          <p:cNvPr id="8" name="Text 6"/>
          <p:cNvSpPr/>
          <p:nvPr/>
        </p:nvSpPr>
        <p:spPr>
          <a:xfrm>
            <a:off x="731520" y="2459736"/>
            <a:ext cx="3017520" cy="621792"/>
          </a:xfrm>
          <a:prstGeom prst="rect">
            <a:avLst/>
          </a:prstGeom>
          <a:noFill/>
          <a:ln/>
        </p:spPr>
        <p:txBody>
          <a:bodyPr wrap="square" lIns="0" tIns="0" rIns="0" bIns="0" rtlCol="0" anchor="ctr"/>
          <a:lstStyle/>
          <a:p>
            <a:pPr indent="0" marL="0">
              <a:buNone/>
            </a:pPr>
            <a:r>
              <a:rPr lang="en-US" sz="1600" dirty="0">
                <a:solidFill>
                  <a:srgbClr val="1C3A32"/>
                </a:solidFill>
                <a:latin typeface="Georgia" pitchFamily="34" charset="0"/>
                <a:ea typeface="Georgia" pitchFamily="34" charset="-122"/>
                <a:cs typeface="Georgia" pitchFamily="34" charset="-120"/>
              </a:rPr>
              <a:t>What they can change</a:t>
            </a:r>
            <a:endParaRPr lang="en-US" sz="1600" dirty="0"/>
          </a:p>
        </p:txBody>
      </p:sp>
      <p:sp>
        <p:nvSpPr>
          <p:cNvPr id="9" name="Text 7"/>
          <p:cNvSpPr/>
          <p:nvPr/>
        </p:nvSpPr>
        <p:spPr>
          <a:xfrm>
            <a:off x="3840480" y="2459736"/>
            <a:ext cx="7498080" cy="621792"/>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Service times, the bulletin path, ministry paragraphs, address, and the weekly message title.</a:t>
            </a:r>
            <a:endParaRPr lang="en-US" sz="1500" dirty="0"/>
          </a:p>
        </p:txBody>
      </p:sp>
      <p:sp>
        <p:nvSpPr>
          <p:cNvPr id="10" name="Shape 8"/>
          <p:cNvSpPr/>
          <p:nvPr/>
        </p:nvSpPr>
        <p:spPr>
          <a:xfrm>
            <a:off x="502920" y="3282696"/>
            <a:ext cx="11155680" cy="841248"/>
          </a:xfrm>
          <a:prstGeom prst="rect">
            <a:avLst/>
          </a:prstGeom>
          <a:solidFill>
            <a:srgbClr val="FFFFFF"/>
          </a:solidFill>
          <a:ln/>
        </p:spPr>
      </p:sp>
      <p:sp>
        <p:nvSpPr>
          <p:cNvPr id="11" name="Text 9"/>
          <p:cNvSpPr/>
          <p:nvPr/>
        </p:nvSpPr>
        <p:spPr>
          <a:xfrm>
            <a:off x="731520" y="3392424"/>
            <a:ext cx="3017520" cy="621792"/>
          </a:xfrm>
          <a:prstGeom prst="rect">
            <a:avLst/>
          </a:prstGeom>
          <a:noFill/>
          <a:ln/>
        </p:spPr>
        <p:txBody>
          <a:bodyPr wrap="square" lIns="0" tIns="0" rIns="0" bIns="0" rtlCol="0" anchor="ctr"/>
          <a:lstStyle/>
          <a:p>
            <a:pPr indent="0" marL="0">
              <a:buNone/>
            </a:pPr>
            <a:r>
              <a:rPr lang="en-US" sz="1600" dirty="0">
                <a:solidFill>
                  <a:srgbClr val="1C3A32"/>
                </a:solidFill>
                <a:latin typeface="Georgia" pitchFamily="34" charset="0"/>
                <a:ea typeface="Georgia" pitchFamily="34" charset="-122"/>
                <a:cs typeface="Georgia" pitchFamily="34" charset="-120"/>
              </a:rPr>
              <a:t>What they do not change</a:t>
            </a:r>
            <a:endParaRPr lang="en-US" sz="1600" dirty="0"/>
          </a:p>
        </p:txBody>
      </p:sp>
      <p:sp>
        <p:nvSpPr>
          <p:cNvPr id="12" name="Text 10"/>
          <p:cNvSpPr/>
          <p:nvPr/>
        </p:nvSpPr>
        <p:spPr>
          <a:xfrm>
            <a:off x="3840480" y="3392424"/>
            <a:ext cx="7498080" cy="621792"/>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Sermon video, the app, and giving. Those stay in Subsplash. Wallet IDs stay off the form.</a:t>
            </a:r>
            <a:endParaRPr lang="en-US" sz="1500" dirty="0"/>
          </a:p>
        </p:txBody>
      </p:sp>
      <p:sp>
        <p:nvSpPr>
          <p:cNvPr id="13" name="Shape 11"/>
          <p:cNvSpPr/>
          <p:nvPr/>
        </p:nvSpPr>
        <p:spPr>
          <a:xfrm>
            <a:off x="502920" y="4215384"/>
            <a:ext cx="11155680" cy="841248"/>
          </a:xfrm>
          <a:prstGeom prst="rect">
            <a:avLst/>
          </a:prstGeom>
          <a:solidFill>
            <a:srgbClr val="FFFFFF"/>
          </a:solidFill>
          <a:ln/>
        </p:spPr>
      </p:sp>
      <p:sp>
        <p:nvSpPr>
          <p:cNvPr id="14" name="Text 12"/>
          <p:cNvSpPr/>
          <p:nvPr/>
        </p:nvSpPr>
        <p:spPr>
          <a:xfrm>
            <a:off x="731520" y="4325112"/>
            <a:ext cx="3017520" cy="621792"/>
          </a:xfrm>
          <a:prstGeom prst="rect">
            <a:avLst/>
          </a:prstGeom>
          <a:noFill/>
          <a:ln/>
        </p:spPr>
        <p:txBody>
          <a:bodyPr wrap="square" lIns="0" tIns="0" rIns="0" bIns="0" rtlCol="0" anchor="ctr"/>
          <a:lstStyle/>
          <a:p>
            <a:pPr indent="0" marL="0">
              <a:buNone/>
            </a:pPr>
            <a:r>
              <a:rPr lang="en-US" sz="1600" dirty="0">
                <a:solidFill>
                  <a:srgbClr val="1C3A32"/>
                </a:solidFill>
                <a:latin typeface="Georgia" pitchFamily="34" charset="0"/>
                <a:ea typeface="Georgia" pitchFamily="34" charset="-122"/>
                <a:cs typeface="Georgia" pitchFamily="34" charset="-120"/>
              </a:rPr>
              <a:t>What you keep</a:t>
            </a:r>
            <a:endParaRPr lang="en-US" sz="1600" dirty="0"/>
          </a:p>
        </p:txBody>
      </p:sp>
      <p:sp>
        <p:nvSpPr>
          <p:cNvPr id="15" name="Text 13"/>
          <p:cNvSpPr/>
          <p:nvPr/>
        </p:nvSpPr>
        <p:spPr>
          <a:xfrm>
            <a:off x="3840480" y="4325112"/>
            <a:ext cx="7498080" cy="621792"/>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The designed site: hero, ministry films, Visit page, and the look already in the preview.</a:t>
            </a:r>
            <a:endParaRPr lang="en-US" sz="1500" dirty="0"/>
          </a:p>
        </p:txBody>
      </p:sp>
      <p:sp>
        <p:nvSpPr>
          <p:cNvPr id="16" name="Shape 14"/>
          <p:cNvSpPr/>
          <p:nvPr/>
        </p:nvSpPr>
        <p:spPr>
          <a:xfrm>
            <a:off x="502920" y="5148072"/>
            <a:ext cx="11155680" cy="841248"/>
          </a:xfrm>
          <a:prstGeom prst="rect">
            <a:avLst/>
          </a:prstGeom>
          <a:solidFill>
            <a:srgbClr val="FFFFFF"/>
          </a:solidFill>
          <a:ln/>
        </p:spPr>
      </p:sp>
      <p:sp>
        <p:nvSpPr>
          <p:cNvPr id="17" name="Text 15"/>
          <p:cNvSpPr/>
          <p:nvPr/>
        </p:nvSpPr>
        <p:spPr>
          <a:xfrm>
            <a:off x="731520" y="5257800"/>
            <a:ext cx="3017520" cy="621792"/>
          </a:xfrm>
          <a:prstGeom prst="rect">
            <a:avLst/>
          </a:prstGeom>
          <a:noFill/>
          <a:ln/>
        </p:spPr>
        <p:txBody>
          <a:bodyPr wrap="square" lIns="0" tIns="0" rIns="0" bIns="0" rtlCol="0" anchor="ctr"/>
          <a:lstStyle/>
          <a:p>
            <a:pPr indent="0" marL="0">
              <a:buNone/>
            </a:pPr>
            <a:r>
              <a:rPr lang="en-US" sz="1600" dirty="0">
                <a:solidFill>
                  <a:srgbClr val="1C3A32"/>
                </a:solidFill>
                <a:latin typeface="Georgia" pitchFamily="34" charset="0"/>
                <a:ea typeface="Georgia" pitchFamily="34" charset="-122"/>
                <a:cs typeface="Georgia" pitchFamily="34" charset="-120"/>
              </a:rPr>
              <a:t>The tradeoff</a:t>
            </a:r>
            <a:endParaRPr lang="en-US" sz="1600" dirty="0"/>
          </a:p>
        </p:txBody>
      </p:sp>
      <p:sp>
        <p:nvSpPr>
          <p:cNvPr id="18" name="Text 16"/>
          <p:cNvSpPr/>
          <p:nvPr/>
        </p:nvSpPr>
        <p:spPr>
          <a:xfrm>
            <a:off x="3840480" y="5257800"/>
            <a:ext cx="7498080" cy="621792"/>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Two logins. Website in Tina. Sermons, giving, and the app in Subsplash. The homepage Watch card still follows Subsplash, not the message-title field.</a:t>
            </a:r>
            <a:endParaRPr lang="en-US" sz="1500" dirty="0"/>
          </a:p>
        </p:txBody>
      </p:sp>
      <p:sp>
        <p:nvSpPr>
          <p:cNvPr id="19" name="Text 17"/>
          <p:cNvSpPr/>
          <p:nvPr/>
        </p:nvSpPr>
        <p:spPr>
          <a:xfrm>
            <a:off x="502920" y="6510528"/>
            <a:ext cx="9326880" cy="219456"/>
          </a:xfrm>
          <a:prstGeom prst="rect">
            <a:avLst/>
          </a:prstGeom>
          <a:noFill/>
          <a:ln/>
        </p:spPr>
        <p:txBody>
          <a:bodyPr wrap="square" lIns="0" tIns="0" rIns="0" bIns="0" rtlCol="0" anchor="ctr"/>
          <a:lstStyle/>
          <a:p>
            <a:pPr indent="0" marL="0">
              <a:buNone/>
            </a:pPr>
            <a:r>
              <a:rPr lang="en-US" sz="1100" dirty="0">
                <a:solidFill>
                  <a:srgbClr val="5C6B64"/>
                </a:solidFill>
                <a:latin typeface="Calibri" pitchFamily="34" charset="0"/>
                <a:ea typeface="Calibri" pitchFamily="34" charset="-122"/>
                <a:cs typeface="Calibri" pitchFamily="34" charset="-120"/>
              </a:rPr>
              <a:t>Calvary Chapel Frederick  ·  Public website options  ·  28 September 2026</a:t>
            </a:r>
            <a:endParaRPr lang="en-US" sz="1100" dirty="0"/>
          </a:p>
        </p:txBody>
      </p:sp>
      <p:sp>
        <p:nvSpPr>
          <p:cNvPr id="20" name="Text 18"/>
          <p:cNvSpPr/>
          <p:nvPr/>
        </p:nvSpPr>
        <p:spPr>
          <a:xfrm>
            <a:off x="11155680" y="6510528"/>
            <a:ext cx="502920" cy="219456"/>
          </a:xfrm>
          <a:prstGeom prst="rect">
            <a:avLst/>
          </a:prstGeom>
          <a:noFill/>
          <a:ln/>
        </p:spPr>
        <p:txBody>
          <a:bodyPr wrap="square" lIns="0" tIns="0" rIns="0" bIns="0" rtlCol="0" anchor="ctr"/>
          <a:lstStyle/>
          <a:p>
            <a:pPr algn="r" indent="0" marL="0">
              <a:buNone/>
            </a:pPr>
            <a:r>
              <a:rPr lang="en-US" sz="1100" dirty="0">
                <a:solidFill>
                  <a:srgbClr val="5C6B64"/>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502920" y="320040"/>
            <a:ext cx="10972800" cy="438912"/>
          </a:xfrm>
          <a:prstGeom prst="rect">
            <a:avLst/>
          </a:prstGeom>
          <a:noFill/>
          <a:ln/>
        </p:spPr>
        <p:txBody>
          <a:bodyPr wrap="square" lIns="0" tIns="0" rIns="0" bIns="0" rtlCol="0" anchor="ctr"/>
          <a:lstStyle/>
          <a:p>
            <a:pPr indent="0" marL="0">
              <a:buNone/>
            </a:pPr>
            <a:r>
              <a:rPr lang="en-US" sz="3200" dirty="0">
                <a:solidFill>
                  <a:srgbClr val="1C3A32"/>
                </a:solidFill>
                <a:latin typeface="Georgia" pitchFamily="34" charset="0"/>
                <a:ea typeface="Georgia" pitchFamily="34" charset="-122"/>
                <a:cs typeface="Georgia" pitchFamily="34" charset="-120"/>
              </a:rPr>
              <a:t>Option 2  ·  SnapPages</a:t>
            </a:r>
            <a:endParaRPr lang="en-US" sz="3200" dirty="0"/>
          </a:p>
        </p:txBody>
      </p:sp>
      <p:sp>
        <p:nvSpPr>
          <p:cNvPr id="3" name="Text 1"/>
          <p:cNvSpPr/>
          <p:nvPr/>
        </p:nvSpPr>
        <p:spPr>
          <a:xfrm>
            <a:off x="502920" y="868680"/>
            <a:ext cx="11155680" cy="411480"/>
          </a:xfrm>
          <a:prstGeom prst="rect">
            <a:avLst/>
          </a:prstGeom>
          <a:noFill/>
          <a:ln/>
        </p:spPr>
        <p:txBody>
          <a:bodyPr wrap="square" lIns="0" tIns="0" rIns="0" bIns="0" rtlCol="0" anchor="ctr"/>
          <a:lstStyle/>
          <a:p>
            <a:pPr indent="0" marL="0">
              <a:buNone/>
            </a:pPr>
            <a:r>
              <a:rPr lang="en-US" sz="1600" dirty="0">
                <a:solidFill>
                  <a:srgbClr val="1E2A26"/>
                </a:solidFill>
                <a:latin typeface="Calibri" pitchFamily="34" charset="0"/>
                <a:ea typeface="Calibri" pitchFamily="34" charset="-122"/>
                <a:cs typeface="Calibri" pitchFamily="34" charset="-120"/>
              </a:rPr>
              <a:t>Subsplash’s website builder. The holding site shows the church already has a websites seat. The interiors on it are still placeholder copy.</a:t>
            </a:r>
            <a:endParaRPr lang="en-US" sz="1600" dirty="0"/>
          </a:p>
        </p:txBody>
      </p:sp>
      <p:sp>
        <p:nvSpPr>
          <p:cNvPr id="4" name="Shape 2"/>
          <p:cNvSpPr/>
          <p:nvPr/>
        </p:nvSpPr>
        <p:spPr>
          <a:xfrm>
            <a:off x="502920" y="1417320"/>
            <a:ext cx="11155680" cy="841248"/>
          </a:xfrm>
          <a:prstGeom prst="rect">
            <a:avLst/>
          </a:prstGeom>
          <a:solidFill>
            <a:srgbClr val="FFFFFF"/>
          </a:solidFill>
          <a:ln/>
        </p:spPr>
      </p:sp>
      <p:sp>
        <p:nvSpPr>
          <p:cNvPr id="5" name="Text 3"/>
          <p:cNvSpPr/>
          <p:nvPr/>
        </p:nvSpPr>
        <p:spPr>
          <a:xfrm>
            <a:off x="731520" y="1527048"/>
            <a:ext cx="3017520" cy="621792"/>
          </a:xfrm>
          <a:prstGeom prst="rect">
            <a:avLst/>
          </a:prstGeom>
          <a:noFill/>
          <a:ln/>
        </p:spPr>
        <p:txBody>
          <a:bodyPr wrap="square" lIns="0" tIns="0" rIns="0" bIns="0" rtlCol="0" anchor="ctr"/>
          <a:lstStyle/>
          <a:p>
            <a:pPr indent="0" marL="0">
              <a:buNone/>
            </a:pPr>
            <a:r>
              <a:rPr lang="en-US" sz="1600" dirty="0">
                <a:solidFill>
                  <a:srgbClr val="1C3A32"/>
                </a:solidFill>
                <a:latin typeface="Georgia" pitchFamily="34" charset="0"/>
                <a:ea typeface="Georgia" pitchFamily="34" charset="-122"/>
                <a:cs typeface="Georgia" pitchFamily="34" charset="-120"/>
              </a:rPr>
              <a:t>What the office does</a:t>
            </a:r>
            <a:endParaRPr lang="en-US" sz="1600" dirty="0"/>
          </a:p>
        </p:txBody>
      </p:sp>
      <p:sp>
        <p:nvSpPr>
          <p:cNvPr id="6" name="Text 4"/>
          <p:cNvSpPr/>
          <p:nvPr/>
        </p:nvSpPr>
        <p:spPr>
          <a:xfrm>
            <a:off x="3840480" y="1527048"/>
            <a:ext cx="7498080" cy="621792"/>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Signs into Subsplash and edits blocks on the page. One login covers the website, the app, and giving.</a:t>
            </a:r>
            <a:endParaRPr lang="en-US" sz="1500" dirty="0"/>
          </a:p>
        </p:txBody>
      </p:sp>
      <p:sp>
        <p:nvSpPr>
          <p:cNvPr id="7" name="Shape 5"/>
          <p:cNvSpPr/>
          <p:nvPr/>
        </p:nvSpPr>
        <p:spPr>
          <a:xfrm>
            <a:off x="502920" y="2350008"/>
            <a:ext cx="11155680" cy="841248"/>
          </a:xfrm>
          <a:prstGeom prst="rect">
            <a:avLst/>
          </a:prstGeom>
          <a:solidFill>
            <a:srgbClr val="FFFFFF"/>
          </a:solidFill>
          <a:ln/>
        </p:spPr>
      </p:sp>
      <p:sp>
        <p:nvSpPr>
          <p:cNvPr id="8" name="Text 6"/>
          <p:cNvSpPr/>
          <p:nvPr/>
        </p:nvSpPr>
        <p:spPr>
          <a:xfrm>
            <a:off x="731520" y="2459736"/>
            <a:ext cx="3017520" cy="621792"/>
          </a:xfrm>
          <a:prstGeom prst="rect">
            <a:avLst/>
          </a:prstGeom>
          <a:noFill/>
          <a:ln/>
        </p:spPr>
        <p:txBody>
          <a:bodyPr wrap="square" lIns="0" tIns="0" rIns="0" bIns="0" rtlCol="0" anchor="ctr"/>
          <a:lstStyle/>
          <a:p>
            <a:pPr indent="0" marL="0">
              <a:buNone/>
            </a:pPr>
            <a:r>
              <a:rPr lang="en-US" sz="1600" dirty="0">
                <a:solidFill>
                  <a:srgbClr val="1C3A32"/>
                </a:solidFill>
                <a:latin typeface="Georgia" pitchFamily="34" charset="0"/>
                <a:ea typeface="Georgia" pitchFamily="34" charset="-122"/>
                <a:cs typeface="Georgia" pitchFamily="34" charset="-120"/>
              </a:rPr>
              <a:t>What they can change</a:t>
            </a:r>
            <a:endParaRPr lang="en-US" sz="1600" dirty="0"/>
          </a:p>
        </p:txBody>
      </p:sp>
      <p:sp>
        <p:nvSpPr>
          <p:cNvPr id="9" name="Text 7"/>
          <p:cNvSpPr/>
          <p:nvPr/>
        </p:nvSpPr>
        <p:spPr>
          <a:xfrm>
            <a:off x="3840480" y="2459736"/>
            <a:ext cx="7498080" cy="621792"/>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Text, photos, and sections inside the SnapPages theme. A native giving block and media block sit in the same editor.</a:t>
            </a:r>
            <a:endParaRPr lang="en-US" sz="1500" dirty="0"/>
          </a:p>
        </p:txBody>
      </p:sp>
      <p:sp>
        <p:nvSpPr>
          <p:cNvPr id="10" name="Shape 8"/>
          <p:cNvSpPr/>
          <p:nvPr/>
        </p:nvSpPr>
        <p:spPr>
          <a:xfrm>
            <a:off x="502920" y="3282696"/>
            <a:ext cx="11155680" cy="841248"/>
          </a:xfrm>
          <a:prstGeom prst="rect">
            <a:avLst/>
          </a:prstGeom>
          <a:solidFill>
            <a:srgbClr val="FFFFFF"/>
          </a:solidFill>
          <a:ln/>
        </p:spPr>
      </p:sp>
      <p:sp>
        <p:nvSpPr>
          <p:cNvPr id="11" name="Text 9"/>
          <p:cNvSpPr/>
          <p:nvPr/>
        </p:nvSpPr>
        <p:spPr>
          <a:xfrm>
            <a:off x="731520" y="3392424"/>
            <a:ext cx="3017520" cy="621792"/>
          </a:xfrm>
          <a:prstGeom prst="rect">
            <a:avLst/>
          </a:prstGeom>
          <a:noFill/>
          <a:ln/>
        </p:spPr>
        <p:txBody>
          <a:bodyPr wrap="square" lIns="0" tIns="0" rIns="0" bIns="0" rtlCol="0" anchor="ctr"/>
          <a:lstStyle/>
          <a:p>
            <a:pPr indent="0" marL="0">
              <a:buNone/>
            </a:pPr>
            <a:r>
              <a:rPr lang="en-US" sz="1600" dirty="0">
                <a:solidFill>
                  <a:srgbClr val="1C3A32"/>
                </a:solidFill>
                <a:latin typeface="Georgia" pitchFamily="34" charset="0"/>
                <a:ea typeface="Georgia" pitchFamily="34" charset="-122"/>
                <a:cs typeface="Georgia" pitchFamily="34" charset="-120"/>
              </a:rPr>
              <a:t>What gets rebuilt</a:t>
            </a:r>
            <a:endParaRPr lang="en-US" sz="1600" dirty="0"/>
          </a:p>
        </p:txBody>
      </p:sp>
      <p:sp>
        <p:nvSpPr>
          <p:cNvPr id="12" name="Text 10"/>
          <p:cNvSpPr/>
          <p:nvPr/>
        </p:nvSpPr>
        <p:spPr>
          <a:xfrm>
            <a:off x="3840480" y="3392424"/>
            <a:ext cx="7498080" cy="621792"/>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Home, Visit, ministries, Media, and Give. The current site cannot be dropped in. Layout, type, and the ministry films are approximated.</a:t>
            </a:r>
            <a:endParaRPr lang="en-US" sz="1500" dirty="0"/>
          </a:p>
        </p:txBody>
      </p:sp>
      <p:sp>
        <p:nvSpPr>
          <p:cNvPr id="13" name="Shape 11"/>
          <p:cNvSpPr/>
          <p:nvPr/>
        </p:nvSpPr>
        <p:spPr>
          <a:xfrm>
            <a:off x="502920" y="4215384"/>
            <a:ext cx="11155680" cy="841248"/>
          </a:xfrm>
          <a:prstGeom prst="rect">
            <a:avLst/>
          </a:prstGeom>
          <a:solidFill>
            <a:srgbClr val="FFFFFF"/>
          </a:solidFill>
          <a:ln/>
        </p:spPr>
      </p:sp>
      <p:sp>
        <p:nvSpPr>
          <p:cNvPr id="14" name="Text 12"/>
          <p:cNvSpPr/>
          <p:nvPr/>
        </p:nvSpPr>
        <p:spPr>
          <a:xfrm>
            <a:off x="731520" y="4325112"/>
            <a:ext cx="3017520" cy="621792"/>
          </a:xfrm>
          <a:prstGeom prst="rect">
            <a:avLst/>
          </a:prstGeom>
          <a:noFill/>
          <a:ln/>
        </p:spPr>
        <p:txBody>
          <a:bodyPr wrap="square" lIns="0" tIns="0" rIns="0" bIns="0" rtlCol="0" anchor="ctr"/>
          <a:lstStyle/>
          <a:p>
            <a:pPr indent="0" marL="0">
              <a:buNone/>
            </a:pPr>
            <a:r>
              <a:rPr lang="en-US" sz="1600" dirty="0">
                <a:solidFill>
                  <a:srgbClr val="1C3A32"/>
                </a:solidFill>
                <a:latin typeface="Georgia" pitchFamily="34" charset="0"/>
                <a:ea typeface="Georgia" pitchFamily="34" charset="-122"/>
                <a:cs typeface="Georgia" pitchFamily="34" charset="-120"/>
              </a:rPr>
              <a:t>What you give up</a:t>
            </a:r>
            <a:endParaRPr lang="en-US" sz="1600" dirty="0"/>
          </a:p>
        </p:txBody>
      </p:sp>
      <p:sp>
        <p:nvSpPr>
          <p:cNvPr id="15" name="Text 13"/>
          <p:cNvSpPr/>
          <p:nvPr/>
        </p:nvSpPr>
        <p:spPr>
          <a:xfrm>
            <a:off x="3840480" y="4325112"/>
            <a:ext cx="7498080" cy="621792"/>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Grok and an IDE cannot edit the public pages the way they edit this project. Custom layout CSS is outside SnapPages support.</a:t>
            </a:r>
            <a:endParaRPr lang="en-US" sz="1500" dirty="0"/>
          </a:p>
        </p:txBody>
      </p:sp>
      <p:sp>
        <p:nvSpPr>
          <p:cNvPr id="16" name="Shape 14"/>
          <p:cNvSpPr/>
          <p:nvPr/>
        </p:nvSpPr>
        <p:spPr>
          <a:xfrm>
            <a:off x="502920" y="5148072"/>
            <a:ext cx="11155680" cy="841248"/>
          </a:xfrm>
          <a:prstGeom prst="rect">
            <a:avLst/>
          </a:prstGeom>
          <a:solidFill>
            <a:srgbClr val="FFFFFF"/>
          </a:solidFill>
          <a:ln/>
        </p:spPr>
      </p:sp>
      <p:sp>
        <p:nvSpPr>
          <p:cNvPr id="17" name="Text 15"/>
          <p:cNvSpPr/>
          <p:nvPr/>
        </p:nvSpPr>
        <p:spPr>
          <a:xfrm>
            <a:off x="731520" y="5257800"/>
            <a:ext cx="3017520" cy="621792"/>
          </a:xfrm>
          <a:prstGeom prst="rect">
            <a:avLst/>
          </a:prstGeom>
          <a:noFill/>
          <a:ln/>
        </p:spPr>
        <p:txBody>
          <a:bodyPr wrap="square" lIns="0" tIns="0" rIns="0" bIns="0" rtlCol="0" anchor="ctr"/>
          <a:lstStyle/>
          <a:p>
            <a:pPr indent="0" marL="0">
              <a:buNone/>
            </a:pPr>
            <a:r>
              <a:rPr lang="en-US" sz="1600" dirty="0">
                <a:solidFill>
                  <a:srgbClr val="1C3A32"/>
                </a:solidFill>
                <a:latin typeface="Georgia" pitchFamily="34" charset="0"/>
                <a:ea typeface="Georgia" pitchFamily="34" charset="-122"/>
                <a:cs typeface="Georgia" pitchFamily="34" charset="-120"/>
              </a:rPr>
              <a:t>The tradeoff</a:t>
            </a:r>
            <a:endParaRPr lang="en-US" sz="1600" dirty="0"/>
          </a:p>
        </p:txBody>
      </p:sp>
      <p:sp>
        <p:nvSpPr>
          <p:cNvPr id="18" name="Text 16"/>
          <p:cNvSpPr/>
          <p:nvPr/>
        </p:nvSpPr>
        <p:spPr>
          <a:xfrm>
            <a:off x="3840480" y="5257800"/>
            <a:ext cx="7498080" cy="621792"/>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Simpler for a volunteer who wants one church login. The finished look is the theme, not the site already designed.</a:t>
            </a:r>
            <a:endParaRPr lang="en-US" sz="1500" dirty="0"/>
          </a:p>
        </p:txBody>
      </p:sp>
      <p:sp>
        <p:nvSpPr>
          <p:cNvPr id="19" name="Text 17"/>
          <p:cNvSpPr/>
          <p:nvPr/>
        </p:nvSpPr>
        <p:spPr>
          <a:xfrm>
            <a:off x="502920" y="6510528"/>
            <a:ext cx="9326880" cy="219456"/>
          </a:xfrm>
          <a:prstGeom prst="rect">
            <a:avLst/>
          </a:prstGeom>
          <a:noFill/>
          <a:ln/>
        </p:spPr>
        <p:txBody>
          <a:bodyPr wrap="square" lIns="0" tIns="0" rIns="0" bIns="0" rtlCol="0" anchor="ctr"/>
          <a:lstStyle/>
          <a:p>
            <a:pPr indent="0" marL="0">
              <a:buNone/>
            </a:pPr>
            <a:r>
              <a:rPr lang="en-US" sz="1100" dirty="0">
                <a:solidFill>
                  <a:srgbClr val="5C6B64"/>
                </a:solidFill>
                <a:latin typeface="Calibri" pitchFamily="34" charset="0"/>
                <a:ea typeface="Calibri" pitchFamily="34" charset="-122"/>
                <a:cs typeface="Calibri" pitchFamily="34" charset="-120"/>
              </a:rPr>
              <a:t>Calvary Chapel Frederick  ·  Public website options  ·  28 September 2026</a:t>
            </a:r>
            <a:endParaRPr lang="en-US" sz="1100" dirty="0"/>
          </a:p>
        </p:txBody>
      </p:sp>
      <p:sp>
        <p:nvSpPr>
          <p:cNvPr id="20" name="Text 18"/>
          <p:cNvSpPr/>
          <p:nvPr/>
        </p:nvSpPr>
        <p:spPr>
          <a:xfrm>
            <a:off x="11155680" y="6510528"/>
            <a:ext cx="502920" cy="219456"/>
          </a:xfrm>
          <a:prstGeom prst="rect">
            <a:avLst/>
          </a:prstGeom>
          <a:noFill/>
          <a:ln/>
        </p:spPr>
        <p:txBody>
          <a:bodyPr wrap="square" lIns="0" tIns="0" rIns="0" bIns="0" rtlCol="0" anchor="ctr"/>
          <a:lstStyle/>
          <a:p>
            <a:pPr algn="r" indent="0" marL="0">
              <a:buNone/>
            </a:pPr>
            <a:r>
              <a:rPr lang="en-US" sz="1100" dirty="0">
                <a:solidFill>
                  <a:srgbClr val="5C6B64"/>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502920" y="292608"/>
            <a:ext cx="10972800" cy="420624"/>
          </a:xfrm>
          <a:prstGeom prst="rect">
            <a:avLst/>
          </a:prstGeom>
          <a:noFill/>
          <a:ln/>
        </p:spPr>
        <p:txBody>
          <a:bodyPr wrap="square" lIns="0" tIns="0" rIns="0" bIns="0" rtlCol="0" anchor="ctr"/>
          <a:lstStyle/>
          <a:p>
            <a:pPr indent="0" marL="0">
              <a:buNone/>
            </a:pPr>
            <a:r>
              <a:rPr lang="en-US" sz="3000" dirty="0">
                <a:solidFill>
                  <a:srgbClr val="1C3A32"/>
                </a:solidFill>
                <a:latin typeface="Georgia" pitchFamily="34" charset="0"/>
                <a:ea typeface="Georgia" pitchFamily="34" charset="-122"/>
                <a:cs typeface="Georgia" pitchFamily="34" charset="-120"/>
              </a:rPr>
              <a:t>What is new money, and what is not</a:t>
            </a:r>
            <a:endParaRPr lang="en-US" sz="3000" dirty="0"/>
          </a:p>
        </p:txBody>
      </p:sp>
      <p:sp>
        <p:nvSpPr>
          <p:cNvPr id="3" name="Text 1"/>
          <p:cNvSpPr/>
          <p:nvPr/>
        </p:nvSpPr>
        <p:spPr>
          <a:xfrm>
            <a:off x="502920" y="768096"/>
            <a:ext cx="10972800" cy="292608"/>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The Subsplash bill for the app, giving, and sermons stays on both options. These rows are only the website.</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38560" cy="4983480"/>
        </p:xfrm>
        <a:graphic>
          <a:graphicData uri="http://schemas.openxmlformats.org/drawingml/2006/table">
            <a:tbl>
              <a:tblPr/>
              <a:tblGrid>
                <a:gridCol w="2103120"/>
                <a:gridCol w="4617720"/>
                <a:gridCol w="4617720"/>
              </a:tblGrid>
              <a:tr h="830580">
                <a:tc>
                  <a:txBody>
                    <a:bodyPr/>
                    <a:lstStyle/>
                    <a:p>
                      <a:pPr algn="l" indent="0" marL="0">
                        <a:buNone/>
                      </a:pPr>
                      <a:r>
                        <a:rPr lang="en-US" sz="1300" b="1" dirty="0">
                          <a:solidFill>
                            <a:srgbClr val="F6F1E7"/>
                          </a:solidFill>
                          <a:latin typeface="Calibri" pitchFamily="34" charset="0"/>
                          <a:ea typeface="Calibri" pitchFamily="34" charset="-122"/>
                          <a:cs typeface="Calibri" pitchFamily="34" charset="-120"/>
                        </a:rPr>
                        <a:t>Website cost</a:t>
                      </a:r>
                      <a:endParaRPr lang="en-US" sz="1300" dirty="0">
                        <a:latin typeface="Calibri" charset="0"/>
                        <a:ea typeface="Calibri" charset="0"/>
                        <a:cs typeface="Calibri" charset="0"/>
                      </a:endParaRPr>
                    </a:p>
                  </a:txBody>
                  <a:tcPr marL="76200" marR="76200" marT="76200" marB="76200" anchor="ctr">
                    <a:lnL w="12700" cap="flat" cmpd="sng" algn="ctr">
                      <a:solidFill>
                        <a:srgbClr val="F6F1E7"/>
                      </a:solidFill>
                      <a:prstDash val="solid"/>
                      <a:round/>
                      <a:headEnd type="none" w="med" len="med"/>
                      <a:tailEnd type="none" w="med" len="med"/>
                    </a:lnL>
                    <a:lnR w="12700" cap="flat" cmpd="sng" algn="ctr">
                      <a:solidFill>
                        <a:srgbClr val="F6F1E7"/>
                      </a:solidFill>
                      <a:prstDash val="solid"/>
                      <a:round/>
                      <a:headEnd type="none" w="med" len="med"/>
                      <a:tailEnd type="none" w="med" len="med"/>
                    </a:lnR>
                    <a:lnT w="12700" cap="flat" cmpd="sng" algn="ctr">
                      <a:solidFill>
                        <a:srgbClr val="F6F1E7"/>
                      </a:solidFill>
                      <a:prstDash val="solid"/>
                      <a:round/>
                      <a:headEnd type="none" w="med" len="med"/>
                      <a:tailEnd type="none" w="med" len="med"/>
                    </a:lnT>
                    <a:lnB w="12700" cap="flat" cmpd="sng" algn="ctr">
                      <a:solidFill>
                        <a:srgbClr val="F6F1E7"/>
                      </a:solidFill>
                      <a:prstDash val="solid"/>
                      <a:round/>
                      <a:headEnd type="none" w="med" len="med"/>
                      <a:tailEnd type="none" w="med" len="med"/>
                    </a:lnB>
                    <a:solidFill>
                      <a:srgbClr val="1C3A32"/>
                    </a:solidFill>
                  </a:tcPr>
                </a:tc>
                <a:tc>
                  <a:txBody>
                    <a:bodyPr/>
                    <a:lstStyle/>
                    <a:p>
                      <a:pPr algn="l" indent="0" marL="0">
                        <a:buNone/>
                      </a:pPr>
                      <a:r>
                        <a:rPr lang="en-US" sz="1300" b="1" dirty="0">
                          <a:solidFill>
                            <a:srgbClr val="F6F1E7"/>
                          </a:solidFill>
                          <a:latin typeface="Calibri" pitchFamily="34" charset="0"/>
                          <a:ea typeface="Calibri" pitchFamily="34" charset="-122"/>
                          <a:cs typeface="Calibri" pitchFamily="34" charset="-120"/>
                        </a:rPr>
                        <a:t>Option 1  ·  Tina</a:t>
                      </a:r>
                      <a:endParaRPr lang="en-US" sz="1300" dirty="0">
                        <a:latin typeface="Calibri" charset="0"/>
                        <a:ea typeface="Calibri" charset="0"/>
                        <a:cs typeface="Calibri" charset="0"/>
                      </a:endParaRPr>
                    </a:p>
                  </a:txBody>
                  <a:tcPr marL="76200" marR="76200" marT="76200" marB="76200" anchor="ctr">
                    <a:lnL w="12700" cap="flat" cmpd="sng" algn="ctr">
                      <a:solidFill>
                        <a:srgbClr val="F6F1E7"/>
                      </a:solidFill>
                      <a:prstDash val="solid"/>
                      <a:round/>
                      <a:headEnd type="none" w="med" len="med"/>
                      <a:tailEnd type="none" w="med" len="med"/>
                    </a:lnL>
                    <a:lnR w="12700" cap="flat" cmpd="sng" algn="ctr">
                      <a:solidFill>
                        <a:srgbClr val="F6F1E7"/>
                      </a:solidFill>
                      <a:prstDash val="solid"/>
                      <a:round/>
                      <a:headEnd type="none" w="med" len="med"/>
                      <a:tailEnd type="none" w="med" len="med"/>
                    </a:lnR>
                    <a:lnT w="12700" cap="flat" cmpd="sng" algn="ctr">
                      <a:solidFill>
                        <a:srgbClr val="F6F1E7"/>
                      </a:solidFill>
                      <a:prstDash val="solid"/>
                      <a:round/>
                      <a:headEnd type="none" w="med" len="med"/>
                      <a:tailEnd type="none" w="med" len="med"/>
                    </a:lnT>
                    <a:lnB w="12700" cap="flat" cmpd="sng" algn="ctr">
                      <a:solidFill>
                        <a:srgbClr val="F6F1E7"/>
                      </a:solidFill>
                      <a:prstDash val="solid"/>
                      <a:round/>
                      <a:headEnd type="none" w="med" len="med"/>
                      <a:tailEnd type="none" w="med" len="med"/>
                    </a:lnB>
                    <a:solidFill>
                      <a:srgbClr val="1C3A32"/>
                    </a:solidFill>
                  </a:tcPr>
                </a:tc>
                <a:tc>
                  <a:txBody>
                    <a:bodyPr/>
                    <a:lstStyle/>
                    <a:p>
                      <a:pPr algn="l" indent="0" marL="0">
                        <a:buNone/>
                      </a:pPr>
                      <a:r>
                        <a:rPr lang="en-US" sz="1300" b="1" dirty="0">
                          <a:solidFill>
                            <a:srgbClr val="F6F1E7"/>
                          </a:solidFill>
                          <a:latin typeface="Calibri" pitchFamily="34" charset="0"/>
                          <a:ea typeface="Calibri" pitchFamily="34" charset="-122"/>
                          <a:cs typeface="Calibri" pitchFamily="34" charset="-120"/>
                        </a:rPr>
                        <a:t>Option 2  ·  SnapPages</a:t>
                      </a:r>
                      <a:endParaRPr lang="en-US" sz="1300" dirty="0">
                        <a:latin typeface="Calibri" charset="0"/>
                        <a:ea typeface="Calibri" charset="0"/>
                        <a:cs typeface="Calibri" charset="0"/>
                      </a:endParaRPr>
                    </a:p>
                  </a:txBody>
                  <a:tcPr marL="76200" marR="76200" marT="76200" marB="76200" anchor="ctr">
                    <a:lnL w="12700" cap="flat" cmpd="sng" algn="ctr">
                      <a:solidFill>
                        <a:srgbClr val="F6F1E7"/>
                      </a:solidFill>
                      <a:prstDash val="solid"/>
                      <a:round/>
                      <a:headEnd type="none" w="med" len="med"/>
                      <a:tailEnd type="none" w="med" len="med"/>
                    </a:lnL>
                    <a:lnR w="12700" cap="flat" cmpd="sng" algn="ctr">
                      <a:solidFill>
                        <a:srgbClr val="F6F1E7"/>
                      </a:solidFill>
                      <a:prstDash val="solid"/>
                      <a:round/>
                      <a:headEnd type="none" w="med" len="med"/>
                      <a:tailEnd type="none" w="med" len="med"/>
                    </a:lnR>
                    <a:lnT w="12700" cap="flat" cmpd="sng" algn="ctr">
                      <a:solidFill>
                        <a:srgbClr val="F6F1E7"/>
                      </a:solidFill>
                      <a:prstDash val="solid"/>
                      <a:round/>
                      <a:headEnd type="none" w="med" len="med"/>
                      <a:tailEnd type="none" w="med" len="med"/>
                    </a:lnT>
                    <a:lnB w="12700" cap="flat" cmpd="sng" algn="ctr">
                      <a:solidFill>
                        <a:srgbClr val="F6F1E7"/>
                      </a:solidFill>
                      <a:prstDash val="solid"/>
                      <a:round/>
                      <a:headEnd type="none" w="med" len="med"/>
                      <a:tailEnd type="none" w="med" len="med"/>
                    </a:lnB>
                    <a:solidFill>
                      <a:srgbClr val="1C3A32"/>
                    </a:solidFill>
                  </a:tcPr>
                </a:tc>
              </a:tr>
              <a:tr h="830580">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Editor software</a:t>
                      </a:r>
                      <a:endParaRPr lang="en-US" sz="1300" dirty="0">
                        <a:latin typeface="Calibri" charset="0"/>
                        <a:ea typeface="Calibri" charset="0"/>
                        <a:cs typeface="Calibri" charset="0"/>
                      </a:endParaRPr>
                    </a:p>
                  </a:txBody>
                  <a:tcPr marL="76200" marR="76200" marT="76200" marB="76200" anchor="ctr">
                    <a:lnL w="12700" cap="flat" cmpd="sng" algn="ctr">
                      <a:solidFill>
                        <a:srgbClr val="F6F1E7"/>
                      </a:solidFill>
                      <a:prstDash val="solid"/>
                      <a:round/>
                      <a:headEnd type="none" w="med" len="med"/>
                      <a:tailEnd type="none" w="med" len="med"/>
                    </a:lnL>
                    <a:lnR w="12700" cap="flat" cmpd="sng" algn="ctr">
                      <a:solidFill>
                        <a:srgbClr val="F6F1E7"/>
                      </a:solidFill>
                      <a:prstDash val="solid"/>
                      <a:round/>
                      <a:headEnd type="none" w="med" len="med"/>
                      <a:tailEnd type="none" w="med" len="med"/>
                    </a:lnR>
                    <a:lnT w="12700" cap="flat" cmpd="sng" algn="ctr">
                      <a:solidFill>
                        <a:srgbClr val="F6F1E7"/>
                      </a:solidFill>
                      <a:prstDash val="solid"/>
                      <a:round/>
                      <a:headEnd type="none" w="med" len="med"/>
                      <a:tailEnd type="none" w="med" len="med"/>
                    </a:lnT>
                    <a:lnB w="12700" cap="flat" cmpd="sng" algn="ctr">
                      <a:solidFill>
                        <a:srgbClr val="F6F1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Tina Team, $24 a month for 3 people. $290 if paid yearly. Free plan stops at 2 people.</a:t>
                      </a:r>
                      <a:endParaRPr lang="en-US" sz="1300" dirty="0">
                        <a:latin typeface="Calibri" charset="0"/>
                        <a:ea typeface="Calibri" charset="0"/>
                        <a:cs typeface="Calibri" charset="0"/>
                      </a:endParaRPr>
                    </a:p>
                  </a:txBody>
                  <a:tcPr marL="76200" marR="76200" marT="76200" marB="76200" anchor="ctr">
                    <a:lnL w="12700" cap="flat" cmpd="sng" algn="ctr">
                      <a:solidFill>
                        <a:srgbClr val="F6F1E7"/>
                      </a:solidFill>
                      <a:prstDash val="solid"/>
                      <a:round/>
                      <a:headEnd type="none" w="med" len="med"/>
                      <a:tailEnd type="none" w="med" len="med"/>
                    </a:lnL>
                    <a:lnR w="12700" cap="flat" cmpd="sng" algn="ctr">
                      <a:solidFill>
                        <a:srgbClr val="F6F1E7"/>
                      </a:solidFill>
                      <a:prstDash val="solid"/>
                      <a:round/>
                      <a:headEnd type="none" w="med" len="med"/>
                      <a:tailEnd type="none" w="med" len="med"/>
                    </a:lnR>
                    <a:lnT w="12700" cap="flat" cmpd="sng" algn="ctr">
                      <a:solidFill>
                        <a:srgbClr val="F6F1E7"/>
                      </a:solidFill>
                      <a:prstDash val="solid"/>
                      <a:round/>
                      <a:headEnd type="none" w="med" len="med"/>
                      <a:tailEnd type="none" w="med" len="med"/>
                    </a:lnT>
                    <a:lnB w="12700" cap="flat" cmpd="sng" algn="ctr">
                      <a:solidFill>
                        <a:srgbClr val="F6F1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No separate editor fee. Uses the Subsplash websites seat the church already has.</a:t>
                      </a:r>
                      <a:endParaRPr lang="en-US" sz="1300" dirty="0">
                        <a:latin typeface="Calibri" charset="0"/>
                        <a:ea typeface="Calibri" charset="0"/>
                        <a:cs typeface="Calibri" charset="0"/>
                      </a:endParaRPr>
                    </a:p>
                  </a:txBody>
                  <a:tcPr marL="76200" marR="76200" marT="76200" marB="76200" anchor="ctr">
                    <a:lnL w="12700" cap="flat" cmpd="sng" algn="ctr">
                      <a:solidFill>
                        <a:srgbClr val="F6F1E7"/>
                      </a:solidFill>
                      <a:prstDash val="solid"/>
                      <a:round/>
                      <a:headEnd type="none" w="med" len="med"/>
                      <a:tailEnd type="none" w="med" len="med"/>
                    </a:lnL>
                    <a:lnR w="12700" cap="flat" cmpd="sng" algn="ctr">
                      <a:solidFill>
                        <a:srgbClr val="F6F1E7"/>
                      </a:solidFill>
                      <a:prstDash val="solid"/>
                      <a:round/>
                      <a:headEnd type="none" w="med" len="med"/>
                      <a:tailEnd type="none" w="med" len="med"/>
                    </a:lnR>
                    <a:lnT w="12700" cap="flat" cmpd="sng" algn="ctr">
                      <a:solidFill>
                        <a:srgbClr val="F6F1E7"/>
                      </a:solidFill>
                      <a:prstDash val="solid"/>
                      <a:round/>
                      <a:headEnd type="none" w="med" len="med"/>
                      <a:tailEnd type="none" w="med" len="med"/>
                    </a:lnT>
                    <a:lnB w="12700" cap="flat" cmpd="sng" algn="ctr">
                      <a:solidFill>
                        <a:srgbClr val="F6F1E7"/>
                      </a:solidFill>
                      <a:prstDash val="solid"/>
                      <a:round/>
                      <a:headEnd type="none" w="med" len="med"/>
                      <a:tailEnd type="none" w="med" len="med"/>
                    </a:lnB>
                    <a:solidFill>
                      <a:srgbClr val="FFFFFF"/>
                    </a:solidFill>
                  </a:tcPr>
                </a:tc>
              </a:tr>
              <a:tr h="830580">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Hosting</a:t>
                      </a:r>
                      <a:endParaRPr lang="en-US" sz="1300" dirty="0">
                        <a:latin typeface="Calibri" charset="0"/>
                        <a:ea typeface="Calibri" charset="0"/>
                        <a:cs typeface="Calibri" charset="0"/>
                      </a:endParaRPr>
                    </a:p>
                  </a:txBody>
                  <a:tcPr marL="76200" marR="76200" marT="76200" marB="76200" anchor="ctr">
                    <a:lnL w="12700" cap="flat" cmpd="sng" algn="ctr">
                      <a:solidFill>
                        <a:srgbClr val="F6F1E7"/>
                      </a:solidFill>
                      <a:prstDash val="solid"/>
                      <a:round/>
                      <a:headEnd type="none" w="med" len="med"/>
                      <a:tailEnd type="none" w="med" len="med"/>
                    </a:lnL>
                    <a:lnR w="12700" cap="flat" cmpd="sng" algn="ctr">
                      <a:solidFill>
                        <a:srgbClr val="F6F1E7"/>
                      </a:solidFill>
                      <a:prstDash val="solid"/>
                      <a:round/>
                      <a:headEnd type="none" w="med" len="med"/>
                      <a:tailEnd type="none" w="med" len="med"/>
                    </a:lnR>
                    <a:lnT w="12700" cap="flat" cmpd="sng" algn="ctr">
                      <a:solidFill>
                        <a:srgbClr val="F6F1E7"/>
                      </a:solidFill>
                      <a:prstDash val="solid"/>
                      <a:round/>
                      <a:headEnd type="none" w="med" len="med"/>
                      <a:tailEnd type="none" w="med" len="med"/>
                    </a:lnT>
                    <a:lnB w="12700" cap="flat" cmpd="sng" algn="ctr">
                      <a:solidFill>
                        <a:srgbClr val="F6F1E7"/>
                      </a:solidFill>
                      <a:prstDash val="solid"/>
                      <a:round/>
                      <a:headEnd type="none" w="med" len="med"/>
                      <a:tailEnd type="none" w="med" len="med"/>
                    </a:lnB>
                    <a:solidFill>
                      <a:srgbClr val="F3EEE4"/>
                    </a:solidFill>
                  </a:tcPr>
                </a:tc>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Vercel, already running the preview. Budget $0 extra on the current team, or $20 a month if a new Pro seat is required.</a:t>
                      </a:r>
                      <a:endParaRPr lang="en-US" sz="1300" dirty="0">
                        <a:latin typeface="Calibri" charset="0"/>
                        <a:ea typeface="Calibri" charset="0"/>
                        <a:cs typeface="Calibri" charset="0"/>
                      </a:endParaRPr>
                    </a:p>
                  </a:txBody>
                  <a:tcPr marL="76200" marR="76200" marT="76200" marB="76200" anchor="ctr">
                    <a:lnL w="12700" cap="flat" cmpd="sng" algn="ctr">
                      <a:solidFill>
                        <a:srgbClr val="F6F1E7"/>
                      </a:solidFill>
                      <a:prstDash val="solid"/>
                      <a:round/>
                      <a:headEnd type="none" w="med" len="med"/>
                      <a:tailEnd type="none" w="med" len="med"/>
                    </a:lnL>
                    <a:lnR w="12700" cap="flat" cmpd="sng" algn="ctr">
                      <a:solidFill>
                        <a:srgbClr val="F6F1E7"/>
                      </a:solidFill>
                      <a:prstDash val="solid"/>
                      <a:round/>
                      <a:headEnd type="none" w="med" len="med"/>
                      <a:tailEnd type="none" w="med" len="med"/>
                    </a:lnR>
                    <a:lnT w="12700" cap="flat" cmpd="sng" algn="ctr">
                      <a:solidFill>
                        <a:srgbClr val="F6F1E7"/>
                      </a:solidFill>
                      <a:prstDash val="solid"/>
                      <a:round/>
                      <a:headEnd type="none" w="med" len="med"/>
                      <a:tailEnd type="none" w="med" len="med"/>
                    </a:lnT>
                    <a:lnB w="12700" cap="flat" cmpd="sng" algn="ctr">
                      <a:solidFill>
                        <a:srgbClr val="F6F1E7"/>
                      </a:solidFill>
                      <a:prstDash val="solid"/>
                      <a:round/>
                      <a:headEnd type="none" w="med" len="med"/>
                      <a:tailEnd type="none" w="med" len="med"/>
                    </a:lnB>
                    <a:solidFill>
                      <a:srgbClr val="F3EEE4"/>
                    </a:solidFill>
                  </a:tcPr>
                </a:tc>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Included with SnapPages. Hosting is Subsplash.</a:t>
                      </a:r>
                      <a:endParaRPr lang="en-US" sz="1300" dirty="0">
                        <a:latin typeface="Calibri" charset="0"/>
                        <a:ea typeface="Calibri" charset="0"/>
                        <a:cs typeface="Calibri" charset="0"/>
                      </a:endParaRPr>
                    </a:p>
                  </a:txBody>
                  <a:tcPr marL="76200" marR="76200" marT="76200" marB="76200" anchor="ctr">
                    <a:lnL w="12700" cap="flat" cmpd="sng" algn="ctr">
                      <a:solidFill>
                        <a:srgbClr val="F6F1E7"/>
                      </a:solidFill>
                      <a:prstDash val="solid"/>
                      <a:round/>
                      <a:headEnd type="none" w="med" len="med"/>
                      <a:tailEnd type="none" w="med" len="med"/>
                    </a:lnL>
                    <a:lnR w="12700" cap="flat" cmpd="sng" algn="ctr">
                      <a:solidFill>
                        <a:srgbClr val="F6F1E7"/>
                      </a:solidFill>
                      <a:prstDash val="solid"/>
                      <a:round/>
                      <a:headEnd type="none" w="med" len="med"/>
                      <a:tailEnd type="none" w="med" len="med"/>
                    </a:lnR>
                    <a:lnT w="12700" cap="flat" cmpd="sng" algn="ctr">
                      <a:solidFill>
                        <a:srgbClr val="F6F1E7"/>
                      </a:solidFill>
                      <a:prstDash val="solid"/>
                      <a:round/>
                      <a:headEnd type="none" w="med" len="med"/>
                      <a:tailEnd type="none" w="med" len="med"/>
                    </a:lnT>
                    <a:lnB w="12700" cap="flat" cmpd="sng" algn="ctr">
                      <a:solidFill>
                        <a:srgbClr val="F6F1E7"/>
                      </a:solidFill>
                      <a:prstDash val="solid"/>
                      <a:round/>
                      <a:headEnd type="none" w="med" len="med"/>
                      <a:tailEnd type="none" w="med" len="med"/>
                    </a:lnB>
                    <a:solidFill>
                      <a:srgbClr val="F3EEE4"/>
                    </a:solidFill>
                  </a:tcPr>
                </a:tc>
              </a:tr>
              <a:tr h="830580">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Rebuild</a:t>
                      </a:r>
                      <a:endParaRPr lang="en-US" sz="1300" dirty="0">
                        <a:latin typeface="Calibri" charset="0"/>
                        <a:ea typeface="Calibri" charset="0"/>
                        <a:cs typeface="Calibri" charset="0"/>
                      </a:endParaRPr>
                    </a:p>
                  </a:txBody>
                  <a:tcPr marL="76200" marR="76200" marT="76200" marB="76200" anchor="ctr">
                    <a:lnL w="12700" cap="flat" cmpd="sng" algn="ctr">
                      <a:solidFill>
                        <a:srgbClr val="F6F1E7"/>
                      </a:solidFill>
                      <a:prstDash val="solid"/>
                      <a:round/>
                      <a:headEnd type="none" w="med" len="med"/>
                      <a:tailEnd type="none" w="med" len="med"/>
                    </a:lnL>
                    <a:lnR w="12700" cap="flat" cmpd="sng" algn="ctr">
                      <a:solidFill>
                        <a:srgbClr val="F6F1E7"/>
                      </a:solidFill>
                      <a:prstDash val="solid"/>
                      <a:round/>
                      <a:headEnd type="none" w="med" len="med"/>
                      <a:tailEnd type="none" w="med" len="med"/>
                    </a:lnR>
                    <a:lnT w="12700" cap="flat" cmpd="sng" algn="ctr">
                      <a:solidFill>
                        <a:srgbClr val="F6F1E7"/>
                      </a:solidFill>
                      <a:prstDash val="solid"/>
                      <a:round/>
                      <a:headEnd type="none" w="med" len="med"/>
                      <a:tailEnd type="none" w="med" len="med"/>
                    </a:lnT>
                    <a:lnB w="12700" cap="flat" cmpd="sng" algn="ctr">
                      <a:solidFill>
                        <a:srgbClr val="F6F1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The site is already built. Remaining work is finishing Tina and training the office.</a:t>
                      </a:r>
                      <a:endParaRPr lang="en-US" sz="1300" dirty="0">
                        <a:latin typeface="Calibri" charset="0"/>
                        <a:ea typeface="Calibri" charset="0"/>
                        <a:cs typeface="Calibri" charset="0"/>
                      </a:endParaRPr>
                    </a:p>
                  </a:txBody>
                  <a:tcPr marL="76200" marR="76200" marT="76200" marB="76200" anchor="ctr">
                    <a:lnL w="12700" cap="flat" cmpd="sng" algn="ctr">
                      <a:solidFill>
                        <a:srgbClr val="F6F1E7"/>
                      </a:solidFill>
                      <a:prstDash val="solid"/>
                      <a:round/>
                      <a:headEnd type="none" w="med" len="med"/>
                      <a:tailEnd type="none" w="med" len="med"/>
                    </a:lnL>
                    <a:lnR w="12700" cap="flat" cmpd="sng" algn="ctr">
                      <a:solidFill>
                        <a:srgbClr val="F6F1E7"/>
                      </a:solidFill>
                      <a:prstDash val="solid"/>
                      <a:round/>
                      <a:headEnd type="none" w="med" len="med"/>
                      <a:tailEnd type="none" w="med" len="med"/>
                    </a:lnR>
                    <a:lnT w="12700" cap="flat" cmpd="sng" algn="ctr">
                      <a:solidFill>
                        <a:srgbClr val="F6F1E7"/>
                      </a:solidFill>
                      <a:prstDash val="solid"/>
                      <a:round/>
                      <a:headEnd type="none" w="med" len="med"/>
                      <a:tailEnd type="none" w="med" len="med"/>
                    </a:lnT>
                    <a:lnB w="12700" cap="flat" cmpd="sng" algn="ctr">
                      <a:solidFill>
                        <a:srgbClr val="F6F1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Full rebuild by hand. The designed pages cannot be imported. That is staff or vendor time, not a listed monthly fee.</a:t>
                      </a:r>
                      <a:endParaRPr lang="en-US" sz="1300" dirty="0">
                        <a:latin typeface="Calibri" charset="0"/>
                        <a:ea typeface="Calibri" charset="0"/>
                        <a:cs typeface="Calibri" charset="0"/>
                      </a:endParaRPr>
                    </a:p>
                  </a:txBody>
                  <a:tcPr marL="76200" marR="76200" marT="76200" marB="76200" anchor="ctr">
                    <a:lnL w="12700" cap="flat" cmpd="sng" algn="ctr">
                      <a:solidFill>
                        <a:srgbClr val="F6F1E7"/>
                      </a:solidFill>
                      <a:prstDash val="solid"/>
                      <a:round/>
                      <a:headEnd type="none" w="med" len="med"/>
                      <a:tailEnd type="none" w="med" len="med"/>
                    </a:lnL>
                    <a:lnR w="12700" cap="flat" cmpd="sng" algn="ctr">
                      <a:solidFill>
                        <a:srgbClr val="F6F1E7"/>
                      </a:solidFill>
                      <a:prstDash val="solid"/>
                      <a:round/>
                      <a:headEnd type="none" w="med" len="med"/>
                      <a:tailEnd type="none" w="med" len="med"/>
                    </a:lnR>
                    <a:lnT w="12700" cap="flat" cmpd="sng" algn="ctr">
                      <a:solidFill>
                        <a:srgbClr val="F6F1E7"/>
                      </a:solidFill>
                      <a:prstDash val="solid"/>
                      <a:round/>
                      <a:headEnd type="none" w="med" len="med"/>
                      <a:tailEnd type="none" w="med" len="med"/>
                    </a:lnT>
                    <a:lnB w="12700" cap="flat" cmpd="sng" algn="ctr">
                      <a:solidFill>
                        <a:srgbClr val="F6F1E7"/>
                      </a:solidFill>
                      <a:prstDash val="solid"/>
                      <a:round/>
                      <a:headEnd type="none" w="med" len="med"/>
                      <a:tailEnd type="none" w="med" len="med"/>
                    </a:lnB>
                    <a:solidFill>
                      <a:srgbClr val="FFFFFF"/>
                    </a:solidFill>
                  </a:tcPr>
                </a:tc>
              </a:tr>
              <a:tr h="830580">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Published list price</a:t>
                      </a:r>
                      <a:endParaRPr lang="en-US" sz="1300" dirty="0">
                        <a:latin typeface="Calibri" charset="0"/>
                        <a:ea typeface="Calibri" charset="0"/>
                        <a:cs typeface="Calibri" charset="0"/>
                      </a:endParaRPr>
                    </a:p>
                  </a:txBody>
                  <a:tcPr marL="76200" marR="76200" marT="76200" marB="76200" anchor="ctr">
                    <a:lnL w="12700" cap="flat" cmpd="sng" algn="ctr">
                      <a:solidFill>
                        <a:srgbClr val="F6F1E7"/>
                      </a:solidFill>
                      <a:prstDash val="solid"/>
                      <a:round/>
                      <a:headEnd type="none" w="med" len="med"/>
                      <a:tailEnd type="none" w="med" len="med"/>
                    </a:lnL>
                    <a:lnR w="12700" cap="flat" cmpd="sng" algn="ctr">
                      <a:solidFill>
                        <a:srgbClr val="F6F1E7"/>
                      </a:solidFill>
                      <a:prstDash val="solid"/>
                      <a:round/>
                      <a:headEnd type="none" w="med" len="med"/>
                      <a:tailEnd type="none" w="med" len="med"/>
                    </a:lnR>
                    <a:lnT w="12700" cap="flat" cmpd="sng" algn="ctr">
                      <a:solidFill>
                        <a:srgbClr val="F6F1E7"/>
                      </a:solidFill>
                      <a:prstDash val="solid"/>
                      <a:round/>
                      <a:headEnd type="none" w="med" len="med"/>
                      <a:tailEnd type="none" w="med" len="med"/>
                    </a:lnT>
                    <a:lnB w="12700" cap="flat" cmpd="sng" algn="ctr">
                      <a:solidFill>
                        <a:srgbClr val="F6F1E7"/>
                      </a:solidFill>
                      <a:prstDash val="solid"/>
                      <a:round/>
                      <a:headEnd type="none" w="med" len="med"/>
                      <a:tailEnd type="none" w="med" len="med"/>
                    </a:lnB>
                    <a:solidFill>
                      <a:srgbClr val="F3EEE4"/>
                    </a:solidFill>
                  </a:tcPr>
                </a:tc>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Tina publishes prices. Checked 28 September 2026 at tina.io/pricing.</a:t>
                      </a:r>
                      <a:endParaRPr lang="en-US" sz="1300" dirty="0">
                        <a:latin typeface="Calibri" charset="0"/>
                        <a:ea typeface="Calibri" charset="0"/>
                        <a:cs typeface="Calibri" charset="0"/>
                      </a:endParaRPr>
                    </a:p>
                  </a:txBody>
                  <a:tcPr marL="76200" marR="76200" marT="76200" marB="76200" anchor="ctr">
                    <a:lnL w="12700" cap="flat" cmpd="sng" algn="ctr">
                      <a:solidFill>
                        <a:srgbClr val="F6F1E7"/>
                      </a:solidFill>
                      <a:prstDash val="solid"/>
                      <a:round/>
                      <a:headEnd type="none" w="med" len="med"/>
                      <a:tailEnd type="none" w="med" len="med"/>
                    </a:lnL>
                    <a:lnR w="12700" cap="flat" cmpd="sng" algn="ctr">
                      <a:solidFill>
                        <a:srgbClr val="F6F1E7"/>
                      </a:solidFill>
                      <a:prstDash val="solid"/>
                      <a:round/>
                      <a:headEnd type="none" w="med" len="med"/>
                      <a:tailEnd type="none" w="med" len="med"/>
                    </a:lnR>
                    <a:lnT w="12700" cap="flat" cmpd="sng" algn="ctr">
                      <a:solidFill>
                        <a:srgbClr val="F6F1E7"/>
                      </a:solidFill>
                      <a:prstDash val="solid"/>
                      <a:round/>
                      <a:headEnd type="none" w="med" len="med"/>
                      <a:tailEnd type="none" w="med" len="med"/>
                    </a:lnT>
                    <a:lnB w="12700" cap="flat" cmpd="sng" algn="ctr">
                      <a:solidFill>
                        <a:srgbClr val="F6F1E7"/>
                      </a:solidFill>
                      <a:prstDash val="solid"/>
                      <a:round/>
                      <a:headEnd type="none" w="med" len="med"/>
                      <a:tailEnd type="none" w="med" len="med"/>
                    </a:lnB>
                    <a:solidFill>
                      <a:srgbClr val="F3EEE4"/>
                    </a:solidFill>
                  </a:tcPr>
                </a:tc>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SnapPages names Basic and Advanced plans and does not publish the dollars. Subsplash One is a custom quote.</a:t>
                      </a:r>
                      <a:endParaRPr lang="en-US" sz="1300" dirty="0">
                        <a:latin typeface="Calibri" charset="0"/>
                        <a:ea typeface="Calibri" charset="0"/>
                        <a:cs typeface="Calibri" charset="0"/>
                      </a:endParaRPr>
                    </a:p>
                  </a:txBody>
                  <a:tcPr marL="76200" marR="76200" marT="76200" marB="76200" anchor="ctr">
                    <a:lnL w="12700" cap="flat" cmpd="sng" algn="ctr">
                      <a:solidFill>
                        <a:srgbClr val="F6F1E7"/>
                      </a:solidFill>
                      <a:prstDash val="solid"/>
                      <a:round/>
                      <a:headEnd type="none" w="med" len="med"/>
                      <a:tailEnd type="none" w="med" len="med"/>
                    </a:lnL>
                    <a:lnR w="12700" cap="flat" cmpd="sng" algn="ctr">
                      <a:solidFill>
                        <a:srgbClr val="F6F1E7"/>
                      </a:solidFill>
                      <a:prstDash val="solid"/>
                      <a:round/>
                      <a:headEnd type="none" w="med" len="med"/>
                      <a:tailEnd type="none" w="med" len="med"/>
                    </a:lnR>
                    <a:lnT w="12700" cap="flat" cmpd="sng" algn="ctr">
                      <a:solidFill>
                        <a:srgbClr val="F6F1E7"/>
                      </a:solidFill>
                      <a:prstDash val="solid"/>
                      <a:round/>
                      <a:headEnd type="none" w="med" len="med"/>
                      <a:tailEnd type="none" w="med" len="med"/>
                    </a:lnT>
                    <a:lnB w="12700" cap="flat" cmpd="sng" algn="ctr">
                      <a:solidFill>
                        <a:srgbClr val="F6F1E7"/>
                      </a:solidFill>
                      <a:prstDash val="solid"/>
                      <a:round/>
                      <a:headEnd type="none" w="med" len="med"/>
                      <a:tailEnd type="none" w="med" len="med"/>
                    </a:lnB>
                    <a:solidFill>
                      <a:srgbClr val="F3EEE4"/>
                    </a:solidFill>
                  </a:tcPr>
                </a:tc>
              </a:tr>
              <a:tr h="830580">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Year-one website cash</a:t>
                      </a:r>
                      <a:endParaRPr lang="en-US" sz="1300" dirty="0">
                        <a:latin typeface="Calibri" charset="0"/>
                        <a:ea typeface="Calibri" charset="0"/>
                        <a:cs typeface="Calibri" charset="0"/>
                      </a:endParaRPr>
                    </a:p>
                  </a:txBody>
                  <a:tcPr marL="76200" marR="76200" marT="76200" marB="76200" anchor="ctr">
                    <a:lnL w="12700" cap="flat" cmpd="sng" algn="ctr">
                      <a:solidFill>
                        <a:srgbClr val="F6F1E7"/>
                      </a:solidFill>
                      <a:prstDash val="solid"/>
                      <a:round/>
                      <a:headEnd type="none" w="med" len="med"/>
                      <a:tailEnd type="none" w="med" len="med"/>
                    </a:lnL>
                    <a:lnR w="12700" cap="flat" cmpd="sng" algn="ctr">
                      <a:solidFill>
                        <a:srgbClr val="F6F1E7"/>
                      </a:solidFill>
                      <a:prstDash val="solid"/>
                      <a:round/>
                      <a:headEnd type="none" w="med" len="med"/>
                      <a:tailEnd type="none" w="med" len="med"/>
                    </a:lnR>
                    <a:lnT w="12700" cap="flat" cmpd="sng" algn="ctr">
                      <a:solidFill>
                        <a:srgbClr val="F6F1E7"/>
                      </a:solidFill>
                      <a:prstDash val="solid"/>
                      <a:round/>
                      <a:headEnd type="none" w="med" len="med"/>
                      <a:tailEnd type="none" w="med" len="med"/>
                    </a:lnT>
                    <a:lnB w="12700" cap="flat" cmpd="sng" algn="ctr">
                      <a:solidFill>
                        <a:srgbClr val="F6F1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About $290 to $530, plus time to finish the editor.</a:t>
                      </a:r>
                      <a:endParaRPr lang="en-US" sz="1300" dirty="0">
                        <a:latin typeface="Calibri" charset="0"/>
                        <a:ea typeface="Calibri" charset="0"/>
                        <a:cs typeface="Calibri" charset="0"/>
                      </a:endParaRPr>
                    </a:p>
                  </a:txBody>
                  <a:tcPr marL="76200" marR="76200" marT="76200" marB="76200" anchor="ctr">
                    <a:lnL w="12700" cap="flat" cmpd="sng" algn="ctr">
                      <a:solidFill>
                        <a:srgbClr val="F6F1E7"/>
                      </a:solidFill>
                      <a:prstDash val="solid"/>
                      <a:round/>
                      <a:headEnd type="none" w="med" len="med"/>
                      <a:tailEnd type="none" w="med" len="med"/>
                    </a:lnL>
                    <a:lnR w="12700" cap="flat" cmpd="sng" algn="ctr">
                      <a:solidFill>
                        <a:srgbClr val="F6F1E7"/>
                      </a:solidFill>
                      <a:prstDash val="solid"/>
                      <a:round/>
                      <a:headEnd type="none" w="med" len="med"/>
                      <a:tailEnd type="none" w="med" len="med"/>
                    </a:lnR>
                    <a:lnT w="12700" cap="flat" cmpd="sng" algn="ctr">
                      <a:solidFill>
                        <a:srgbClr val="F6F1E7"/>
                      </a:solidFill>
                      <a:prstDash val="solid"/>
                      <a:round/>
                      <a:headEnd type="none" w="med" len="med"/>
                      <a:tailEnd type="none" w="med" len="med"/>
                    </a:lnT>
                    <a:lnB w="12700" cap="flat" cmpd="sng" algn="ctr">
                      <a:solidFill>
                        <a:srgbClr val="F6F1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$0 of new software if the current websites seat covers it. The cost is the rebuild.</a:t>
                      </a:r>
                      <a:endParaRPr lang="en-US" sz="1300" dirty="0">
                        <a:latin typeface="Calibri" charset="0"/>
                        <a:ea typeface="Calibri" charset="0"/>
                        <a:cs typeface="Calibri" charset="0"/>
                      </a:endParaRPr>
                    </a:p>
                  </a:txBody>
                  <a:tcPr marL="76200" marR="76200" marT="76200" marB="76200" anchor="ctr">
                    <a:lnL w="12700" cap="flat" cmpd="sng" algn="ctr">
                      <a:solidFill>
                        <a:srgbClr val="F6F1E7"/>
                      </a:solidFill>
                      <a:prstDash val="solid"/>
                      <a:round/>
                      <a:headEnd type="none" w="med" len="med"/>
                      <a:tailEnd type="none" w="med" len="med"/>
                    </a:lnL>
                    <a:lnR w="12700" cap="flat" cmpd="sng" algn="ctr">
                      <a:solidFill>
                        <a:srgbClr val="F6F1E7"/>
                      </a:solidFill>
                      <a:prstDash val="solid"/>
                      <a:round/>
                      <a:headEnd type="none" w="med" len="med"/>
                      <a:tailEnd type="none" w="med" len="med"/>
                    </a:lnR>
                    <a:lnT w="12700" cap="flat" cmpd="sng" algn="ctr">
                      <a:solidFill>
                        <a:srgbClr val="F6F1E7"/>
                      </a:solidFill>
                      <a:prstDash val="solid"/>
                      <a:round/>
                      <a:headEnd type="none" w="med" len="med"/>
                      <a:tailEnd type="none" w="med" len="med"/>
                    </a:lnT>
                    <a:lnB w="12700" cap="flat" cmpd="sng" algn="ctr">
                      <a:solidFill>
                        <a:srgbClr val="F6F1E7"/>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6510528"/>
            <a:ext cx="9326880" cy="219456"/>
          </a:xfrm>
          <a:prstGeom prst="rect">
            <a:avLst/>
          </a:prstGeom>
          <a:noFill/>
          <a:ln/>
        </p:spPr>
        <p:txBody>
          <a:bodyPr wrap="square" lIns="0" tIns="0" rIns="0" bIns="0" rtlCol="0" anchor="ctr"/>
          <a:lstStyle/>
          <a:p>
            <a:pPr indent="0" marL="0">
              <a:buNone/>
            </a:pPr>
            <a:r>
              <a:rPr lang="en-US" sz="1100" dirty="0">
                <a:solidFill>
                  <a:srgbClr val="5C6B64"/>
                </a:solidFill>
                <a:latin typeface="Calibri" pitchFamily="34" charset="0"/>
                <a:ea typeface="Calibri" pitchFamily="34" charset="-122"/>
                <a:cs typeface="Calibri" pitchFamily="34" charset="-120"/>
              </a:rPr>
              <a:t>Calvary Chapel Frederick  ·  Public website options  ·  28 September 2026</a:t>
            </a:r>
            <a:endParaRPr lang="en-US" sz="1100" dirty="0"/>
          </a:p>
        </p:txBody>
      </p:sp>
      <p:sp>
        <p:nvSpPr>
          <p:cNvPr id="6" name="Text 3"/>
          <p:cNvSpPr/>
          <p:nvPr/>
        </p:nvSpPr>
        <p:spPr>
          <a:xfrm>
            <a:off x="11155680" y="6510528"/>
            <a:ext cx="502920" cy="219456"/>
          </a:xfrm>
          <a:prstGeom prst="rect">
            <a:avLst/>
          </a:prstGeom>
          <a:noFill/>
          <a:ln/>
        </p:spPr>
        <p:txBody>
          <a:bodyPr wrap="square" lIns="0" tIns="0" rIns="0" bIns="0" rtlCol="0" anchor="ctr"/>
          <a:lstStyle/>
          <a:p>
            <a:pPr algn="r" indent="0" marL="0">
              <a:buNone/>
            </a:pPr>
            <a:r>
              <a:rPr lang="en-US" sz="1100" dirty="0">
                <a:solidFill>
                  <a:srgbClr val="5C6B64"/>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502920" y="320040"/>
            <a:ext cx="10972800" cy="438912"/>
          </a:xfrm>
          <a:prstGeom prst="rect">
            <a:avLst/>
          </a:prstGeom>
          <a:noFill/>
          <a:ln/>
        </p:spPr>
        <p:txBody>
          <a:bodyPr wrap="square" lIns="0" tIns="0" rIns="0" bIns="0" rtlCol="0" anchor="ctr"/>
          <a:lstStyle/>
          <a:p>
            <a:pPr indent="0" marL="0">
              <a:buNone/>
            </a:pPr>
            <a:r>
              <a:rPr lang="en-US" sz="3200" dirty="0">
                <a:solidFill>
                  <a:srgbClr val="1C3A32"/>
                </a:solidFill>
                <a:latin typeface="Georgia" pitchFamily="34" charset="0"/>
                <a:ea typeface="Georgia" pitchFamily="34" charset="-122"/>
                <a:cs typeface="Georgia" pitchFamily="34" charset="-120"/>
              </a:rPr>
              <a:t>How a normal week feels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051560"/>
          <a:ext cx="11338560" cy="5029200"/>
        </p:xfrm>
        <a:graphic>
          <a:graphicData uri="http://schemas.openxmlformats.org/drawingml/2006/table">
            <a:tbl>
              <a:tblPr/>
              <a:tblGrid>
                <a:gridCol w="2468880"/>
                <a:gridCol w="4434840"/>
                <a:gridCol w="4434840"/>
              </a:tblGrid>
              <a:tr h="838200">
                <a:tc>
                  <a:txBody>
                    <a:bodyPr/>
                    <a:lstStyle/>
                    <a:p>
                      <a:pPr algn="l" indent="0" marL="0">
                        <a:buNone/>
                      </a:pPr>
                      <a:r>
                        <a:rPr lang="en-US" sz="1400" b="1" dirty="0">
                          <a:solidFill>
                            <a:srgbClr val="F6F1E7"/>
                          </a:solidFill>
                          <a:latin typeface="Calibri" pitchFamily="34" charset="0"/>
                          <a:ea typeface="Calibri" pitchFamily="34" charset="-122"/>
                          <a:cs typeface="Calibri" pitchFamily="34" charset="-120"/>
                        </a:rPr>
                        <a:t>Job</a:t>
                      </a:r>
                      <a:endParaRPr lang="en-US" sz="1400" dirty="0">
                        <a:latin typeface="Calibri" charset="0"/>
                        <a:ea typeface="Calibri" charset="0"/>
                        <a:cs typeface="Calibri" charset="0"/>
                      </a:endParaRPr>
                    </a:p>
                  </a:txBody>
                  <a:tcPr marL="76200" marR="76200" marT="76200" marB="762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C3A32"/>
                    </a:solidFill>
                  </a:tcPr>
                </a:tc>
                <a:tc>
                  <a:txBody>
                    <a:bodyPr/>
                    <a:lstStyle/>
                    <a:p>
                      <a:pPr algn="l" indent="0" marL="0">
                        <a:buNone/>
                      </a:pPr>
                      <a:r>
                        <a:rPr lang="en-US" sz="1400" b="1" dirty="0">
                          <a:solidFill>
                            <a:srgbClr val="F6F1E7"/>
                          </a:solidFill>
                          <a:latin typeface="Calibri" pitchFamily="34" charset="0"/>
                          <a:ea typeface="Calibri" pitchFamily="34" charset="-122"/>
                          <a:cs typeface="Calibri" pitchFamily="34" charset="-120"/>
                        </a:rPr>
                        <a:t>Tina</a:t>
                      </a:r>
                      <a:endParaRPr lang="en-US" sz="1400" dirty="0">
                        <a:latin typeface="Calibri" charset="0"/>
                        <a:ea typeface="Calibri" charset="0"/>
                        <a:cs typeface="Calibri" charset="0"/>
                      </a:endParaRPr>
                    </a:p>
                  </a:txBody>
                  <a:tcPr marL="76200" marR="76200" marT="76200" marB="762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C3A32"/>
                    </a:solidFill>
                  </a:tcPr>
                </a:tc>
                <a:tc>
                  <a:txBody>
                    <a:bodyPr/>
                    <a:lstStyle/>
                    <a:p>
                      <a:pPr algn="l" indent="0" marL="0">
                        <a:buNone/>
                      </a:pPr>
                      <a:r>
                        <a:rPr lang="en-US" sz="1400" b="1" dirty="0">
                          <a:solidFill>
                            <a:srgbClr val="F6F1E7"/>
                          </a:solidFill>
                          <a:latin typeface="Calibri" pitchFamily="34" charset="0"/>
                          <a:ea typeface="Calibri" pitchFamily="34" charset="-122"/>
                          <a:cs typeface="Calibri" pitchFamily="34" charset="-120"/>
                        </a:rPr>
                        <a:t>SnapPages</a:t>
                      </a:r>
                      <a:endParaRPr lang="en-US" sz="1400" dirty="0">
                        <a:latin typeface="Calibri" charset="0"/>
                        <a:ea typeface="Calibri" charset="0"/>
                        <a:cs typeface="Calibri" charset="0"/>
                      </a:endParaRPr>
                    </a:p>
                  </a:txBody>
                  <a:tcPr marL="76200" marR="76200" marT="76200" marB="762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1C3A32"/>
                    </a:solidFill>
                  </a:tcPr>
                </a:tc>
              </a:tr>
              <a:tr h="838200">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Change Sunday’s time</a:t>
                      </a:r>
                      <a:endParaRPr lang="en-US" sz="1300" dirty="0">
                        <a:latin typeface="Calibri" charset="0"/>
                        <a:ea typeface="Calibri" charset="0"/>
                        <a:cs typeface="Calibri" charset="0"/>
                      </a:endParaRPr>
                    </a:p>
                  </a:txBody>
                  <a:tcPr marL="76200" marR="76200" marT="76200" marB="762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3EEE4"/>
                    </a:solidFill>
                  </a:tcPr>
                </a:tc>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Click the time on the homepage. Type the new time. Save.</a:t>
                      </a:r>
                      <a:endParaRPr lang="en-US" sz="1300" dirty="0">
                        <a:latin typeface="Calibri" charset="0"/>
                        <a:ea typeface="Calibri" charset="0"/>
                        <a:cs typeface="Calibri" charset="0"/>
                      </a:endParaRPr>
                    </a:p>
                  </a:txBody>
                  <a:tcPr marL="76200" marR="76200" marT="76200" marB="762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3EEE4"/>
                    </a:solidFill>
                  </a:tcPr>
                </a:tc>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Open the SnapPages block and edit the text.</a:t>
                      </a:r>
                      <a:endParaRPr lang="en-US" sz="1300" dirty="0">
                        <a:latin typeface="Calibri" charset="0"/>
                        <a:ea typeface="Calibri" charset="0"/>
                        <a:cs typeface="Calibri" charset="0"/>
                      </a:endParaRPr>
                    </a:p>
                  </a:txBody>
                  <a:tcPr marL="76200" marR="76200" marT="76200" marB="762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3EEE4"/>
                    </a:solidFill>
                  </a:tcPr>
                </a:tc>
              </a:tr>
              <a:tr h="838200">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New sermon video</a:t>
                      </a:r>
                      <a:endParaRPr lang="en-US" sz="1300" dirty="0">
                        <a:latin typeface="Calibri" charset="0"/>
                        <a:ea typeface="Calibri" charset="0"/>
                        <a:cs typeface="Calibri" charset="0"/>
                      </a:endParaRPr>
                    </a:p>
                  </a:txBody>
                  <a:tcPr marL="76200" marR="76200" marT="76200" marB="762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Subsplash. Same as today.</a:t>
                      </a:r>
                      <a:endParaRPr lang="en-US" sz="1300" dirty="0">
                        <a:latin typeface="Calibri" charset="0"/>
                        <a:ea typeface="Calibri" charset="0"/>
                        <a:cs typeface="Calibri" charset="0"/>
                      </a:endParaRPr>
                    </a:p>
                  </a:txBody>
                  <a:tcPr marL="76200" marR="76200" marT="76200" marB="762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Subsplash. Same as today.</a:t>
                      </a:r>
                      <a:endParaRPr lang="en-US" sz="1300" dirty="0">
                        <a:latin typeface="Calibri" charset="0"/>
                        <a:ea typeface="Calibri" charset="0"/>
                        <a:cs typeface="Calibri" charset="0"/>
                      </a:endParaRPr>
                    </a:p>
                  </a:txBody>
                  <a:tcPr marL="76200" marR="76200" marT="76200" marB="762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r>
              <a:tr h="838200">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New bulletin PDF</a:t>
                      </a:r>
                      <a:endParaRPr lang="en-US" sz="1300" dirty="0">
                        <a:latin typeface="Calibri" charset="0"/>
                        <a:ea typeface="Calibri" charset="0"/>
                        <a:cs typeface="Calibri" charset="0"/>
                      </a:endParaRPr>
                    </a:p>
                  </a:txBody>
                  <a:tcPr marL="76200" marR="76200" marT="76200" marB="762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3EEE4"/>
                    </a:solidFill>
                  </a:tcPr>
                </a:tc>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Aaron places the file. The office pastes the path.</a:t>
                      </a:r>
                      <a:endParaRPr lang="en-US" sz="1300" dirty="0">
                        <a:latin typeface="Calibri" charset="0"/>
                        <a:ea typeface="Calibri" charset="0"/>
                        <a:cs typeface="Calibri" charset="0"/>
                      </a:endParaRPr>
                    </a:p>
                  </a:txBody>
                  <a:tcPr marL="76200" marR="76200" marT="76200" marB="762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3EEE4"/>
                    </a:solidFill>
                  </a:tcPr>
                </a:tc>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Upload into SnapPages storage and link it.</a:t>
                      </a:r>
                      <a:endParaRPr lang="en-US" sz="1300" dirty="0">
                        <a:latin typeface="Calibri" charset="0"/>
                        <a:ea typeface="Calibri" charset="0"/>
                        <a:cs typeface="Calibri" charset="0"/>
                      </a:endParaRPr>
                    </a:p>
                  </a:txBody>
                  <a:tcPr marL="76200" marR="76200" marT="76200" marB="762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3EEE4"/>
                    </a:solidFill>
                  </a:tcPr>
                </a:tc>
              </a:tr>
              <a:tr h="838200">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Rewrite a ministry page</a:t>
                      </a:r>
                      <a:endParaRPr lang="en-US" sz="1300" dirty="0">
                        <a:latin typeface="Calibri" charset="0"/>
                        <a:ea typeface="Calibri" charset="0"/>
                        <a:cs typeface="Calibri" charset="0"/>
                      </a:endParaRPr>
                    </a:p>
                  </a:txBody>
                  <a:tcPr marL="76200" marR="76200" marT="76200" marB="762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Open that page in Tina and edit on the page.</a:t>
                      </a:r>
                      <a:endParaRPr lang="en-US" sz="1300" dirty="0">
                        <a:latin typeface="Calibri" charset="0"/>
                        <a:ea typeface="Calibri" charset="0"/>
                        <a:cs typeface="Calibri" charset="0"/>
                      </a:endParaRPr>
                    </a:p>
                  </a:txBody>
                  <a:tcPr marL="76200" marR="76200" marT="76200" marB="762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Edit the section in the theme.</a:t>
                      </a:r>
                      <a:endParaRPr lang="en-US" sz="1300" dirty="0">
                        <a:latin typeface="Calibri" charset="0"/>
                        <a:ea typeface="Calibri" charset="0"/>
                        <a:cs typeface="Calibri" charset="0"/>
                      </a:endParaRPr>
                    </a:p>
                  </a:txBody>
                  <a:tcPr marL="76200" marR="76200" marT="76200" marB="762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r>
              <a:tr h="838200">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Change the look of Home</a:t>
                      </a:r>
                      <a:endParaRPr lang="en-US" sz="1300" dirty="0">
                        <a:latin typeface="Calibri" charset="0"/>
                        <a:ea typeface="Calibri" charset="0"/>
                        <a:cs typeface="Calibri" charset="0"/>
                      </a:endParaRPr>
                    </a:p>
                  </a:txBody>
                  <a:tcPr marL="76200" marR="76200" marT="76200" marB="762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3EEE4"/>
                    </a:solidFill>
                  </a:tcPr>
                </a:tc>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A developer, in the project.</a:t>
                      </a:r>
                      <a:endParaRPr lang="en-US" sz="1300" dirty="0">
                        <a:latin typeface="Calibri" charset="0"/>
                        <a:ea typeface="Calibri" charset="0"/>
                        <a:cs typeface="Calibri" charset="0"/>
                      </a:endParaRPr>
                    </a:p>
                  </a:txBody>
                  <a:tcPr marL="76200" marR="76200" marT="76200" marB="762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3EEE4"/>
                    </a:solidFill>
                  </a:tcPr>
                </a:tc>
                <a:tc>
                  <a:txBody>
                    <a:bodyPr/>
                    <a:lstStyle/>
                    <a:p>
                      <a:pPr algn="l" indent="0" marL="0">
                        <a:buNone/>
                      </a:pPr>
                      <a:r>
                        <a:rPr lang="en-US" sz="1300" dirty="0">
                          <a:solidFill>
                            <a:srgbClr val="1E2A26"/>
                          </a:solidFill>
                          <a:latin typeface="Calibri" pitchFamily="34" charset="0"/>
                          <a:ea typeface="Calibri" pitchFamily="34" charset="-122"/>
                          <a:cs typeface="Calibri" pitchFamily="34" charset="-120"/>
                        </a:rPr>
                        <a:t>Whatever the theme allows. Custom layout is unsupported.</a:t>
                      </a:r>
                      <a:endParaRPr lang="en-US" sz="1300" dirty="0">
                        <a:latin typeface="Calibri" charset="0"/>
                        <a:ea typeface="Calibri" charset="0"/>
                        <a:cs typeface="Calibri" charset="0"/>
                      </a:endParaRPr>
                    </a:p>
                  </a:txBody>
                  <a:tcPr marL="76200" marR="76200" marT="76200" marB="762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3EEE4"/>
                    </a:solidFill>
                  </a:tcPr>
                </a:tc>
              </a:tr>
            </a:tbl>
          </a:graphicData>
        </a:graphic>
      </p:graphicFrame>
      <p:sp>
        <p:nvSpPr>
          <p:cNvPr id="4" name="Text 1"/>
          <p:cNvSpPr/>
          <p:nvPr/>
        </p:nvSpPr>
        <p:spPr>
          <a:xfrm>
            <a:off x="502920" y="6510528"/>
            <a:ext cx="9326880" cy="219456"/>
          </a:xfrm>
          <a:prstGeom prst="rect">
            <a:avLst/>
          </a:prstGeom>
          <a:noFill/>
          <a:ln/>
        </p:spPr>
        <p:txBody>
          <a:bodyPr wrap="square" lIns="0" tIns="0" rIns="0" bIns="0" rtlCol="0" anchor="ctr"/>
          <a:lstStyle/>
          <a:p>
            <a:pPr indent="0" marL="0">
              <a:buNone/>
            </a:pPr>
            <a:r>
              <a:rPr lang="en-US" sz="1100" dirty="0">
                <a:solidFill>
                  <a:srgbClr val="5C6B64"/>
                </a:solidFill>
                <a:latin typeface="Calibri" pitchFamily="34" charset="0"/>
                <a:ea typeface="Calibri" pitchFamily="34" charset="-122"/>
                <a:cs typeface="Calibri" pitchFamily="34" charset="-120"/>
              </a:rPr>
              <a:t>Calvary Chapel Frederick  ·  Public website options  ·  28 September 2026</a:t>
            </a:r>
            <a:endParaRPr lang="en-US" sz="1100" dirty="0"/>
          </a:p>
        </p:txBody>
      </p:sp>
      <p:sp>
        <p:nvSpPr>
          <p:cNvPr id="5" name="Text 2"/>
          <p:cNvSpPr/>
          <p:nvPr/>
        </p:nvSpPr>
        <p:spPr>
          <a:xfrm>
            <a:off x="11155680" y="6510528"/>
            <a:ext cx="502920" cy="219456"/>
          </a:xfrm>
          <a:prstGeom prst="rect">
            <a:avLst/>
          </a:prstGeom>
          <a:noFill/>
          <a:ln/>
        </p:spPr>
        <p:txBody>
          <a:bodyPr wrap="square" lIns="0" tIns="0" rIns="0" bIns="0" rtlCol="0" anchor="ctr"/>
          <a:lstStyle/>
          <a:p>
            <a:pPr algn="r" indent="0" marL="0">
              <a:buNone/>
            </a:pPr>
            <a:r>
              <a:rPr lang="en-US" sz="1100" dirty="0">
                <a:solidFill>
                  <a:srgbClr val="5C6B64"/>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502920" y="347472"/>
            <a:ext cx="10972800" cy="457200"/>
          </a:xfrm>
          <a:prstGeom prst="rect">
            <a:avLst/>
          </a:prstGeom>
          <a:noFill/>
          <a:ln/>
        </p:spPr>
        <p:txBody>
          <a:bodyPr wrap="square" lIns="0" tIns="0" rIns="0" bIns="0" rtlCol="0" anchor="ctr"/>
          <a:lstStyle/>
          <a:p>
            <a:pPr indent="0" marL="0">
              <a:buNone/>
            </a:pPr>
            <a:r>
              <a:rPr lang="en-US" sz="3200" dirty="0">
                <a:solidFill>
                  <a:srgbClr val="1C3A32"/>
                </a:solidFill>
                <a:latin typeface="Georgia" pitchFamily="34" charset="0"/>
                <a:ea typeface="Georgia" pitchFamily="34" charset="-122"/>
                <a:cs typeface="Georgia" pitchFamily="34" charset="-120"/>
              </a:rPr>
              <a:t>How to read the numbers</a:t>
            </a:r>
            <a:endParaRPr lang="en-US" sz="3200" dirty="0"/>
          </a:p>
        </p:txBody>
      </p:sp>
      <p:sp>
        <p:nvSpPr>
          <p:cNvPr id="3" name="Text 1"/>
          <p:cNvSpPr/>
          <p:nvPr/>
        </p:nvSpPr>
        <p:spPr>
          <a:xfrm>
            <a:off x="502920" y="1005840"/>
            <a:ext cx="3749040" cy="777240"/>
          </a:xfrm>
          <a:prstGeom prst="rect">
            <a:avLst/>
          </a:prstGeom>
          <a:noFill/>
          <a:ln/>
        </p:spPr>
        <p:txBody>
          <a:bodyPr wrap="square" lIns="0" tIns="0" rIns="0" bIns="0" rtlCol="0" anchor="t"/>
          <a:lstStyle/>
          <a:p>
            <a:pPr indent="0" marL="0">
              <a:buNone/>
            </a:pPr>
            <a:r>
              <a:rPr lang="en-US" sz="1600" dirty="0">
                <a:solidFill>
                  <a:srgbClr val="1C3A32"/>
                </a:solidFill>
                <a:latin typeface="Georgia" pitchFamily="34" charset="0"/>
                <a:ea typeface="Georgia" pitchFamily="34" charset="-122"/>
                <a:cs typeface="Georgia" pitchFamily="34" charset="-120"/>
              </a:rPr>
              <a:t>Tina is the known bill.</a:t>
            </a:r>
            <a:endParaRPr lang="en-US" sz="1600" dirty="0"/>
          </a:p>
        </p:txBody>
      </p:sp>
      <p:sp>
        <p:nvSpPr>
          <p:cNvPr id="4" name="Text 2"/>
          <p:cNvSpPr/>
          <p:nvPr/>
        </p:nvSpPr>
        <p:spPr>
          <a:xfrm>
            <a:off x="4389120" y="1005840"/>
            <a:ext cx="7223760" cy="822960"/>
          </a:xfrm>
          <a:prstGeom prst="rect">
            <a:avLst/>
          </a:prstGeom>
          <a:noFill/>
          <a:ln/>
        </p:spPr>
        <p:txBody>
          <a:bodyPr wrap="square" lIns="0" tIns="0" rIns="0" bIns="0" rtlCol="0" anchor="t"/>
          <a:lstStyle/>
          <a:p>
            <a:pPr indent="0" marL="0">
              <a:buNone/>
            </a:pPr>
            <a:r>
              <a:rPr lang="en-US" sz="1500" dirty="0">
                <a:solidFill>
                  <a:srgbClr val="1E2A26"/>
                </a:solidFill>
                <a:latin typeface="Calibri" pitchFamily="34" charset="0"/>
                <a:ea typeface="Calibri" pitchFamily="34" charset="-122"/>
                <a:cs typeface="Calibri" pitchFamily="34" charset="-120"/>
              </a:rPr>
              <a:t>Team is $24 a month, or $290 a year, for 3 editors. A fourth person is about $90 more per year. Prices from tina.io/pricing on 28 September 2026.</a:t>
            </a:r>
            <a:endParaRPr lang="en-US" sz="1500" dirty="0"/>
          </a:p>
        </p:txBody>
      </p:sp>
      <p:sp>
        <p:nvSpPr>
          <p:cNvPr id="5" name="Text 3"/>
          <p:cNvSpPr/>
          <p:nvPr/>
        </p:nvSpPr>
        <p:spPr>
          <a:xfrm>
            <a:off x="502920" y="1965960"/>
            <a:ext cx="3749040" cy="777240"/>
          </a:xfrm>
          <a:prstGeom prst="rect">
            <a:avLst/>
          </a:prstGeom>
          <a:noFill/>
          <a:ln/>
        </p:spPr>
        <p:txBody>
          <a:bodyPr wrap="square" lIns="0" tIns="0" rIns="0" bIns="0" rtlCol="0" anchor="t"/>
          <a:lstStyle/>
          <a:p>
            <a:pPr indent="0" marL="0">
              <a:buNone/>
            </a:pPr>
            <a:r>
              <a:rPr lang="en-US" sz="1600" dirty="0">
                <a:solidFill>
                  <a:srgbClr val="1C3A32"/>
                </a:solidFill>
                <a:latin typeface="Georgia" pitchFamily="34" charset="0"/>
                <a:ea typeface="Georgia" pitchFamily="34" charset="-122"/>
                <a:cs typeface="Georgia" pitchFamily="34" charset="-120"/>
              </a:rPr>
              <a:t>SnapPages is already in the house.</a:t>
            </a:r>
            <a:endParaRPr lang="en-US" sz="1600" dirty="0"/>
          </a:p>
        </p:txBody>
      </p:sp>
      <p:sp>
        <p:nvSpPr>
          <p:cNvPr id="6" name="Text 4"/>
          <p:cNvSpPr/>
          <p:nvPr/>
        </p:nvSpPr>
        <p:spPr>
          <a:xfrm>
            <a:off x="4389120" y="1965960"/>
            <a:ext cx="7223760" cy="822960"/>
          </a:xfrm>
          <a:prstGeom prst="rect">
            <a:avLst/>
          </a:prstGeom>
          <a:noFill/>
          <a:ln/>
        </p:spPr>
        <p:txBody>
          <a:bodyPr wrap="square" lIns="0" tIns="0" rIns="0" bIns="0" rtlCol="0" anchor="t"/>
          <a:lstStyle/>
          <a:p>
            <a:pPr indent="0" marL="0">
              <a:buNone/>
            </a:pPr>
            <a:r>
              <a:rPr lang="en-US" sz="1500" dirty="0">
                <a:solidFill>
                  <a:srgbClr val="1E2A26"/>
                </a:solidFill>
                <a:latin typeface="Calibri" pitchFamily="34" charset="0"/>
                <a:ea typeface="Calibri" pitchFamily="34" charset="-122"/>
                <a:cs typeface="Calibri" pitchFamily="34" charset="-120"/>
              </a:rPr>
              <a:t>The holding site proves a websites seat. SnapPages does not publish a dollar price. Do not budget a new website subscription until the Subsplash invoice is checked.</a:t>
            </a:r>
            <a:endParaRPr lang="en-US" sz="1500" dirty="0"/>
          </a:p>
        </p:txBody>
      </p:sp>
      <p:sp>
        <p:nvSpPr>
          <p:cNvPr id="7" name="Text 5"/>
          <p:cNvSpPr/>
          <p:nvPr/>
        </p:nvSpPr>
        <p:spPr>
          <a:xfrm>
            <a:off x="502920" y="2926080"/>
            <a:ext cx="3749040" cy="777240"/>
          </a:xfrm>
          <a:prstGeom prst="rect">
            <a:avLst/>
          </a:prstGeom>
          <a:noFill/>
          <a:ln/>
        </p:spPr>
        <p:txBody>
          <a:bodyPr wrap="square" lIns="0" tIns="0" rIns="0" bIns="0" rtlCol="0" anchor="t"/>
          <a:lstStyle/>
          <a:p>
            <a:pPr indent="0" marL="0">
              <a:buNone/>
            </a:pPr>
            <a:r>
              <a:rPr lang="en-US" sz="1600" dirty="0">
                <a:solidFill>
                  <a:srgbClr val="1C3A32"/>
                </a:solidFill>
                <a:latin typeface="Georgia" pitchFamily="34" charset="0"/>
                <a:ea typeface="Georgia" pitchFamily="34" charset="-122"/>
                <a:cs typeface="Georgia" pitchFamily="34" charset="-120"/>
              </a:rPr>
              <a:t>Do not subtract Subsplash.</a:t>
            </a:r>
            <a:endParaRPr lang="en-US" sz="1600" dirty="0"/>
          </a:p>
        </p:txBody>
      </p:sp>
      <p:sp>
        <p:nvSpPr>
          <p:cNvPr id="8" name="Text 6"/>
          <p:cNvSpPr/>
          <p:nvPr/>
        </p:nvSpPr>
        <p:spPr>
          <a:xfrm>
            <a:off x="4389120" y="2926080"/>
            <a:ext cx="7223760" cy="822960"/>
          </a:xfrm>
          <a:prstGeom prst="rect">
            <a:avLst/>
          </a:prstGeom>
          <a:noFill/>
          <a:ln/>
        </p:spPr>
        <p:txBody>
          <a:bodyPr wrap="square" lIns="0" tIns="0" rIns="0" bIns="0" rtlCol="0" anchor="t"/>
          <a:lstStyle/>
          <a:p>
            <a:pPr indent="0" marL="0">
              <a:buNone/>
            </a:pPr>
            <a:r>
              <a:rPr lang="en-US" sz="1500" dirty="0">
                <a:solidFill>
                  <a:srgbClr val="1E2A26"/>
                </a:solidFill>
                <a:latin typeface="Calibri" pitchFamily="34" charset="0"/>
                <a:ea typeface="Calibri" pitchFamily="34" charset="-122"/>
                <a:cs typeface="Calibri" pitchFamily="34" charset="-120"/>
              </a:rPr>
              <a:t>Choosing Tina does not cancel the app, giving, or media. If websites are bundled into Subsplash One, that line may stay even when the public site lives outside it.</a:t>
            </a:r>
            <a:endParaRPr lang="en-US" sz="1500" dirty="0"/>
          </a:p>
        </p:txBody>
      </p:sp>
      <p:sp>
        <p:nvSpPr>
          <p:cNvPr id="9" name="Text 7"/>
          <p:cNvSpPr/>
          <p:nvPr/>
        </p:nvSpPr>
        <p:spPr>
          <a:xfrm>
            <a:off x="502920" y="3886200"/>
            <a:ext cx="3749040" cy="777240"/>
          </a:xfrm>
          <a:prstGeom prst="rect">
            <a:avLst/>
          </a:prstGeom>
          <a:noFill/>
          <a:ln/>
        </p:spPr>
        <p:txBody>
          <a:bodyPr wrap="square" lIns="0" tIns="0" rIns="0" bIns="0" rtlCol="0" anchor="t"/>
          <a:lstStyle/>
          <a:p>
            <a:pPr indent="0" marL="0">
              <a:buNone/>
            </a:pPr>
            <a:r>
              <a:rPr lang="en-US" sz="1600" dirty="0">
                <a:solidFill>
                  <a:srgbClr val="1C3A32"/>
                </a:solidFill>
                <a:latin typeface="Georgia" pitchFamily="34" charset="0"/>
                <a:ea typeface="Georgia" pitchFamily="34" charset="-122"/>
                <a:cs typeface="Georgia" pitchFamily="34" charset="-120"/>
              </a:rPr>
              <a:t>Giving fees are not a tie-breaker.</a:t>
            </a:r>
            <a:endParaRPr lang="en-US" sz="1600" dirty="0"/>
          </a:p>
        </p:txBody>
      </p:sp>
      <p:sp>
        <p:nvSpPr>
          <p:cNvPr id="10" name="Text 8"/>
          <p:cNvSpPr/>
          <p:nvPr/>
        </p:nvSpPr>
        <p:spPr>
          <a:xfrm>
            <a:off x="4389120" y="3886200"/>
            <a:ext cx="7223760" cy="822960"/>
          </a:xfrm>
          <a:prstGeom prst="rect">
            <a:avLst/>
          </a:prstGeom>
          <a:noFill/>
          <a:ln/>
        </p:spPr>
        <p:txBody>
          <a:bodyPr wrap="square" lIns="0" tIns="0" rIns="0" bIns="0" rtlCol="0" anchor="t"/>
          <a:lstStyle/>
          <a:p>
            <a:pPr indent="0" marL="0">
              <a:buNone/>
            </a:pPr>
            <a:r>
              <a:rPr lang="en-US" sz="1500" dirty="0">
                <a:solidFill>
                  <a:srgbClr val="1E2A26"/>
                </a:solidFill>
                <a:latin typeface="Calibri" pitchFamily="34" charset="0"/>
                <a:ea typeface="Calibri" pitchFamily="34" charset="-122"/>
                <a:cs typeface="Calibri" pitchFamily="34" charset="-120"/>
              </a:rPr>
              <a:t>Card 2.3% + $0.30 and ACH 1.0% were the live rates on 16 August 2026. Both options keep that processor.</a:t>
            </a:r>
            <a:endParaRPr lang="en-US" sz="1500" dirty="0"/>
          </a:p>
        </p:txBody>
      </p:sp>
      <p:sp>
        <p:nvSpPr>
          <p:cNvPr id="11" name="Text 9"/>
          <p:cNvSpPr/>
          <p:nvPr/>
        </p:nvSpPr>
        <p:spPr>
          <a:xfrm>
            <a:off x="502920" y="4846320"/>
            <a:ext cx="3749040" cy="777240"/>
          </a:xfrm>
          <a:prstGeom prst="rect">
            <a:avLst/>
          </a:prstGeom>
          <a:noFill/>
          <a:ln/>
        </p:spPr>
        <p:txBody>
          <a:bodyPr wrap="square" lIns="0" tIns="0" rIns="0" bIns="0" rtlCol="0" anchor="t"/>
          <a:lstStyle/>
          <a:p>
            <a:pPr indent="0" marL="0">
              <a:buNone/>
            </a:pPr>
            <a:r>
              <a:rPr lang="en-US" sz="1600" dirty="0">
                <a:solidFill>
                  <a:srgbClr val="1C3A32"/>
                </a:solidFill>
                <a:latin typeface="Georgia" pitchFamily="34" charset="0"/>
                <a:ea typeface="Georgia" pitchFamily="34" charset="-122"/>
                <a:cs typeface="Georgia" pitchFamily="34" charset="-120"/>
              </a:rPr>
              <a:t>The real difference is the rebuild.</a:t>
            </a:r>
            <a:endParaRPr lang="en-US" sz="1600" dirty="0"/>
          </a:p>
        </p:txBody>
      </p:sp>
      <p:sp>
        <p:nvSpPr>
          <p:cNvPr id="12" name="Text 10"/>
          <p:cNvSpPr/>
          <p:nvPr/>
        </p:nvSpPr>
        <p:spPr>
          <a:xfrm>
            <a:off x="4389120" y="4846320"/>
            <a:ext cx="7223760" cy="822960"/>
          </a:xfrm>
          <a:prstGeom prst="rect">
            <a:avLst/>
          </a:prstGeom>
          <a:noFill/>
          <a:ln/>
        </p:spPr>
        <p:txBody>
          <a:bodyPr wrap="square" lIns="0" tIns="0" rIns="0" bIns="0" rtlCol="0" anchor="t"/>
          <a:lstStyle/>
          <a:p>
            <a:pPr indent="0" marL="0">
              <a:buNone/>
            </a:pPr>
            <a:r>
              <a:rPr lang="en-US" sz="1500" dirty="0">
                <a:solidFill>
                  <a:srgbClr val="1E2A26"/>
                </a:solidFill>
                <a:latin typeface="Calibri" pitchFamily="34" charset="0"/>
                <a:ea typeface="Calibri" pitchFamily="34" charset="-122"/>
                <a:cs typeface="Calibri" pitchFamily="34" charset="-120"/>
              </a:rPr>
              <a:t>Option 1 spends a small monthly fee to keep the site that exists. Option 2 spends the rebuild to put the website inside the login the church already trusts.</a:t>
            </a:r>
            <a:endParaRPr lang="en-US" sz="1500" dirty="0"/>
          </a:p>
        </p:txBody>
      </p:sp>
      <p:sp>
        <p:nvSpPr>
          <p:cNvPr id="13" name="Text 11"/>
          <p:cNvSpPr/>
          <p:nvPr/>
        </p:nvSpPr>
        <p:spPr>
          <a:xfrm>
            <a:off x="502920" y="6510528"/>
            <a:ext cx="9326880" cy="219456"/>
          </a:xfrm>
          <a:prstGeom prst="rect">
            <a:avLst/>
          </a:prstGeom>
          <a:noFill/>
          <a:ln/>
        </p:spPr>
        <p:txBody>
          <a:bodyPr wrap="square" lIns="0" tIns="0" rIns="0" bIns="0" rtlCol="0" anchor="ctr"/>
          <a:lstStyle/>
          <a:p>
            <a:pPr indent="0" marL="0">
              <a:buNone/>
            </a:pPr>
            <a:r>
              <a:rPr lang="en-US" sz="1100" dirty="0">
                <a:solidFill>
                  <a:srgbClr val="5C6B64"/>
                </a:solidFill>
                <a:latin typeface="Calibri" pitchFamily="34" charset="0"/>
                <a:ea typeface="Calibri" pitchFamily="34" charset="-122"/>
                <a:cs typeface="Calibri" pitchFamily="34" charset="-120"/>
              </a:rPr>
              <a:t>Calvary Chapel Frederick  ·  Public website options  ·  28 September 2026</a:t>
            </a:r>
            <a:endParaRPr lang="en-US" sz="1100" dirty="0"/>
          </a:p>
        </p:txBody>
      </p:sp>
      <p:sp>
        <p:nvSpPr>
          <p:cNvPr id="14" name="Text 12"/>
          <p:cNvSpPr/>
          <p:nvPr/>
        </p:nvSpPr>
        <p:spPr>
          <a:xfrm>
            <a:off x="11155680" y="6510528"/>
            <a:ext cx="502920" cy="219456"/>
          </a:xfrm>
          <a:prstGeom prst="rect">
            <a:avLst/>
          </a:prstGeom>
          <a:noFill/>
          <a:ln/>
        </p:spPr>
        <p:txBody>
          <a:bodyPr wrap="square" lIns="0" tIns="0" rIns="0" bIns="0" rtlCol="0" anchor="ctr"/>
          <a:lstStyle/>
          <a:p>
            <a:pPr algn="r" indent="0" marL="0">
              <a:buNone/>
            </a:pPr>
            <a:r>
              <a:rPr lang="en-US" sz="1100" dirty="0">
                <a:solidFill>
                  <a:srgbClr val="5C6B64"/>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the public website should live</dc:title>
  <dc:subject>Tina CMS and SnapPages, September 2026</dc:subject>
  <dc:creator>Calvary Chapel Frederick</dc:creator>
  <cp:lastModifiedBy>Calvary Chapel Frederick</cp:lastModifiedBy>
  <cp:revision>1</cp:revision>
  <dcterms:created xsi:type="dcterms:W3CDTF">2026-09-28T17:21:12Z</dcterms:created>
  <dcterms:modified xsi:type="dcterms:W3CDTF">2026-09-28T17:21:12Z</dcterms:modified>
</cp:coreProperties>
</file>